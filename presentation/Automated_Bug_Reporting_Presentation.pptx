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5" r:id="rId26"/>
    <p:sldId id="276" r:id="rId2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2117910-e974-ab8c-4abb-e538f8126e6e}">
          <p14:sldIdLst>
            <p14:sldId id="256"/>
            <p14:sldId id="257"/>
            <p14:sldId id="258"/>
            <p14:sldId id="259"/>
          </p14:sldIdLst>
        </p14:section>
        <p14:section name="System Design" id="{e82f9ac8-bf0d-df5c-baa9-6f60f20af153}">
          <p14:sldIdLst>
            <p14:sldId id="260"/>
            <p14:sldId id="261"/>
            <p14:sldId id="262"/>
          </p14:sldIdLst>
        </p14:section>
        <p14:section name="Implementation" id="{fd7de277-4c3e-34bd-0851-9166e0a4b147}">
          <p14:sldIdLst>
            <p14:sldId id="263"/>
            <p14:sldId id="264"/>
            <p14:sldId id="265"/>
            <p14:sldId id="266"/>
            <p14:sldId id="267"/>
            <p14:sldId id="268"/>
            <p14:sldId id="269"/>
            <p14:sldId id="270"/>
            <p14:sldId id="271"/>
            <p14:sldId id="275"/>
            <p14:sldId id="276"/>
          </p14:sldIdLst>
        </p14:section>
        <p14:section name="Results" id="{dc982aa5-cf9e-cb24-6be6-3fea45960e0c}">
          <p14:sldIdLst>
            <p14:sldId id="272"/>
          </p14:sldIdLst>
        </p14:section>
        <p14:section name="Conclusion" id="{72e89483-3e42-a4ea-a3e0-c4bb4387faa9}">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 Id="rId27" Type="http://schemas.openxmlformats.org/officeDocument/2006/relationships/slide" Target="slides/slide21.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Training data: 179 labelled error messages</a:t>
            </a:r>
          </a:p>
        </c:rich>
      </c:tx>
      <c:layout/>
      <c:overlay val="0"/>
    </c:title>
    <c:autoTitleDeleted val="0"/>
    <c:plotArea>
      <c:layout/>
      <c:barChart>
        <c:barDir val="col"/>
        <c:grouping val="clustered"/>
        <c:varyColors val="0"/>
        <c:ser>
          <c:idx val="0"/>
          <c:order val="0"/>
          <c:tx>
            <c:strRef>
              <c:f>Sheet1!$B$1</c:f>
              <c:strCache>
                <c:ptCount val="1"/>
                <c:pt idx="0">
                  <c:v>Labelled messages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65</c:v>
                </c:pt>
                <c:pt idx="1">
                  <c:v>60</c:v>
                </c:pt>
                <c:pt idx="2">
                  <c:v>54</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Per-class metrics on hold-out set (%)</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0243F"/>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100</c:v>
                </c:pt>
                <c:pt idx="1">
                  <c:v>70.6</c:v>
                </c:pt>
                <c:pt idx="2">
                  <c:v>100</c:v>
                </c:pt>
              </c:numCache>
            </c:numRef>
          </c:val>
        </c:ser>
        <c:ser>
          <c:idx val="1"/>
          <c:order val="1"/>
          <c:tx>
            <c:strRef>
              <c:f>Sheet1!$C$1</c:f>
              <c:strCache>
                <c:ptCount val="1"/>
                <c:pt idx="0">
                  <c:v>Recall</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Sheet1!$C$2:$C$4</c:f>
              <c:numCache>
                <c:formatCode>General</c:formatCode>
                <c:ptCount val="3"/>
                <c:pt idx="0">
                  <c:v>84.6</c:v>
                </c:pt>
                <c:pt idx="1">
                  <c:v>100</c:v>
                </c:pt>
                <c:pt idx="2">
                  <c:v>72.7</c:v>
                </c:pt>
              </c:numCache>
            </c:numRef>
          </c:val>
        </c:ser>
        <c:ser>
          <c:idx val="2"/>
          <c:order val="2"/>
          <c:tx>
            <c:strRef>
              <c:f>Sheet1!$D$1</c:f>
              <c:strCache>
                <c:ptCount val="1"/>
                <c:pt idx="0">
                  <c:v>F1-score</c:v>
                </c:pt>
              </c:strCache>
            </c:strRef>
          </c:tx>
          <c:spPr>
            <a:solidFill>
              <a:srgbClr val="8DB8EC"/>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Sheet1!$D$2:$D$4</c:f>
              <c:numCache>
                <c:formatCode>General</c:formatCode>
                <c:ptCount val="3"/>
                <c:pt idx="0">
                  <c:v>91.7</c:v>
                </c:pt>
                <c:pt idx="1">
                  <c:v>82.8</c:v>
                </c:pt>
                <c:pt idx="2">
                  <c:v>84.2</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Bugs per module</a:t>
            </a:r>
          </a:p>
        </c:rich>
      </c:tx>
      <c:layout/>
      <c:overlay val="0"/>
    </c:title>
    <c:autoTitleDeleted val="0"/>
    <c:plotArea>
      <c:layout/>
      <c:barChart>
        <c:barDir val="col"/>
        <c:grouping val="clustered"/>
        <c:varyColors val="0"/>
        <c:ser>
          <c:idx val="0"/>
          <c:order val="0"/>
          <c:tx>
            <c:strRef>
              <c:f>Sheet1!$B$1</c:f>
              <c:strCache>
                <c:ptCount val="1"/>
                <c:pt idx="0">
                  <c:v>Bugs</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Profile</c:v>
                  </c:pt>
                  <c:pt idx="1">
                    <c:v>Links</c:v>
                  </c:pt>
                  <c:pt idx="2">
                    <c:v>Search</c:v>
                  </c:pt>
                  <c:pt idx="3">
                    <c:v>Cart</c:v>
                  </c:pt>
                  <c:pt idx="4">
                    <c:v>Login</c:v>
                  </c:pt>
                  <c:pt idx="5">
                    <c:v>Checkout</c:v>
                  </c:pt>
                </c:lvl>
              </c:multiLvlStrCache>
            </c:multiLvlStrRef>
          </c:cat>
          <c:val>
            <c:numRef>
              <c:f>Sheet1!$B$2:$B$7</c:f>
              <c:numCache>
                <c:formatCode>General</c:formatCode>
                <c:ptCount val="6"/>
                <c:pt idx="0">
                  <c:v>4</c:v>
                </c:pt>
                <c:pt idx="1">
                  <c:v>3</c:v>
                </c:pt>
                <c:pt idx="2">
                  <c:v>2</c:v>
                </c:pt>
                <c:pt idx="3">
                  <c:v>2</c:v>
                </c:pt>
                <c:pt idx="4">
                  <c:v>1</c:v>
                </c:pt>
                <c:pt idx="5">
                  <c:v>1</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Severity distribution (ML predicted)</a:t>
            </a:r>
          </a:p>
        </c:rich>
      </c:tx>
      <c:layout/>
      <c:overlay val="0"/>
    </c:title>
    <c:autoTitleDeleted val="0"/>
    <c:plotArea>
      <c:layout/>
      <c:barChart>
        <c:barDir val="bar"/>
        <c:grouping val="clustered"/>
        <c:varyColors val="0"/>
        <c:ser>
          <c:idx val="0"/>
          <c:order val="0"/>
          <c:tx>
            <c:strRef>
              <c:f>Sheet1!$B$1</c:f>
              <c:strCache>
                <c:ptCount val="1"/>
                <c:pt idx="0">
                  <c:v>Bugs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4</c:v>
                </c:pt>
                <c:pt idx="1">
                  <c:v>6</c:v>
                </c:pt>
                <c:pt idx="2">
                  <c:v>3</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b"/>
        <c:majorGridlines>
          <c:spPr>
            <a:ln w="9525" cap="flat">
              <a:solidFill>
                <a:srgbClr val="E3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14-day bug trend (new bugs per day)</a:t>
            </a:r>
          </a:p>
        </c:rich>
      </c:tx>
      <c:layout/>
      <c:overlay val="0"/>
    </c:title>
    <c:autoTitleDeleted val="0"/>
    <c:plotArea>
      <c:layout/>
      <c:barChart>
        <c:barDir val="col"/>
        <c:grouping val="stacked"/>
        <c:varyColors val="0"/>
        <c:ser>
          <c:idx val="0"/>
          <c:order val="0"/>
          <c:tx>
            <c:strRef>
              <c:f>Sheet1!$B$1</c:f>
              <c:strCache>
                <c:ptCount val="1"/>
                <c:pt idx="0">
                  <c:v>Critical</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Sheet1!$B$2:$B$15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4</c:v>
                </c:pt>
              </c:numCache>
            </c:numRef>
          </c:val>
        </c:ser>
        <c:ser>
          <c:idx val="1"/>
          <c:order val="1"/>
          <c:tx>
            <c:strRef>
              <c:f>Sheet1!$C$1</c:f>
              <c:strCache>
                <c:ptCount val="1"/>
                <c:pt idx="0">
                  <c:v>Major</c:v>
                </c:pt>
              </c:strCache>
            </c:strRef>
          </c:tx>
          <c:spPr>
            <a:solidFill>
              <a:srgbClr val="EC835A"/>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Sheet1!$C$2:$C$15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6</c:v>
                </c:pt>
              </c:numCache>
            </c:numRef>
          </c:val>
        </c:ser>
        <c:ser>
          <c:idx val="2"/>
          <c:order val="2"/>
          <c:tx>
            <c:strRef>
              <c:f>Sheet1!$D$1</c:f>
              <c:strCache>
                <c:ptCount val="1"/>
                <c:pt idx="0">
                  <c:v>Minor</c:v>
                </c:pt>
              </c:strCache>
            </c:strRef>
          </c:tx>
          <c:spPr>
            <a:solidFill>
              <a:srgbClr val="F2A900"/>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Sheet1!$D$2:$D$15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3</c:v>
                </c:pt>
              </c:numCache>
            </c:numRef>
          </c:val>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r"/>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Passed vs failed tests per run (17 tests)</a:t>
            </a:r>
          </a:p>
        </c:rich>
      </c:tx>
      <c:layout/>
      <c:overlay val="0"/>
    </c:title>
    <c:autoTitleDeleted val="0"/>
    <c:plotArea>
      <c:layout/>
      <c:barChart>
        <c:barDir val="col"/>
        <c:grouping val="stacked"/>
        <c:varyColors val="0"/>
        <c:ser>
          <c:idx val="0"/>
          <c:order val="0"/>
          <c:tx>
            <c:strRef>
              <c:f>Sheet1!$B$1</c:f>
              <c:strCache>
                <c:ptCount val="1"/>
                <c:pt idx="0">
                  <c:v>Passed</c:v>
                </c:pt>
              </c:strCache>
            </c:strRef>
          </c:tx>
          <c:spPr>
            <a:solidFill>
              <a:srgbClr val="1B8E4E"/>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Sheet1!$B$2:$B$11</c:f>
              <c:numCache>
                <c:formatCode>General</c:formatCode>
                <c:ptCount val="10"/>
                <c:pt idx="0">
                  <c:v>8</c:v>
                </c:pt>
                <c:pt idx="1">
                  <c:v>7</c:v>
                </c:pt>
                <c:pt idx="2">
                  <c:v>8</c:v>
                </c:pt>
                <c:pt idx="3">
                  <c:v>7</c:v>
                </c:pt>
                <c:pt idx="4">
                  <c:v>7</c:v>
                </c:pt>
                <c:pt idx="5">
                  <c:v>7</c:v>
                </c:pt>
                <c:pt idx="6">
                  <c:v>7</c:v>
                </c:pt>
                <c:pt idx="7">
                  <c:v>8</c:v>
                </c:pt>
                <c:pt idx="8">
                  <c:v>8</c:v>
                </c:pt>
                <c:pt idx="9">
                  <c:v>7</c:v>
                </c:pt>
              </c:numCache>
            </c:numRef>
          </c:val>
        </c:ser>
        <c:ser>
          <c:idx val="1"/>
          <c:order val="1"/>
          <c:tx>
            <c:strRef>
              <c:f>Sheet1!$C$1</c:f>
              <c:strCache>
                <c:ptCount val="1"/>
                <c:pt idx="0">
                  <c:v>Failed</c:v>
                </c:pt>
              </c:strCache>
            </c:strRef>
          </c:tx>
          <c:spPr>
            <a:solidFill>
              <a:srgbClr val="D03B3B"/>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Sheet1!$C$2:$C$11</c:f>
              <c:numCache>
                <c:formatCode>General</c:formatCode>
                <c:ptCount val="10"/>
                <c:pt idx="0">
                  <c:v>9</c:v>
                </c:pt>
                <c:pt idx="1">
                  <c:v>10</c:v>
                </c:pt>
                <c:pt idx="2">
                  <c:v>9</c:v>
                </c:pt>
                <c:pt idx="3">
                  <c:v>10</c:v>
                </c:pt>
                <c:pt idx="4">
                  <c:v>10</c:v>
                </c:pt>
                <c:pt idx="5">
                  <c:v>10</c:v>
                </c:pt>
                <c:pt idx="6">
                  <c:v>10</c:v>
                </c:pt>
                <c:pt idx="7">
                  <c:v>9</c:v>
                </c:pt>
                <c:pt idx="8">
                  <c:v>9</c:v>
                </c:pt>
                <c:pt idx="9">
                  <c:v>10</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7"/>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is about automating the most repetitive part of software testing: turning a failing test into a bug report. The system runs Playwright browser tests, captures every failure automatically, predicts its severity with a machine learning model, stores it in a database, and shows everything on a web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presentation: the problem, the objectives, how the system is designed, how each part is implemented, and finally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manual testing, every failure means reading the error, taking a screenshot, writing a report, deciding severity and logging it in a tracker. Severity is subjective, information is scattered, and flaky tests make people doubt real failures. The idea of this project is to let the test framework do all of this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objectives of the project. Each one is implemented as a separate module, and the last objective connects all of them into one automated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Playwright runs the tests. A custom reporter plugged into Playwright receives every result and captures failures. The ML classifier predicts severity. Everything is stored in SQLite, and the dashboard reads from the database. Three side outputs: an email for Critical bugs, flaky detection from the run history, and an HTML results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written in TypeScript. Playwright 1.64.1, the latest version, runs the browser tests. The Naive Bayes model is written from scratch so every step can be explained. SQLite stores the data, Express and Chart.js power the dashboard, and Nodemailer sends email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have realistic failures, I built a demo shop called ShopEase with five modules. I seeded defects of different severities: a SQL error on login and a payment crash are Critical, wrong calculations are Major, typos and colours are Minor. Two APIs have random delays to create flaky tests, and three links in the site are broken: one returns HTTP 500 and two lead to pages that do not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Playwright lets us plug in our own reporter. onBegin creates a run. onTestEnd stores every result, and for a failure it captures the error message, the screenshot, the timestamp and the module, which comes from the test tag. onEnd saves the summary and sends alerts. A fingerprint of test name plus error text prevents duplicate bugs across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is predicted from the error text. First the message is cleaned: colour codes and the Locator and Timeout lines that appear in every Playwright failure are removed. Then it is lower-cased, HTTP codes become tokens like http500, and words plus word pairs become features. A Multinomial Naive Bayes model, written from scratch, picks the most probable class. The training set has 179 labelled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was evaluated two ways: a stratified 80/20 split gives 86.1% accuracy and 5-fold cross-validation gives 87.2%. Critical has 100% precision, so when the model says Critical it is always right. Most mistakes push Minor or Critical messages into Major, the middle class. On the thirteen real failures from the demo app, including the three broken links, all thirteen severities were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stored in one SQLite file with four tables. test_runs holds run summaries, test_results holds every result of every run, which is needed for flaky detection, bugs holds unique defects with severity and confidence, and bug_history records every status change for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The bug list can be filtered by severity, status and module, and searched by ID, test name or error text. Each bug has a details page with the error, screenshot, ML confidence and history. Bugs move from Open to In Progress to Resolved, and every change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page has three charts. Bugs per module shows that Profile has the most defects, followed by the three broken links. Severity distribution shows the ML predictions. The 14-day trend shows new bugs per day; in this project all thirteen bugs were found on the first day of testing, so the trend has one bar. On a real project the chart fills up as tests run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flaky test passes and fails on the same code. The detector reads the stored results of the last ten runs. If a test has both passes and failures, it is flaky. Failure rate and flip rate describe how unstable it is. Playwright retries are disabled on purpose, because retries would hide flakiness. Both seeded flaky tests were detected, and the consistently failing tests were correctly classified as real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 test run ends and at least one Critical bug was detected, new or already known, one email goes to every address configured in the .env file. For each Critical bug it shows the module, the test, the error and a clear screenshot of the page at the moment of failure, embedded in the email. A run without Critical bugs sends nothing, so the email always means something urgent. The pipeline sends one email covering all its runs, with the full report attached. Without SMTP settings the same email is saved as an HTML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additional feature, the system also checks every link on a website. It crawls every page of the site in a real browser, so links created by JavaScript are found too, collects all links, and requests each one. Any link that returns an error status or does not answer becomes a separate bug, with the pages where it appears, and the ML model assigns its severity. In ShopEase it crawled 11 pages and found exactly the three broken links: the Help Center returns HTTP 500 and was classified Critical, and two missing pages return 404 and were classified Major. The same test works on any website by setting one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complete pipeline: 10 runs and 170 test executions. Thirteen unique bugs were logged with zero manual reports, including the three broken links, all thirteen severities were correct, both flaky tests were found, and four Critical alerts were generated. The chart shows passed and failed tests per run; the number of failures changes only because of the two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all eight objectives were implemented and verified end to end. Bug reporting needs no manual effort, severity is predicted consistently, and flaky tests are separated from real defects. In future, the model can be trained on a larger real dataset and compared with other algorithms, and the system can create tickets in Jira, notify Slack and run in CI on every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answer questions, and I can show a live demo: the pipeline runs the tests, and the dashboard shows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 asked that manual testers can run the automation without VS Code. This is the Test Runner. The tester double-clicks Start Test Runner, the page opens, and nothing runs until they choose Smoke, Sanity, Regression or Broken links and press Run. In headed mode a browser window opens and every test can be watched, one at a time, while the page shows live progress. When the run ends the report opens in the same page, and if a Critical bug was found it is emailed to the addresses entered. Every run is kept in the run history with the date as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report of a run, shown in the same UI. At the top: the run name with the date first, the status, suite, duration and the email status. Then the pass rate, the totals, results by module and bugs by severity, with the Critical bugs called out. Below, every test is listed by module; clicking a failed test shows its error, its ML severity and the screenshot, and its Re-run button runs just that test again. Re-run failed tests runs all failed tests of that run. The report can be downloaded as one HTML file and stays in the run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024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5B6472"/>
                </a:solidFill>
              </a:rPr>
              <a:t>Automated Bug Reporting and Severity Classification  ·  M.Tech Project</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9"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Automated Bug Reporting and Severity Classification Using Machine Learning and Playwright Test Automation</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M.Tech Final Year Project</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Presented by: Student Name (Roll No.)</a:t>
            </a:r>
            <a:endParaRPr lang="en-US" sz="1600" dirty="0"/>
          </a:p>
          <a:p>
            <a:pPr algn="l" indent="0" marL="0">
              <a:buNone/>
            </a:pPr>
            <a:r>
              <a:rPr lang="en-US" sz="1600" dirty="0">
                <a:solidFill>
                  <a:schemeClr val="bg1"/>
                </a:solidFill>
              </a:rPr>
              <a:t>Guide: Guide Name  ·  Department, College Name</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number"/>
          <p:cNvSpPr/>
          <p:nvPr/>
        </p:nvSpPr>
        <p:spPr>
          <a:xfrm>
            <a:off x="73152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4" name="Text 2"/>
          <p:cNvSpPr txBox="1"/>
          <p:nvPr/>
        </p:nvSpPr>
        <p:spPr>
          <a:xfrm>
            <a:off x="150876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Problem statement</a:t>
            </a:r>
            <a:endParaRPr lang="en-US" sz="2000" dirty="0"/>
          </a:p>
        </p:txBody>
      </p:sp>
      <p:sp>
        <p:nvSpPr>
          <p:cNvPr id="5" name="agenda number"/>
          <p:cNvSpPr/>
          <p:nvPr/>
        </p:nvSpPr>
        <p:spPr>
          <a:xfrm>
            <a:off x="73152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6" name="Text 4"/>
          <p:cNvSpPr txBox="1"/>
          <p:nvPr/>
        </p:nvSpPr>
        <p:spPr>
          <a:xfrm>
            <a:off x="150876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Objectives</a:t>
            </a:r>
            <a:endParaRPr lang="en-US" sz="2000" dirty="0"/>
          </a:p>
        </p:txBody>
      </p:sp>
      <p:sp>
        <p:nvSpPr>
          <p:cNvPr id="7" name="agenda number"/>
          <p:cNvSpPr/>
          <p:nvPr/>
        </p:nvSpPr>
        <p:spPr>
          <a:xfrm>
            <a:off x="73152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8" name="Text 6"/>
          <p:cNvSpPr txBox="1"/>
          <p:nvPr/>
        </p:nvSpPr>
        <p:spPr>
          <a:xfrm>
            <a:off x="150876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System architecture</a:t>
            </a:r>
            <a:endParaRPr lang="en-US" sz="2000" dirty="0"/>
          </a:p>
        </p:txBody>
      </p:sp>
      <p:sp>
        <p:nvSpPr>
          <p:cNvPr id="9" name="agenda number"/>
          <p:cNvSpPr/>
          <p:nvPr/>
        </p:nvSpPr>
        <p:spPr>
          <a:xfrm>
            <a:off x="73152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10" name="Text 8"/>
          <p:cNvSpPr txBox="1"/>
          <p:nvPr/>
        </p:nvSpPr>
        <p:spPr>
          <a:xfrm>
            <a:off x="150876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Technology stack</a:t>
            </a:r>
            <a:endParaRPr lang="en-US" sz="2000" dirty="0"/>
          </a:p>
        </p:txBody>
      </p:sp>
      <p:sp>
        <p:nvSpPr>
          <p:cNvPr id="11" name="agenda number"/>
          <p:cNvSpPr/>
          <p:nvPr/>
        </p:nvSpPr>
        <p:spPr>
          <a:xfrm>
            <a:off x="731520" y="51206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05</a:t>
            </a:r>
            <a:endParaRPr lang="en-US" sz="1400" dirty="0"/>
          </a:p>
        </p:txBody>
      </p:sp>
      <p:sp>
        <p:nvSpPr>
          <p:cNvPr id="12" name="Text 10"/>
          <p:cNvSpPr txBox="1"/>
          <p:nvPr/>
        </p:nvSpPr>
        <p:spPr>
          <a:xfrm>
            <a:off x="150876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Application under test</a:t>
            </a:r>
            <a:endParaRPr lang="en-US" sz="2000" dirty="0"/>
          </a:p>
        </p:txBody>
      </p:sp>
      <p:sp>
        <p:nvSpPr>
          <p:cNvPr id="13" name="agenda number"/>
          <p:cNvSpPr/>
          <p:nvPr/>
        </p:nvSpPr>
        <p:spPr>
          <a:xfrm>
            <a:off x="630936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06</a:t>
            </a:r>
            <a:endParaRPr lang="en-US" sz="1400" dirty="0"/>
          </a:p>
        </p:txBody>
      </p:sp>
      <p:sp>
        <p:nvSpPr>
          <p:cNvPr id="14" name="Text 12"/>
          <p:cNvSpPr txBox="1"/>
          <p:nvPr/>
        </p:nvSpPr>
        <p:spPr>
          <a:xfrm>
            <a:off x="708660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Automated bug capture</a:t>
            </a:r>
            <a:endParaRPr lang="en-US" sz="2000" dirty="0"/>
          </a:p>
        </p:txBody>
      </p:sp>
      <p:sp>
        <p:nvSpPr>
          <p:cNvPr id="15" name="agenda number"/>
          <p:cNvSpPr/>
          <p:nvPr/>
        </p:nvSpPr>
        <p:spPr>
          <a:xfrm>
            <a:off x="630936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07</a:t>
            </a:r>
            <a:endParaRPr lang="en-US" sz="1400" dirty="0"/>
          </a:p>
        </p:txBody>
      </p:sp>
      <p:sp>
        <p:nvSpPr>
          <p:cNvPr id="16" name="Text 14"/>
          <p:cNvSpPr txBox="1"/>
          <p:nvPr/>
        </p:nvSpPr>
        <p:spPr>
          <a:xfrm>
            <a:off x="708660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ML severity classification</a:t>
            </a:r>
            <a:endParaRPr lang="en-US" sz="2000" dirty="0"/>
          </a:p>
        </p:txBody>
      </p:sp>
      <p:sp>
        <p:nvSpPr>
          <p:cNvPr id="17" name="agenda number"/>
          <p:cNvSpPr/>
          <p:nvPr/>
        </p:nvSpPr>
        <p:spPr>
          <a:xfrm>
            <a:off x="630936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08</a:t>
            </a:r>
            <a:endParaRPr lang="en-US" sz="1400" dirty="0"/>
          </a:p>
        </p:txBody>
      </p:sp>
      <p:sp>
        <p:nvSpPr>
          <p:cNvPr id="18" name="Text 16"/>
          <p:cNvSpPr txBox="1"/>
          <p:nvPr/>
        </p:nvSpPr>
        <p:spPr>
          <a:xfrm>
            <a:off x="708660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Dashboard and Test Runner</a:t>
            </a:r>
            <a:endParaRPr lang="en-US" sz="2000" dirty="0"/>
          </a:p>
        </p:txBody>
      </p:sp>
      <p:sp>
        <p:nvSpPr>
          <p:cNvPr id="19" name="agenda number"/>
          <p:cNvSpPr/>
          <p:nvPr/>
        </p:nvSpPr>
        <p:spPr>
          <a:xfrm>
            <a:off x="630936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09</a:t>
            </a:r>
            <a:endParaRPr lang="en-US" sz="1400" dirty="0"/>
          </a:p>
        </p:txBody>
      </p:sp>
      <p:sp>
        <p:nvSpPr>
          <p:cNvPr id="20" name="Text 18"/>
          <p:cNvSpPr txBox="1"/>
          <p:nvPr/>
        </p:nvSpPr>
        <p:spPr>
          <a:xfrm>
            <a:off x="708660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Flaky tests, alerts, broken links</a:t>
            </a:r>
            <a:endParaRPr lang="en-US" sz="2000" dirty="0"/>
          </a:p>
        </p:txBody>
      </p:sp>
      <p:sp>
        <p:nvSpPr>
          <p:cNvPr id="21" name="agenda number"/>
          <p:cNvSpPr/>
          <p:nvPr/>
        </p:nvSpPr>
        <p:spPr>
          <a:xfrm>
            <a:off x="6309360" y="5120640"/>
            <a:ext cx="548640" cy="548640"/>
          </a:xfrm>
          <a:prstGeom prst="ellipse">
            <a:avLst/>
          </a:prstGeom>
          <a:solidFill>
            <a:srgbClr val="D03B3B"/>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22" name="Text 20"/>
          <p:cNvSpPr txBox="1"/>
          <p:nvPr/>
        </p:nvSpPr>
        <p:spPr>
          <a:xfrm>
            <a:off x="708660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Results and conclusion</a:t>
            </a:r>
            <a:endParaRPr lang="en-US" sz="2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Manual bug reporting is slow and inconsistent</a:t>
            </a:r>
            <a:endParaRPr lang="en-US" sz="3000" dirty="0"/>
          </a:p>
        </p:txBody>
      </p:sp>
      <p:sp>
        <p:nvSpPr>
          <p:cNvPr id="3" name="icon circle"/>
          <p:cNvSpPr/>
          <p:nvPr/>
        </p:nvSpPr>
        <p:spPr>
          <a:xfrm>
            <a:off x="548640" y="1417320"/>
            <a:ext cx="685800" cy="685800"/>
          </a:xfrm>
          <a:prstGeom prst="ellipse">
            <a:avLst/>
          </a:prstGeom>
          <a:solidFill>
            <a:srgbClr val="D03B3B"/>
          </a:solidFill>
          <a:ln/>
        </p:spPr>
      </p:sp>
      <p:pic>
        <p:nvPicPr>
          <p:cNvPr id="4" name="FaUserClock icon" descr="preencoded.png">    </p:cNvPr>
          <p:cNvPicPr>
            <a:picLocks noChangeAspect="1"/>
          </p:cNvPicPr>
          <p:nvPr/>
        </p:nvPicPr>
        <p:blipFill>
          <a:blip r:embed="rId1"/>
          <a:stretch>
            <a:fillRect/>
          </a:stretch>
        </p:blipFill>
        <p:spPr>
          <a:xfrm>
            <a:off x="720090" y="1588770"/>
            <a:ext cx="342900" cy="342900"/>
          </a:xfrm>
          <a:prstGeom prst="rect">
            <a:avLst/>
          </a:prstGeom>
        </p:spPr>
      </p:pic>
      <p:sp>
        <p:nvSpPr>
          <p:cNvPr id="5" name="Text 2"/>
          <p:cNvSpPr txBox="1"/>
          <p:nvPr/>
        </p:nvSpPr>
        <p:spPr>
          <a:xfrm>
            <a:off x="1463040" y="1399032"/>
            <a:ext cx="5486400" cy="365760"/>
          </a:xfrm>
          <a:prstGeom prst="rect">
            <a:avLst/>
          </a:prstGeom>
          <a:noFill/>
          <a:ln/>
        </p:spPr>
        <p:txBody>
          <a:bodyPr wrap="square" lIns="0" tIns="0" rIns="0" bIns="0" rtlCol="0" anchor="t"/>
          <a:lstStyle/>
          <a:p>
            <a:pPr indent="0" marL="0">
              <a:buNone/>
            </a:pPr>
            <a:r>
              <a:rPr lang="en-US" sz="2000" b="1" dirty="0">
                <a:solidFill>
                  <a:schemeClr val="tx2"/>
                </a:solidFill>
              </a:rPr>
              <a:t>Repetitive manual effort</a:t>
            </a:r>
            <a:endParaRPr lang="en-US" sz="2000" dirty="0"/>
          </a:p>
        </p:txBody>
      </p:sp>
      <p:sp>
        <p:nvSpPr>
          <p:cNvPr id="6" name="Text 3"/>
          <p:cNvSpPr txBox="1"/>
          <p:nvPr/>
        </p:nvSpPr>
        <p:spPr>
          <a:xfrm>
            <a:off x="1463040" y="180136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Testers copy errors, take screenshots and write every report by hand</a:t>
            </a:r>
            <a:endParaRPr lang="en-US" sz="1500" dirty="0"/>
          </a:p>
        </p:txBody>
      </p:sp>
      <p:sp>
        <p:nvSpPr>
          <p:cNvPr id="7" name="icon circle"/>
          <p:cNvSpPr/>
          <p:nvPr/>
        </p:nvSpPr>
        <p:spPr>
          <a:xfrm>
            <a:off x="548640" y="2606040"/>
            <a:ext cx="685800" cy="685800"/>
          </a:xfrm>
          <a:prstGeom prst="ellipse">
            <a:avLst/>
          </a:prstGeom>
          <a:solidFill>
            <a:srgbClr val="D03B3B"/>
          </a:solidFill>
          <a:ln/>
        </p:spPr>
      </p:sp>
      <p:pic>
        <p:nvPicPr>
          <p:cNvPr id="8" name="FaBalanceScale icon" descr="preencoded.png">    </p:cNvPr>
          <p:cNvPicPr>
            <a:picLocks noChangeAspect="1"/>
          </p:cNvPicPr>
          <p:nvPr/>
        </p:nvPicPr>
        <p:blipFill>
          <a:blip r:embed="rId2"/>
          <a:stretch>
            <a:fillRect/>
          </a:stretch>
        </p:blipFill>
        <p:spPr>
          <a:xfrm>
            <a:off x="720090" y="2777490"/>
            <a:ext cx="342900" cy="342900"/>
          </a:xfrm>
          <a:prstGeom prst="rect">
            <a:avLst/>
          </a:prstGeom>
        </p:spPr>
      </p:pic>
      <p:sp>
        <p:nvSpPr>
          <p:cNvPr id="9" name="Text 5"/>
          <p:cNvSpPr txBox="1"/>
          <p:nvPr/>
        </p:nvSpPr>
        <p:spPr>
          <a:xfrm>
            <a:off x="1463040" y="258775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Subjective severity</a:t>
            </a:r>
            <a:endParaRPr lang="en-US" sz="2000" dirty="0"/>
          </a:p>
        </p:txBody>
      </p:sp>
      <p:sp>
        <p:nvSpPr>
          <p:cNvPr id="10" name="Text 6"/>
          <p:cNvSpPr txBox="1"/>
          <p:nvPr/>
        </p:nvSpPr>
        <p:spPr>
          <a:xfrm>
            <a:off x="1463040" y="2990088"/>
            <a:ext cx="5486400" cy="457200"/>
          </a:xfrm>
          <a:prstGeom prst="rect">
            <a:avLst/>
          </a:prstGeom>
          <a:noFill/>
          <a:ln/>
        </p:spPr>
        <p:txBody>
          <a:bodyPr wrap="square" lIns="0" tIns="0" rIns="0" bIns="0" rtlCol="0" anchor="t"/>
          <a:lstStyle/>
          <a:p>
            <a:pPr indent="0" marL="0">
              <a:buNone/>
            </a:pPr>
            <a:r>
              <a:rPr lang="en-US" sz="1500" dirty="0">
                <a:solidFill>
                  <a:schemeClr val="tx1"/>
                </a:solidFill>
              </a:rPr>
              <a:t>Critical vs Major vs Minor depends on who reads the failure</a:t>
            </a:r>
            <a:endParaRPr lang="en-US" sz="1500" dirty="0"/>
          </a:p>
        </p:txBody>
      </p:sp>
      <p:sp>
        <p:nvSpPr>
          <p:cNvPr id="11" name="icon circle"/>
          <p:cNvSpPr/>
          <p:nvPr/>
        </p:nvSpPr>
        <p:spPr>
          <a:xfrm>
            <a:off x="548640" y="3794760"/>
            <a:ext cx="685800" cy="685800"/>
          </a:xfrm>
          <a:prstGeom prst="ellipse">
            <a:avLst/>
          </a:prstGeom>
          <a:solidFill>
            <a:srgbClr val="D03B3B"/>
          </a:solidFill>
          <a:ln/>
        </p:spPr>
      </p:sp>
      <p:pic>
        <p:nvPicPr>
          <p:cNvPr id="12" name="FaFolderOpen icon" descr="preencoded.png">    </p:cNvPr>
          <p:cNvPicPr>
            <a:picLocks noChangeAspect="1"/>
          </p:cNvPicPr>
          <p:nvPr/>
        </p:nvPicPr>
        <p:blipFill>
          <a:blip r:embed="rId3"/>
          <a:stretch>
            <a:fillRect/>
          </a:stretch>
        </p:blipFill>
        <p:spPr>
          <a:xfrm>
            <a:off x="720090" y="3966210"/>
            <a:ext cx="342900" cy="342900"/>
          </a:xfrm>
          <a:prstGeom prst="rect">
            <a:avLst/>
          </a:prstGeom>
        </p:spPr>
      </p:pic>
      <p:sp>
        <p:nvSpPr>
          <p:cNvPr id="13" name="Text 8"/>
          <p:cNvSpPr txBox="1"/>
          <p:nvPr/>
        </p:nvSpPr>
        <p:spPr>
          <a:xfrm>
            <a:off x="1463040" y="377647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Scattered information</a:t>
            </a:r>
            <a:endParaRPr lang="en-US" sz="2000" dirty="0"/>
          </a:p>
        </p:txBody>
      </p:sp>
      <p:sp>
        <p:nvSpPr>
          <p:cNvPr id="14" name="Text 9"/>
          <p:cNvSpPr txBox="1"/>
          <p:nvPr/>
        </p:nvSpPr>
        <p:spPr>
          <a:xfrm>
            <a:off x="1463040" y="4178808"/>
            <a:ext cx="5486400" cy="457200"/>
          </a:xfrm>
          <a:prstGeom prst="rect">
            <a:avLst/>
          </a:prstGeom>
          <a:noFill/>
          <a:ln/>
        </p:spPr>
        <p:txBody>
          <a:bodyPr wrap="square" lIns="0" tIns="0" rIns="0" bIns="0" rtlCol="0" anchor="t"/>
          <a:lstStyle/>
          <a:p>
            <a:pPr indent="0" marL="0">
              <a:buNone/>
            </a:pPr>
            <a:r>
              <a:rPr lang="en-US" sz="1500" dirty="0">
                <a:solidFill>
                  <a:schemeClr val="tx1"/>
                </a:solidFill>
              </a:rPr>
              <a:t>Failures live in logs and chats, with no history or traceability</a:t>
            </a:r>
            <a:endParaRPr lang="en-US" sz="1500" dirty="0"/>
          </a:p>
        </p:txBody>
      </p:sp>
      <p:sp>
        <p:nvSpPr>
          <p:cNvPr id="15" name="icon circle"/>
          <p:cNvSpPr/>
          <p:nvPr/>
        </p:nvSpPr>
        <p:spPr>
          <a:xfrm>
            <a:off x="548640" y="4983480"/>
            <a:ext cx="685800" cy="685800"/>
          </a:xfrm>
          <a:prstGeom prst="ellipse">
            <a:avLst/>
          </a:prstGeom>
          <a:solidFill>
            <a:srgbClr val="D03B3B"/>
          </a:solidFill>
          <a:ln/>
        </p:spPr>
      </p:sp>
      <p:pic>
        <p:nvPicPr>
          <p:cNvPr id="16" name="FaRandom icon" descr="preencoded.png">    </p:cNvPr>
          <p:cNvPicPr>
            <a:picLocks noChangeAspect="1"/>
          </p:cNvPicPr>
          <p:nvPr/>
        </p:nvPicPr>
        <p:blipFill>
          <a:blip r:embed="rId4"/>
          <a:stretch>
            <a:fillRect/>
          </a:stretch>
        </p:blipFill>
        <p:spPr>
          <a:xfrm>
            <a:off x="720090" y="5154930"/>
            <a:ext cx="342900" cy="342900"/>
          </a:xfrm>
          <a:prstGeom prst="rect">
            <a:avLst/>
          </a:prstGeom>
        </p:spPr>
      </p:pic>
      <p:sp>
        <p:nvSpPr>
          <p:cNvPr id="17" name="Text 11"/>
          <p:cNvSpPr txBox="1"/>
          <p:nvPr/>
        </p:nvSpPr>
        <p:spPr>
          <a:xfrm>
            <a:off x="1463040" y="4965192"/>
            <a:ext cx="5486400" cy="365760"/>
          </a:xfrm>
          <a:prstGeom prst="rect">
            <a:avLst/>
          </a:prstGeom>
          <a:noFill/>
          <a:ln/>
        </p:spPr>
        <p:txBody>
          <a:bodyPr wrap="square" lIns="0" tIns="0" rIns="0" bIns="0" rtlCol="0" anchor="t"/>
          <a:lstStyle/>
          <a:p>
            <a:pPr indent="0" marL="0">
              <a:buNone/>
            </a:pPr>
            <a:r>
              <a:rPr lang="en-US" sz="2000" b="1" dirty="0">
                <a:solidFill>
                  <a:schemeClr val="tx2"/>
                </a:solidFill>
              </a:rPr>
              <a:t>Flaky tests waste time</a:t>
            </a:r>
            <a:endParaRPr lang="en-US" sz="2000" dirty="0"/>
          </a:p>
        </p:txBody>
      </p:sp>
      <p:sp>
        <p:nvSpPr>
          <p:cNvPr id="18" name="Text 12"/>
          <p:cNvSpPr txBox="1"/>
          <p:nvPr/>
        </p:nvSpPr>
        <p:spPr>
          <a:xfrm>
            <a:off x="1463040" y="536752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Tests that pass and fail at random hide real defects</a:t>
            </a:r>
            <a:endParaRPr lang="en-US" sz="1500" dirty="0"/>
          </a:p>
        </p:txBody>
      </p:sp>
      <p:sp>
        <p:nvSpPr>
          <p:cNvPr id="19" name="idea panel"/>
          <p:cNvSpPr/>
          <p:nvPr/>
        </p:nvSpPr>
        <p:spPr>
          <a:xfrm>
            <a:off x="7498080" y="1417320"/>
            <a:ext cx="4142232" cy="4617720"/>
          </a:xfrm>
          <a:prstGeom prst="roundRect">
            <a:avLst>
              <a:gd name="adj" fmla="val 2649"/>
            </a:avLst>
          </a:prstGeom>
          <a:solidFill>
            <a:srgbClr val="10243F"/>
          </a:solidFill>
          <a:ln/>
        </p:spPr>
      </p:sp>
      <p:sp>
        <p:nvSpPr>
          <p:cNvPr id="20" name="Text 14"/>
          <p:cNvSpPr txBox="1"/>
          <p:nvPr/>
        </p:nvSpPr>
        <p:spPr>
          <a:xfrm>
            <a:off x="7863840" y="1737360"/>
            <a:ext cx="3474720" cy="274320"/>
          </a:xfrm>
          <a:prstGeom prst="rect">
            <a:avLst/>
          </a:prstGeom>
          <a:noFill/>
          <a:ln/>
        </p:spPr>
        <p:txBody>
          <a:bodyPr wrap="square" lIns="0" tIns="0" rIns="0" bIns="0" rtlCol="0" anchor="t"/>
          <a:lstStyle/>
          <a:p>
            <a:pPr indent="0" marL="0">
              <a:buNone/>
            </a:pPr>
            <a:r>
              <a:rPr lang="en-US" sz="1300" b="1" spc="200" kern="0" dirty="0">
                <a:solidFill>
                  <a:srgbClr val="CADCFC"/>
                </a:solidFill>
              </a:rPr>
              <a:t>THE IDEA</a:t>
            </a:r>
            <a:endParaRPr lang="en-US" sz="1300" dirty="0"/>
          </a:p>
        </p:txBody>
      </p:sp>
      <p:sp>
        <p:nvSpPr>
          <p:cNvPr id="21" name="Text 15"/>
          <p:cNvSpPr txBox="1"/>
          <p:nvPr/>
        </p:nvSpPr>
        <p:spPr>
          <a:xfrm>
            <a:off x="7863840" y="2148840"/>
            <a:ext cx="3474720" cy="1920240"/>
          </a:xfrm>
          <a:prstGeom prst="rect">
            <a:avLst/>
          </a:prstGeom>
          <a:noFill/>
          <a:ln/>
        </p:spPr>
        <p:txBody>
          <a:bodyPr wrap="square" lIns="0" tIns="0" rIns="0" bIns="0" rtlCol="0" anchor="t"/>
          <a:lstStyle/>
          <a:p>
            <a:pPr indent="0" marL="0">
              <a:buNone/>
            </a:pPr>
            <a:r>
              <a:rPr lang="en-US" sz="2400" b="1" dirty="0">
                <a:solidFill>
                  <a:schemeClr val="bg1"/>
                </a:solidFill>
                <a:latin typeface="Arial" pitchFamily="34" charset="0"/>
                <a:ea typeface="Arial" pitchFamily="34" charset="-122"/>
                <a:cs typeface="Arial" pitchFamily="34" charset="-120"/>
              </a:rPr>
              <a:t>Let the test framework report, classify and track its own failures automatically</a:t>
            </a:r>
            <a:endParaRPr lang="en-US" sz="2400" dirty="0"/>
          </a:p>
        </p:txBody>
      </p:sp>
      <p:sp>
        <p:nvSpPr>
          <p:cNvPr id="22" name="Text 16"/>
          <p:cNvSpPr txBox="1"/>
          <p:nvPr/>
        </p:nvSpPr>
        <p:spPr>
          <a:xfrm>
            <a:off x="7863840" y="4343400"/>
            <a:ext cx="347472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No manual bug reports</a:t>
            </a:r>
            <a:endParaRPr lang="en-US" sz="1600" dirty="0"/>
          </a:p>
          <a:p>
            <a:pPr marL="342900" indent="-342900">
              <a:spcAft>
                <a:spcPts val="600"/>
              </a:spcAft>
              <a:buSzPct val="100000"/>
              <a:buChar char="•"/>
            </a:pPr>
            <a:r>
              <a:rPr lang="en-US" sz="1600" dirty="0">
                <a:solidFill>
                  <a:schemeClr val="bg1"/>
                </a:solidFill>
              </a:rPr>
              <a:t>Consistent ML-based severity</a:t>
            </a:r>
            <a:endParaRPr lang="en-US" sz="1600" dirty="0"/>
          </a:p>
          <a:p>
            <a:pPr marL="342900" indent="-342900">
              <a:spcAft>
                <a:spcPts val="600"/>
              </a:spcAft>
              <a:buSzPct val="100000"/>
              <a:buChar char="•"/>
            </a:pPr>
            <a:r>
              <a:rPr lang="en-US" sz="1600" dirty="0">
                <a:solidFill>
                  <a:schemeClr val="bg1"/>
                </a:solidFill>
              </a:rPr>
              <a:t>One traceable database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Project objectives</a:t>
            </a:r>
            <a:endParaRPr lang="en-US" sz="3000" dirty="0"/>
          </a:p>
        </p:txBody>
      </p:sp>
      <p:sp>
        <p:nvSpPr>
          <p:cNvPr id="3" name="objective 1"/>
          <p:cNvSpPr/>
          <p:nvPr/>
        </p:nvSpPr>
        <p:spPr>
          <a:xfrm>
            <a:off x="548640" y="1371600"/>
            <a:ext cx="2606040" cy="2240280"/>
          </a:xfrm>
          <a:prstGeom prst="roundRect">
            <a:avLst>
              <a:gd name="adj" fmla="val 4898"/>
            </a:avLst>
          </a:prstGeom>
          <a:solidFill>
            <a:schemeClr val="bg2"/>
          </a:solidFill>
          <a:ln/>
        </p:spPr>
      </p:sp>
      <p:sp>
        <p:nvSpPr>
          <p:cNvPr id="4" name="icon circle"/>
          <p:cNvSpPr/>
          <p:nvPr/>
        </p:nvSpPr>
        <p:spPr>
          <a:xfrm>
            <a:off x="777240" y="1600200"/>
            <a:ext cx="594360" cy="594360"/>
          </a:xfrm>
          <a:prstGeom prst="ellipse">
            <a:avLst/>
          </a:prstGeom>
          <a:solidFill>
            <a:srgbClr val="10243F"/>
          </a:solidFill>
          <a:ln/>
        </p:spPr>
      </p:sp>
      <p:pic>
        <p:nvPicPr>
          <p:cNvPr id="5" name="FaCamera icon" descr="preencoded.png">    </p:cNvPr>
          <p:cNvPicPr>
            <a:picLocks noChangeAspect="1"/>
          </p:cNvPicPr>
          <p:nvPr/>
        </p:nvPicPr>
        <p:blipFill>
          <a:blip r:embed="rId1"/>
          <a:stretch>
            <a:fillRect/>
          </a:stretch>
        </p:blipFill>
        <p:spPr>
          <a:xfrm>
            <a:off x="925830" y="1748790"/>
            <a:ext cx="297180" cy="297180"/>
          </a:xfrm>
          <a:prstGeom prst="rect">
            <a:avLst/>
          </a:prstGeom>
        </p:spPr>
      </p:pic>
      <p:sp>
        <p:nvSpPr>
          <p:cNvPr id="6" name="Text 3"/>
          <p:cNvSpPr txBox="1"/>
          <p:nvPr/>
        </p:nvSpPr>
        <p:spPr>
          <a:xfrm>
            <a:off x="237744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01</a:t>
            </a:r>
            <a:endParaRPr lang="en-US" sz="1800" dirty="0"/>
          </a:p>
        </p:txBody>
      </p:sp>
      <p:sp>
        <p:nvSpPr>
          <p:cNvPr id="7" name="Text 4"/>
          <p:cNvSpPr txBox="1"/>
          <p:nvPr/>
        </p:nvSpPr>
        <p:spPr>
          <a:xfrm>
            <a:off x="77724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Automated bug logging</a:t>
            </a:r>
            <a:endParaRPr lang="en-US" sz="1600" dirty="0"/>
          </a:p>
        </p:txBody>
      </p:sp>
      <p:sp>
        <p:nvSpPr>
          <p:cNvPr id="8" name="Text 5"/>
          <p:cNvSpPr txBox="1"/>
          <p:nvPr/>
        </p:nvSpPr>
        <p:spPr>
          <a:xfrm>
            <a:off x="77724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Error, screenshot, timestamp and module from each failure</a:t>
            </a:r>
            <a:endParaRPr lang="en-US" sz="1400" dirty="0"/>
          </a:p>
        </p:txBody>
      </p:sp>
      <p:sp>
        <p:nvSpPr>
          <p:cNvPr id="9" name="objective 2"/>
          <p:cNvSpPr/>
          <p:nvPr/>
        </p:nvSpPr>
        <p:spPr>
          <a:xfrm>
            <a:off x="3383280" y="1371600"/>
            <a:ext cx="2606040" cy="2240280"/>
          </a:xfrm>
          <a:prstGeom prst="roundRect">
            <a:avLst>
              <a:gd name="adj" fmla="val 4898"/>
            </a:avLst>
          </a:prstGeom>
          <a:solidFill>
            <a:schemeClr val="bg2"/>
          </a:solidFill>
          <a:ln/>
        </p:spPr>
      </p:sp>
      <p:sp>
        <p:nvSpPr>
          <p:cNvPr id="10" name="icon circle"/>
          <p:cNvSpPr/>
          <p:nvPr/>
        </p:nvSpPr>
        <p:spPr>
          <a:xfrm>
            <a:off x="3611880" y="1600200"/>
            <a:ext cx="594360" cy="594360"/>
          </a:xfrm>
          <a:prstGeom prst="ellipse">
            <a:avLst/>
          </a:prstGeom>
          <a:solidFill>
            <a:srgbClr val="10243F"/>
          </a:solidFill>
          <a:ln/>
        </p:spPr>
      </p:sp>
      <p:pic>
        <p:nvPicPr>
          <p:cNvPr id="11" name="FaBrain icon" descr="preencoded.png">    </p:cNvPr>
          <p:cNvPicPr>
            <a:picLocks noChangeAspect="1"/>
          </p:cNvPicPr>
          <p:nvPr/>
        </p:nvPicPr>
        <p:blipFill>
          <a:blip r:embed="rId2"/>
          <a:stretch>
            <a:fillRect/>
          </a:stretch>
        </p:blipFill>
        <p:spPr>
          <a:xfrm>
            <a:off x="3760470" y="1748790"/>
            <a:ext cx="297180" cy="297180"/>
          </a:xfrm>
          <a:prstGeom prst="rect">
            <a:avLst/>
          </a:prstGeom>
        </p:spPr>
      </p:pic>
      <p:sp>
        <p:nvSpPr>
          <p:cNvPr id="12" name="Text 8"/>
          <p:cNvSpPr txBox="1"/>
          <p:nvPr/>
        </p:nvSpPr>
        <p:spPr>
          <a:xfrm>
            <a:off x="521208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02</a:t>
            </a:r>
            <a:endParaRPr lang="en-US" sz="1800" dirty="0"/>
          </a:p>
        </p:txBody>
      </p:sp>
      <p:sp>
        <p:nvSpPr>
          <p:cNvPr id="13" name="Text 9"/>
          <p:cNvSpPr txBox="1"/>
          <p:nvPr/>
        </p:nvSpPr>
        <p:spPr>
          <a:xfrm>
            <a:off x="361188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ML severity classification</a:t>
            </a:r>
            <a:endParaRPr lang="en-US" sz="1600" dirty="0"/>
          </a:p>
        </p:txBody>
      </p:sp>
      <p:sp>
        <p:nvSpPr>
          <p:cNvPr id="14" name="Text 10"/>
          <p:cNvSpPr txBox="1"/>
          <p:nvPr/>
        </p:nvSpPr>
        <p:spPr>
          <a:xfrm>
            <a:off x="361188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Critical / Major / Minor from labelled error messages</a:t>
            </a:r>
            <a:endParaRPr lang="en-US" sz="1400" dirty="0"/>
          </a:p>
        </p:txBody>
      </p:sp>
      <p:sp>
        <p:nvSpPr>
          <p:cNvPr id="15" name="objective 3"/>
          <p:cNvSpPr/>
          <p:nvPr/>
        </p:nvSpPr>
        <p:spPr>
          <a:xfrm>
            <a:off x="6217920" y="1371600"/>
            <a:ext cx="2606040" cy="2240280"/>
          </a:xfrm>
          <a:prstGeom prst="roundRect">
            <a:avLst>
              <a:gd name="adj" fmla="val 4898"/>
            </a:avLst>
          </a:prstGeom>
          <a:solidFill>
            <a:schemeClr val="bg2"/>
          </a:solidFill>
          <a:ln/>
        </p:spPr>
      </p:sp>
      <p:sp>
        <p:nvSpPr>
          <p:cNvPr id="16" name="icon circle"/>
          <p:cNvSpPr/>
          <p:nvPr/>
        </p:nvSpPr>
        <p:spPr>
          <a:xfrm>
            <a:off x="6446520" y="1600200"/>
            <a:ext cx="594360" cy="594360"/>
          </a:xfrm>
          <a:prstGeom prst="ellipse">
            <a:avLst/>
          </a:prstGeom>
          <a:solidFill>
            <a:srgbClr val="10243F"/>
          </a:solidFill>
          <a:ln/>
        </p:spPr>
      </p:sp>
      <p:pic>
        <p:nvPicPr>
          <p:cNvPr id="17" name="FaDatabase icon" descr="preencoded.png">    </p:cNvPr>
          <p:cNvPicPr>
            <a:picLocks noChangeAspect="1"/>
          </p:cNvPicPr>
          <p:nvPr/>
        </p:nvPicPr>
        <p:blipFill>
          <a:blip r:embed="rId3"/>
          <a:stretch>
            <a:fillRect/>
          </a:stretch>
        </p:blipFill>
        <p:spPr>
          <a:xfrm>
            <a:off x="6595110" y="1748790"/>
            <a:ext cx="297180" cy="297180"/>
          </a:xfrm>
          <a:prstGeom prst="rect">
            <a:avLst/>
          </a:prstGeom>
        </p:spPr>
      </p:pic>
      <p:sp>
        <p:nvSpPr>
          <p:cNvPr id="18" name="Text 13"/>
          <p:cNvSpPr txBox="1"/>
          <p:nvPr/>
        </p:nvSpPr>
        <p:spPr>
          <a:xfrm>
            <a:off x="804672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03</a:t>
            </a:r>
            <a:endParaRPr lang="en-US" sz="1800" dirty="0"/>
          </a:p>
        </p:txBody>
      </p:sp>
      <p:sp>
        <p:nvSpPr>
          <p:cNvPr id="19" name="Text 14"/>
          <p:cNvSpPr txBox="1"/>
          <p:nvPr/>
        </p:nvSpPr>
        <p:spPr>
          <a:xfrm>
            <a:off x="644652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Central SQLite storage</a:t>
            </a:r>
            <a:endParaRPr lang="en-US" sz="1600" dirty="0"/>
          </a:p>
        </p:txBody>
      </p:sp>
      <p:sp>
        <p:nvSpPr>
          <p:cNvPr id="20" name="Text 15"/>
          <p:cNvSpPr txBox="1"/>
          <p:nvPr/>
        </p:nvSpPr>
        <p:spPr>
          <a:xfrm>
            <a:off x="644652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All defects and test-run summaries, fully traceable</a:t>
            </a:r>
            <a:endParaRPr lang="en-US" sz="1400" dirty="0"/>
          </a:p>
        </p:txBody>
      </p:sp>
      <p:sp>
        <p:nvSpPr>
          <p:cNvPr id="21" name="objective 4"/>
          <p:cNvSpPr/>
          <p:nvPr/>
        </p:nvSpPr>
        <p:spPr>
          <a:xfrm>
            <a:off x="9052560" y="1371600"/>
            <a:ext cx="2606040" cy="2240280"/>
          </a:xfrm>
          <a:prstGeom prst="roundRect">
            <a:avLst>
              <a:gd name="adj" fmla="val 4898"/>
            </a:avLst>
          </a:prstGeom>
          <a:solidFill>
            <a:schemeClr val="bg2"/>
          </a:solidFill>
          <a:ln/>
        </p:spPr>
      </p:sp>
      <p:sp>
        <p:nvSpPr>
          <p:cNvPr id="22" name="icon circle"/>
          <p:cNvSpPr/>
          <p:nvPr/>
        </p:nvSpPr>
        <p:spPr>
          <a:xfrm>
            <a:off x="9281160" y="1600200"/>
            <a:ext cx="594360" cy="594360"/>
          </a:xfrm>
          <a:prstGeom prst="ellipse">
            <a:avLst/>
          </a:prstGeom>
          <a:solidFill>
            <a:srgbClr val="10243F"/>
          </a:solidFill>
          <a:ln/>
        </p:spPr>
      </p:sp>
      <p:pic>
        <p:nvPicPr>
          <p:cNvPr id="23" name="FaDesktop icon" descr="preencoded.png">    </p:cNvPr>
          <p:cNvPicPr>
            <a:picLocks noChangeAspect="1"/>
          </p:cNvPicPr>
          <p:nvPr/>
        </p:nvPicPr>
        <p:blipFill>
          <a:blip r:embed="rId4"/>
          <a:stretch>
            <a:fillRect/>
          </a:stretch>
        </p:blipFill>
        <p:spPr>
          <a:xfrm>
            <a:off x="9429750" y="1748790"/>
            <a:ext cx="297180" cy="297180"/>
          </a:xfrm>
          <a:prstGeom prst="rect">
            <a:avLst/>
          </a:prstGeom>
        </p:spPr>
      </p:pic>
      <p:sp>
        <p:nvSpPr>
          <p:cNvPr id="24" name="Text 18"/>
          <p:cNvSpPr txBox="1"/>
          <p:nvPr/>
        </p:nvSpPr>
        <p:spPr>
          <a:xfrm>
            <a:off x="1088136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04</a:t>
            </a:r>
            <a:endParaRPr lang="en-US" sz="1800" dirty="0"/>
          </a:p>
        </p:txBody>
      </p:sp>
      <p:sp>
        <p:nvSpPr>
          <p:cNvPr id="25" name="Text 19"/>
          <p:cNvSpPr txBox="1"/>
          <p:nvPr/>
        </p:nvSpPr>
        <p:spPr>
          <a:xfrm>
            <a:off x="928116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Web dashboard</a:t>
            </a:r>
            <a:endParaRPr lang="en-US" sz="1600" dirty="0"/>
          </a:p>
        </p:txBody>
      </p:sp>
      <p:sp>
        <p:nvSpPr>
          <p:cNvPr id="26" name="Text 20"/>
          <p:cNvSpPr txBox="1"/>
          <p:nvPr/>
        </p:nvSpPr>
        <p:spPr>
          <a:xfrm>
            <a:off x="928116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View, filter, search and update bug status</a:t>
            </a:r>
            <a:endParaRPr lang="en-US" sz="1400" dirty="0"/>
          </a:p>
        </p:txBody>
      </p:sp>
      <p:sp>
        <p:nvSpPr>
          <p:cNvPr id="27" name="objective 5"/>
          <p:cNvSpPr/>
          <p:nvPr/>
        </p:nvSpPr>
        <p:spPr>
          <a:xfrm>
            <a:off x="548640" y="3840480"/>
            <a:ext cx="2606040" cy="2240280"/>
          </a:xfrm>
          <a:prstGeom prst="roundRect">
            <a:avLst>
              <a:gd name="adj" fmla="val 4898"/>
            </a:avLst>
          </a:prstGeom>
          <a:solidFill>
            <a:schemeClr val="bg2"/>
          </a:solidFill>
          <a:ln/>
        </p:spPr>
      </p:sp>
      <p:sp>
        <p:nvSpPr>
          <p:cNvPr id="28" name="icon circle"/>
          <p:cNvSpPr/>
          <p:nvPr/>
        </p:nvSpPr>
        <p:spPr>
          <a:xfrm>
            <a:off x="777240" y="4069080"/>
            <a:ext cx="594360" cy="594360"/>
          </a:xfrm>
          <a:prstGeom prst="ellipse">
            <a:avLst/>
          </a:prstGeom>
          <a:solidFill>
            <a:srgbClr val="10243F"/>
          </a:solidFill>
          <a:ln/>
        </p:spPr>
      </p:sp>
      <p:pic>
        <p:nvPicPr>
          <p:cNvPr id="29" name="FaChartBar icon" descr="preencoded.png">    </p:cNvPr>
          <p:cNvPicPr>
            <a:picLocks noChangeAspect="1"/>
          </p:cNvPicPr>
          <p:nvPr/>
        </p:nvPicPr>
        <p:blipFill>
          <a:blip r:embed="rId5"/>
          <a:stretch>
            <a:fillRect/>
          </a:stretch>
        </p:blipFill>
        <p:spPr>
          <a:xfrm>
            <a:off x="925830" y="4217670"/>
            <a:ext cx="297180" cy="297180"/>
          </a:xfrm>
          <a:prstGeom prst="rect">
            <a:avLst/>
          </a:prstGeom>
        </p:spPr>
      </p:pic>
      <p:sp>
        <p:nvSpPr>
          <p:cNvPr id="30" name="Text 23"/>
          <p:cNvSpPr txBox="1"/>
          <p:nvPr/>
        </p:nvSpPr>
        <p:spPr>
          <a:xfrm>
            <a:off x="237744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05</a:t>
            </a:r>
            <a:endParaRPr lang="en-US" sz="1800" dirty="0"/>
          </a:p>
        </p:txBody>
      </p:sp>
      <p:sp>
        <p:nvSpPr>
          <p:cNvPr id="31" name="Text 24"/>
          <p:cNvSpPr txBox="1"/>
          <p:nvPr/>
        </p:nvSpPr>
        <p:spPr>
          <a:xfrm>
            <a:off x="77724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Defect analytics</a:t>
            </a:r>
            <a:endParaRPr lang="en-US" sz="1600" dirty="0"/>
          </a:p>
        </p:txBody>
      </p:sp>
      <p:sp>
        <p:nvSpPr>
          <p:cNvPr id="32" name="Text 25"/>
          <p:cNvSpPr txBox="1"/>
          <p:nvPr/>
        </p:nvSpPr>
        <p:spPr>
          <a:xfrm>
            <a:off x="77724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Bugs per module, severity mix, 14-day trend</a:t>
            </a:r>
            <a:endParaRPr lang="en-US" sz="1400" dirty="0"/>
          </a:p>
        </p:txBody>
      </p:sp>
      <p:sp>
        <p:nvSpPr>
          <p:cNvPr id="33" name="objective 6"/>
          <p:cNvSpPr/>
          <p:nvPr/>
        </p:nvSpPr>
        <p:spPr>
          <a:xfrm>
            <a:off x="3383280" y="3840480"/>
            <a:ext cx="2606040" cy="2240280"/>
          </a:xfrm>
          <a:prstGeom prst="roundRect">
            <a:avLst>
              <a:gd name="adj" fmla="val 4898"/>
            </a:avLst>
          </a:prstGeom>
          <a:solidFill>
            <a:schemeClr val="bg2"/>
          </a:solidFill>
          <a:ln/>
        </p:spPr>
      </p:sp>
      <p:sp>
        <p:nvSpPr>
          <p:cNvPr id="34" name="icon circle"/>
          <p:cNvSpPr/>
          <p:nvPr/>
        </p:nvSpPr>
        <p:spPr>
          <a:xfrm>
            <a:off x="3611880" y="4069080"/>
            <a:ext cx="594360" cy="594360"/>
          </a:xfrm>
          <a:prstGeom prst="ellipse">
            <a:avLst/>
          </a:prstGeom>
          <a:solidFill>
            <a:srgbClr val="10243F"/>
          </a:solidFill>
          <a:ln/>
        </p:spPr>
      </p:sp>
      <p:pic>
        <p:nvPicPr>
          <p:cNvPr id="35" name="FaRandom icon" descr="preencoded.png">    </p:cNvPr>
          <p:cNvPicPr>
            <a:picLocks noChangeAspect="1"/>
          </p:cNvPicPr>
          <p:nvPr/>
        </p:nvPicPr>
        <p:blipFill>
          <a:blip r:embed="rId6"/>
          <a:stretch>
            <a:fillRect/>
          </a:stretch>
        </p:blipFill>
        <p:spPr>
          <a:xfrm>
            <a:off x="3760470" y="4217670"/>
            <a:ext cx="297180" cy="297180"/>
          </a:xfrm>
          <a:prstGeom prst="rect">
            <a:avLst/>
          </a:prstGeom>
        </p:spPr>
      </p:pic>
      <p:sp>
        <p:nvSpPr>
          <p:cNvPr id="36" name="Text 28"/>
          <p:cNvSpPr txBox="1"/>
          <p:nvPr/>
        </p:nvSpPr>
        <p:spPr>
          <a:xfrm>
            <a:off x="521208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06</a:t>
            </a:r>
            <a:endParaRPr lang="en-US" sz="1800" dirty="0"/>
          </a:p>
        </p:txBody>
      </p:sp>
      <p:sp>
        <p:nvSpPr>
          <p:cNvPr id="37" name="Text 29"/>
          <p:cNvSpPr txBox="1"/>
          <p:nvPr/>
        </p:nvSpPr>
        <p:spPr>
          <a:xfrm>
            <a:off x="361188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Flaky test detection</a:t>
            </a:r>
            <a:endParaRPr lang="en-US" sz="1600" dirty="0"/>
          </a:p>
        </p:txBody>
      </p:sp>
      <p:sp>
        <p:nvSpPr>
          <p:cNvPr id="38" name="Text 30"/>
          <p:cNvSpPr txBox="1"/>
          <p:nvPr/>
        </p:nvSpPr>
        <p:spPr>
          <a:xfrm>
            <a:off x="361188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Tests that pass and fail across multiple runs</a:t>
            </a:r>
            <a:endParaRPr lang="en-US" sz="1400" dirty="0"/>
          </a:p>
        </p:txBody>
      </p:sp>
      <p:sp>
        <p:nvSpPr>
          <p:cNvPr id="39" name="objective 7"/>
          <p:cNvSpPr/>
          <p:nvPr/>
        </p:nvSpPr>
        <p:spPr>
          <a:xfrm>
            <a:off x="6217920" y="3840480"/>
            <a:ext cx="2606040" cy="2240280"/>
          </a:xfrm>
          <a:prstGeom prst="roundRect">
            <a:avLst>
              <a:gd name="adj" fmla="val 4898"/>
            </a:avLst>
          </a:prstGeom>
          <a:solidFill>
            <a:schemeClr val="bg2"/>
          </a:solidFill>
          <a:ln/>
        </p:spPr>
      </p:sp>
      <p:sp>
        <p:nvSpPr>
          <p:cNvPr id="40" name="icon circle"/>
          <p:cNvSpPr/>
          <p:nvPr/>
        </p:nvSpPr>
        <p:spPr>
          <a:xfrm>
            <a:off x="6446520" y="4069080"/>
            <a:ext cx="594360" cy="594360"/>
          </a:xfrm>
          <a:prstGeom prst="ellipse">
            <a:avLst/>
          </a:prstGeom>
          <a:solidFill>
            <a:srgbClr val="10243F"/>
          </a:solidFill>
          <a:ln/>
        </p:spPr>
      </p:sp>
      <p:pic>
        <p:nvPicPr>
          <p:cNvPr id="41" name="FaEnvelope icon" descr="preencoded.png">    </p:cNvPr>
          <p:cNvPicPr>
            <a:picLocks noChangeAspect="1"/>
          </p:cNvPicPr>
          <p:nvPr/>
        </p:nvPicPr>
        <p:blipFill>
          <a:blip r:embed="rId7"/>
          <a:stretch>
            <a:fillRect/>
          </a:stretch>
        </p:blipFill>
        <p:spPr>
          <a:xfrm>
            <a:off x="6595110" y="4217670"/>
            <a:ext cx="297180" cy="297180"/>
          </a:xfrm>
          <a:prstGeom prst="rect">
            <a:avLst/>
          </a:prstGeom>
        </p:spPr>
      </p:pic>
      <p:sp>
        <p:nvSpPr>
          <p:cNvPr id="42" name="Text 33"/>
          <p:cNvSpPr txBox="1"/>
          <p:nvPr/>
        </p:nvSpPr>
        <p:spPr>
          <a:xfrm>
            <a:off x="804672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07</a:t>
            </a:r>
            <a:endParaRPr lang="en-US" sz="1800" dirty="0"/>
          </a:p>
        </p:txBody>
      </p:sp>
      <p:sp>
        <p:nvSpPr>
          <p:cNvPr id="43" name="Text 34"/>
          <p:cNvSpPr txBox="1"/>
          <p:nvPr/>
        </p:nvSpPr>
        <p:spPr>
          <a:xfrm>
            <a:off x="644652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Critical email alerts</a:t>
            </a:r>
            <a:endParaRPr lang="en-US" sz="1600" dirty="0"/>
          </a:p>
        </p:txBody>
      </p:sp>
      <p:sp>
        <p:nvSpPr>
          <p:cNvPr id="44" name="Text 35"/>
          <p:cNvSpPr txBox="1"/>
          <p:nvPr/>
        </p:nvSpPr>
        <p:spPr>
          <a:xfrm>
            <a:off x="644652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Automatic notification for every Critical bug</a:t>
            </a:r>
            <a:endParaRPr lang="en-US" sz="1400" dirty="0"/>
          </a:p>
        </p:txBody>
      </p:sp>
      <p:sp>
        <p:nvSpPr>
          <p:cNvPr id="45" name="objective 8"/>
          <p:cNvSpPr/>
          <p:nvPr/>
        </p:nvSpPr>
        <p:spPr>
          <a:xfrm>
            <a:off x="9052560" y="3840480"/>
            <a:ext cx="2606040" cy="2240280"/>
          </a:xfrm>
          <a:prstGeom prst="roundRect">
            <a:avLst>
              <a:gd name="adj" fmla="val 4898"/>
            </a:avLst>
          </a:prstGeom>
          <a:solidFill>
            <a:schemeClr val="bg2"/>
          </a:solidFill>
          <a:ln/>
        </p:spPr>
      </p:sp>
      <p:sp>
        <p:nvSpPr>
          <p:cNvPr id="46" name="icon circle"/>
          <p:cNvSpPr/>
          <p:nvPr/>
        </p:nvSpPr>
        <p:spPr>
          <a:xfrm>
            <a:off x="9281160" y="4069080"/>
            <a:ext cx="594360" cy="594360"/>
          </a:xfrm>
          <a:prstGeom prst="ellipse">
            <a:avLst/>
          </a:prstGeom>
          <a:solidFill>
            <a:srgbClr val="10243F"/>
          </a:solidFill>
          <a:ln/>
        </p:spPr>
      </p:sp>
      <p:pic>
        <p:nvPicPr>
          <p:cNvPr id="47" name="FaProjectDiagram icon" descr="preencoded.png">    </p:cNvPr>
          <p:cNvPicPr>
            <a:picLocks noChangeAspect="1"/>
          </p:cNvPicPr>
          <p:nvPr/>
        </p:nvPicPr>
        <p:blipFill>
          <a:blip r:embed="rId8"/>
          <a:stretch>
            <a:fillRect/>
          </a:stretch>
        </p:blipFill>
        <p:spPr>
          <a:xfrm>
            <a:off x="9429750" y="4217670"/>
            <a:ext cx="297180" cy="297180"/>
          </a:xfrm>
          <a:prstGeom prst="rect">
            <a:avLst/>
          </a:prstGeom>
        </p:spPr>
      </p:pic>
      <p:sp>
        <p:nvSpPr>
          <p:cNvPr id="48" name="Text 38"/>
          <p:cNvSpPr txBox="1"/>
          <p:nvPr/>
        </p:nvSpPr>
        <p:spPr>
          <a:xfrm>
            <a:off x="1088136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08</a:t>
            </a:r>
            <a:endParaRPr lang="en-US" sz="1800" dirty="0"/>
          </a:p>
        </p:txBody>
      </p:sp>
      <p:sp>
        <p:nvSpPr>
          <p:cNvPr id="49" name="Text 39"/>
          <p:cNvSpPr txBox="1"/>
          <p:nvPr/>
        </p:nvSpPr>
        <p:spPr>
          <a:xfrm>
            <a:off x="928116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End-to-end pipeline</a:t>
            </a:r>
            <a:endParaRPr lang="en-US" sz="1600" dirty="0"/>
          </a:p>
        </p:txBody>
      </p:sp>
      <p:sp>
        <p:nvSpPr>
          <p:cNvPr id="50" name="Text 40"/>
          <p:cNvSpPr txBox="1"/>
          <p:nvPr/>
        </p:nvSpPr>
        <p:spPr>
          <a:xfrm>
            <a:off x="928116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 → detection → ML → storage → dashboard</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System architecture</a:t>
            </a:r>
            <a:endParaRPr lang="en-US" sz="3000" dirty="0"/>
          </a:p>
        </p:txBody>
      </p:sp>
      <p:sp>
        <p:nvSpPr>
          <p:cNvPr id="3" name="stage Playwright tests"/>
          <p:cNvSpPr/>
          <p:nvPr/>
        </p:nvSpPr>
        <p:spPr>
          <a:xfrm>
            <a:off x="54864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Playwright tests</a:t>
            </a:r>
            <a:endParaRPr lang="en-US" sz="1700" dirty="0"/>
          </a:p>
          <a:p>
            <a:pPr algn="ctr" indent="0" marL="0">
              <a:buNone/>
            </a:pPr>
            <a:r>
              <a:rPr lang="en-US" sz="1300" dirty="0">
                <a:solidFill>
                  <a:srgbClr val="CADCFC"/>
                </a:solidFill>
              </a:rPr>
              <a:t>17 tests · 6 modules</a:t>
            </a:r>
            <a:endParaRPr lang="en-US" sz="1700" dirty="0"/>
          </a:p>
        </p:txBody>
      </p:sp>
      <p:sp>
        <p:nvSpPr>
          <p:cNvPr id="4" name="arrow"/>
          <p:cNvSpPr/>
          <p:nvPr/>
        </p:nvSpPr>
        <p:spPr>
          <a:xfrm>
            <a:off x="2514600" y="2308860"/>
            <a:ext cx="320040" cy="0"/>
          </a:xfrm>
          <a:prstGeom prst="line">
            <a:avLst/>
          </a:prstGeom>
          <a:noFill/>
          <a:ln w="25400">
            <a:solidFill>
              <a:srgbClr val="10243F"/>
            </a:solidFill>
            <a:prstDash val="solid"/>
            <a:tailEnd type="triangle"/>
          </a:ln>
        </p:spPr>
      </p:sp>
      <p:sp>
        <p:nvSpPr>
          <p:cNvPr id="5" name="stage Custom reporter"/>
          <p:cNvSpPr/>
          <p:nvPr/>
        </p:nvSpPr>
        <p:spPr>
          <a:xfrm>
            <a:off x="288036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Custom reporter</a:t>
            </a:r>
            <a:endParaRPr lang="en-US" sz="1700" dirty="0"/>
          </a:p>
          <a:p>
            <a:pPr algn="ctr" indent="0" marL="0">
              <a:buNone/>
            </a:pPr>
            <a:r>
              <a:rPr lang="en-US" sz="1300" dirty="0">
                <a:solidFill>
                  <a:srgbClr val="CADCFC"/>
                </a:solidFill>
              </a:rPr>
              <a:t>captures each failure</a:t>
            </a:r>
            <a:endParaRPr lang="en-US" sz="1700" dirty="0"/>
          </a:p>
        </p:txBody>
      </p:sp>
      <p:sp>
        <p:nvSpPr>
          <p:cNvPr id="6" name="arrow"/>
          <p:cNvSpPr/>
          <p:nvPr/>
        </p:nvSpPr>
        <p:spPr>
          <a:xfrm>
            <a:off x="4846320" y="2308860"/>
            <a:ext cx="320040" cy="0"/>
          </a:xfrm>
          <a:prstGeom prst="line">
            <a:avLst/>
          </a:prstGeom>
          <a:noFill/>
          <a:ln w="25400">
            <a:solidFill>
              <a:srgbClr val="10243F"/>
            </a:solidFill>
            <a:prstDash val="solid"/>
            <a:tailEnd type="triangle"/>
          </a:ln>
        </p:spPr>
      </p:sp>
      <p:sp>
        <p:nvSpPr>
          <p:cNvPr id="7" name="stage ML classifier"/>
          <p:cNvSpPr/>
          <p:nvPr/>
        </p:nvSpPr>
        <p:spPr>
          <a:xfrm>
            <a:off x="5212080" y="1645920"/>
            <a:ext cx="1920240" cy="1325880"/>
          </a:xfrm>
          <a:prstGeom prst="roundRect">
            <a:avLst>
              <a:gd name="adj" fmla="val 8276"/>
            </a:avLst>
          </a:prstGeom>
          <a:solidFill>
            <a:srgbClr val="D03B3B"/>
          </a:solidFill>
          <a:ln/>
        </p:spPr>
        <p:txBody>
          <a:bodyPr wrap="square" lIns="76200" tIns="76200" rIns="76200" bIns="76200" rtlCol="0" anchor="ctr"/>
          <a:lstStyle/>
          <a:p>
            <a:pPr algn="ctr" indent="0" marL="0">
              <a:buNone/>
            </a:pPr>
            <a:r>
              <a:rPr lang="en-US" sz="1700" b="1" dirty="0">
                <a:solidFill>
                  <a:schemeClr val="bg1"/>
                </a:solidFill>
              </a:rPr>
              <a:t>ML classifier</a:t>
            </a:r>
            <a:endParaRPr lang="en-US" sz="1700" dirty="0"/>
          </a:p>
          <a:p>
            <a:pPr algn="ctr" indent="0" marL="0">
              <a:buNone/>
            </a:pPr>
            <a:r>
              <a:rPr lang="en-US" sz="1300" dirty="0">
                <a:solidFill>
                  <a:srgbClr val="CADCFC"/>
                </a:solidFill>
              </a:rPr>
              <a:t>Naive Bayes severity</a:t>
            </a:r>
            <a:endParaRPr lang="en-US" sz="1700" dirty="0"/>
          </a:p>
        </p:txBody>
      </p:sp>
      <p:sp>
        <p:nvSpPr>
          <p:cNvPr id="8" name="arrow"/>
          <p:cNvSpPr/>
          <p:nvPr/>
        </p:nvSpPr>
        <p:spPr>
          <a:xfrm>
            <a:off x="7178040" y="2308860"/>
            <a:ext cx="320040" cy="0"/>
          </a:xfrm>
          <a:prstGeom prst="line">
            <a:avLst/>
          </a:prstGeom>
          <a:noFill/>
          <a:ln w="25400">
            <a:solidFill>
              <a:srgbClr val="10243F"/>
            </a:solidFill>
            <a:prstDash val="solid"/>
            <a:tailEnd type="triangle"/>
          </a:ln>
        </p:spPr>
      </p:sp>
      <p:sp>
        <p:nvSpPr>
          <p:cNvPr id="9" name="stage SQLite database"/>
          <p:cNvSpPr/>
          <p:nvPr/>
        </p:nvSpPr>
        <p:spPr>
          <a:xfrm>
            <a:off x="754380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SQLite database</a:t>
            </a:r>
            <a:endParaRPr lang="en-US" sz="1700" dirty="0"/>
          </a:p>
          <a:p>
            <a:pPr algn="ctr" indent="0" marL="0">
              <a:buNone/>
            </a:pPr>
            <a:r>
              <a:rPr lang="en-US" sz="1300" dirty="0">
                <a:solidFill>
                  <a:srgbClr val="CADCFC"/>
                </a:solidFill>
              </a:rPr>
              <a:t>runs · results · bugs</a:t>
            </a:r>
            <a:endParaRPr lang="en-US" sz="1700" dirty="0"/>
          </a:p>
        </p:txBody>
      </p:sp>
      <p:sp>
        <p:nvSpPr>
          <p:cNvPr id="10" name="arrow"/>
          <p:cNvSpPr/>
          <p:nvPr/>
        </p:nvSpPr>
        <p:spPr>
          <a:xfrm>
            <a:off x="9509760" y="2308860"/>
            <a:ext cx="320040" cy="0"/>
          </a:xfrm>
          <a:prstGeom prst="line">
            <a:avLst/>
          </a:prstGeom>
          <a:noFill/>
          <a:ln w="25400">
            <a:solidFill>
              <a:srgbClr val="10243F"/>
            </a:solidFill>
            <a:prstDash val="solid"/>
            <a:tailEnd type="triangle"/>
          </a:ln>
        </p:spPr>
      </p:sp>
      <p:sp>
        <p:nvSpPr>
          <p:cNvPr id="11" name="stage Web dashboard"/>
          <p:cNvSpPr/>
          <p:nvPr/>
        </p:nvSpPr>
        <p:spPr>
          <a:xfrm>
            <a:off x="987552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Web dashboard</a:t>
            </a:r>
            <a:endParaRPr lang="en-US" sz="1700" dirty="0"/>
          </a:p>
          <a:p>
            <a:pPr algn="ctr" indent="0" marL="0">
              <a:buNone/>
            </a:pPr>
            <a:r>
              <a:rPr lang="en-US" sz="1300" dirty="0">
                <a:solidFill>
                  <a:srgbClr val="CADCFC"/>
                </a:solidFill>
              </a:rPr>
              <a:t>Express + Chart.js</a:t>
            </a:r>
            <a:endParaRPr lang="en-US" sz="1700" dirty="0"/>
          </a:p>
        </p:txBody>
      </p:sp>
      <p:sp>
        <p:nvSpPr>
          <p:cNvPr id="12" name="arrow"/>
          <p:cNvSpPr/>
          <p:nvPr/>
        </p:nvSpPr>
        <p:spPr>
          <a:xfrm>
            <a:off x="6172200" y="3017520"/>
            <a:ext cx="0" cy="685800"/>
          </a:xfrm>
          <a:prstGeom prst="line">
            <a:avLst/>
          </a:prstGeom>
          <a:noFill/>
          <a:ln w="25400">
            <a:solidFill>
              <a:srgbClr val="5B6472"/>
            </a:solidFill>
            <a:prstDash val="solid"/>
            <a:tailEnd type="triangle"/>
          </a:ln>
        </p:spPr>
      </p:sp>
      <p:sp>
        <p:nvSpPr>
          <p:cNvPr id="13" name="branch Email alert"/>
          <p:cNvSpPr/>
          <p:nvPr/>
        </p:nvSpPr>
        <p:spPr>
          <a:xfrm>
            <a:off x="5212080" y="3749040"/>
            <a:ext cx="1920240" cy="1417320"/>
          </a:xfrm>
          <a:prstGeom prst="roundRect">
            <a:avLst>
              <a:gd name="adj" fmla="val 7742"/>
            </a:avLst>
          </a:prstGeom>
          <a:solidFill>
            <a:schemeClr val="bg2"/>
          </a:solidFill>
          <a:ln/>
        </p:spPr>
      </p:sp>
      <p:sp>
        <p:nvSpPr>
          <p:cNvPr id="14" name="icon circle"/>
          <p:cNvSpPr/>
          <p:nvPr/>
        </p:nvSpPr>
        <p:spPr>
          <a:xfrm>
            <a:off x="5925312" y="3886200"/>
            <a:ext cx="493776" cy="493776"/>
          </a:xfrm>
          <a:prstGeom prst="ellipse">
            <a:avLst/>
          </a:prstGeom>
          <a:solidFill>
            <a:srgbClr val="D03B3B"/>
          </a:solidFill>
          <a:ln/>
        </p:spPr>
      </p:sp>
      <p:pic>
        <p:nvPicPr>
          <p:cNvPr id="15" name="FaEnvelope icon" descr="preencoded.png">    </p:cNvPr>
          <p:cNvPicPr>
            <a:picLocks noChangeAspect="1"/>
          </p:cNvPicPr>
          <p:nvPr/>
        </p:nvPicPr>
        <p:blipFill>
          <a:blip r:embed="rId1"/>
          <a:stretch>
            <a:fillRect/>
          </a:stretch>
        </p:blipFill>
        <p:spPr>
          <a:xfrm>
            <a:off x="6048756" y="4009644"/>
            <a:ext cx="246888" cy="246888"/>
          </a:xfrm>
          <a:prstGeom prst="rect">
            <a:avLst/>
          </a:prstGeom>
        </p:spPr>
      </p:pic>
      <p:sp>
        <p:nvSpPr>
          <p:cNvPr id="16" name="Text 13"/>
          <p:cNvSpPr txBox="1"/>
          <p:nvPr/>
        </p:nvSpPr>
        <p:spPr>
          <a:xfrm>
            <a:off x="530352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Email alert</a:t>
            </a:r>
            <a:endParaRPr lang="en-US" sz="1500" dirty="0"/>
          </a:p>
        </p:txBody>
      </p:sp>
      <p:sp>
        <p:nvSpPr>
          <p:cNvPr id="17" name="Text 14"/>
          <p:cNvSpPr txBox="1"/>
          <p:nvPr/>
        </p:nvSpPr>
        <p:spPr>
          <a:xfrm>
            <a:off x="530352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when severity is Critical</a:t>
            </a:r>
            <a:endParaRPr lang="en-US" sz="1200" dirty="0"/>
          </a:p>
        </p:txBody>
      </p:sp>
      <p:sp>
        <p:nvSpPr>
          <p:cNvPr id="18" name="arrow"/>
          <p:cNvSpPr/>
          <p:nvPr/>
        </p:nvSpPr>
        <p:spPr>
          <a:xfrm>
            <a:off x="8503920" y="3017520"/>
            <a:ext cx="0" cy="685800"/>
          </a:xfrm>
          <a:prstGeom prst="line">
            <a:avLst/>
          </a:prstGeom>
          <a:noFill/>
          <a:ln w="25400">
            <a:solidFill>
              <a:srgbClr val="5B6472"/>
            </a:solidFill>
            <a:prstDash val="solid"/>
            <a:tailEnd type="triangle"/>
          </a:ln>
        </p:spPr>
      </p:sp>
      <p:sp>
        <p:nvSpPr>
          <p:cNvPr id="19" name="branch Flaky detector"/>
          <p:cNvSpPr/>
          <p:nvPr/>
        </p:nvSpPr>
        <p:spPr>
          <a:xfrm>
            <a:off x="7543800" y="3749040"/>
            <a:ext cx="1920240" cy="1417320"/>
          </a:xfrm>
          <a:prstGeom prst="roundRect">
            <a:avLst>
              <a:gd name="adj" fmla="val 7742"/>
            </a:avLst>
          </a:prstGeom>
          <a:solidFill>
            <a:schemeClr val="bg2"/>
          </a:solidFill>
          <a:ln/>
        </p:spPr>
      </p:sp>
      <p:sp>
        <p:nvSpPr>
          <p:cNvPr id="20" name="icon circle"/>
          <p:cNvSpPr/>
          <p:nvPr/>
        </p:nvSpPr>
        <p:spPr>
          <a:xfrm>
            <a:off x="8257032" y="3886200"/>
            <a:ext cx="493776" cy="493776"/>
          </a:xfrm>
          <a:prstGeom prst="ellipse">
            <a:avLst/>
          </a:prstGeom>
          <a:solidFill>
            <a:srgbClr val="2A78D6"/>
          </a:solidFill>
          <a:ln/>
        </p:spPr>
      </p:sp>
      <p:pic>
        <p:nvPicPr>
          <p:cNvPr id="21" name="FaRandom icon" descr="preencoded.png">    </p:cNvPr>
          <p:cNvPicPr>
            <a:picLocks noChangeAspect="1"/>
          </p:cNvPicPr>
          <p:nvPr/>
        </p:nvPicPr>
        <p:blipFill>
          <a:blip r:embed="rId2"/>
          <a:stretch>
            <a:fillRect/>
          </a:stretch>
        </p:blipFill>
        <p:spPr>
          <a:xfrm>
            <a:off x="8380476" y="4009644"/>
            <a:ext cx="246888" cy="246888"/>
          </a:xfrm>
          <a:prstGeom prst="rect">
            <a:avLst/>
          </a:prstGeom>
        </p:spPr>
      </p:pic>
      <p:sp>
        <p:nvSpPr>
          <p:cNvPr id="22" name="Text 18"/>
          <p:cNvSpPr txBox="1"/>
          <p:nvPr/>
        </p:nvSpPr>
        <p:spPr>
          <a:xfrm>
            <a:off x="763524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Flaky detector</a:t>
            </a:r>
            <a:endParaRPr lang="en-US" sz="1500" dirty="0"/>
          </a:p>
        </p:txBody>
      </p:sp>
      <p:sp>
        <p:nvSpPr>
          <p:cNvPr id="23" name="Text 19"/>
          <p:cNvSpPr txBox="1"/>
          <p:nvPr/>
        </p:nvSpPr>
        <p:spPr>
          <a:xfrm>
            <a:off x="763524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pass/fail history of all runs</a:t>
            </a:r>
            <a:endParaRPr lang="en-US" sz="1200" dirty="0"/>
          </a:p>
        </p:txBody>
      </p:sp>
      <p:sp>
        <p:nvSpPr>
          <p:cNvPr id="24" name="arrow"/>
          <p:cNvSpPr/>
          <p:nvPr/>
        </p:nvSpPr>
        <p:spPr>
          <a:xfrm>
            <a:off x="10835640" y="3017520"/>
            <a:ext cx="0" cy="685800"/>
          </a:xfrm>
          <a:prstGeom prst="line">
            <a:avLst/>
          </a:prstGeom>
          <a:noFill/>
          <a:ln w="25400">
            <a:solidFill>
              <a:srgbClr val="5B6472"/>
            </a:solidFill>
            <a:prstDash val="solid"/>
            <a:tailEnd type="triangle"/>
          </a:ln>
        </p:spPr>
      </p:sp>
      <p:sp>
        <p:nvSpPr>
          <p:cNvPr id="25" name="branch HTML report"/>
          <p:cNvSpPr/>
          <p:nvPr/>
        </p:nvSpPr>
        <p:spPr>
          <a:xfrm>
            <a:off x="9875520" y="3749040"/>
            <a:ext cx="1920240" cy="1417320"/>
          </a:xfrm>
          <a:prstGeom prst="roundRect">
            <a:avLst>
              <a:gd name="adj" fmla="val 7742"/>
            </a:avLst>
          </a:prstGeom>
          <a:solidFill>
            <a:schemeClr val="bg2"/>
          </a:solidFill>
          <a:ln/>
        </p:spPr>
      </p:sp>
      <p:sp>
        <p:nvSpPr>
          <p:cNvPr id="26" name="icon circle"/>
          <p:cNvSpPr/>
          <p:nvPr/>
        </p:nvSpPr>
        <p:spPr>
          <a:xfrm>
            <a:off x="10588752" y="3886200"/>
            <a:ext cx="493776" cy="493776"/>
          </a:xfrm>
          <a:prstGeom prst="ellipse">
            <a:avLst/>
          </a:prstGeom>
          <a:solidFill>
            <a:srgbClr val="2A78D6"/>
          </a:solidFill>
          <a:ln/>
        </p:spPr>
      </p:sp>
      <p:pic>
        <p:nvPicPr>
          <p:cNvPr id="27" name="FaFileAlt icon" descr="preencoded.png">    </p:cNvPr>
          <p:cNvPicPr>
            <a:picLocks noChangeAspect="1"/>
          </p:cNvPicPr>
          <p:nvPr/>
        </p:nvPicPr>
        <p:blipFill>
          <a:blip r:embed="rId3"/>
          <a:stretch>
            <a:fillRect/>
          </a:stretch>
        </p:blipFill>
        <p:spPr>
          <a:xfrm>
            <a:off x="10712196" y="4009644"/>
            <a:ext cx="246888" cy="246888"/>
          </a:xfrm>
          <a:prstGeom prst="rect">
            <a:avLst/>
          </a:prstGeom>
        </p:spPr>
      </p:pic>
      <p:sp>
        <p:nvSpPr>
          <p:cNvPr id="28" name="Text 23"/>
          <p:cNvSpPr txBox="1"/>
          <p:nvPr/>
        </p:nvSpPr>
        <p:spPr>
          <a:xfrm>
            <a:off x="996696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HTML report</a:t>
            </a:r>
            <a:endParaRPr lang="en-US" sz="1500" dirty="0"/>
          </a:p>
        </p:txBody>
      </p:sp>
      <p:sp>
        <p:nvSpPr>
          <p:cNvPr id="29" name="Text 24"/>
          <p:cNvSpPr txBox="1"/>
          <p:nvPr/>
        </p:nvSpPr>
        <p:spPr>
          <a:xfrm>
            <a:off x="996696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shareable results report</a:t>
            </a:r>
            <a:endParaRPr lang="en-US" sz="1200" dirty="0"/>
          </a:p>
        </p:txBody>
      </p:sp>
      <p:sp>
        <p:nvSpPr>
          <p:cNvPr id="30" name="Text 25"/>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600" i="1" dirty="0">
                <a:solidFill>
                  <a:schemeClr val="tx2"/>
                </a:solidFill>
              </a:rPr>
              <a:t>Every failure follows the same automated path: there is no manual step between a failing test and a classified, stored, visible bug.</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Technology stack</a:t>
            </a:r>
            <a:endParaRPr lang="en-US" sz="3000" dirty="0"/>
          </a:p>
        </p:txBody>
      </p:sp>
      <p:sp>
        <p:nvSpPr>
          <p:cNvPr id="3" name="icon circle"/>
          <p:cNvSpPr/>
          <p:nvPr/>
        </p:nvSpPr>
        <p:spPr>
          <a:xfrm>
            <a:off x="548640" y="1417320"/>
            <a:ext cx="731520" cy="731520"/>
          </a:xfrm>
          <a:prstGeom prst="ellipse">
            <a:avLst/>
          </a:prstGeom>
          <a:solidFill>
            <a:srgbClr val="D03B3B"/>
          </a:solidFill>
          <a:ln/>
        </p:spPr>
      </p:sp>
      <p:pic>
        <p:nvPicPr>
          <p:cNvPr id="4" name="FaTheaterMasks icon" descr="preencoded.png">    </p:cNvPr>
          <p:cNvPicPr>
            <a:picLocks noChangeAspect="1"/>
          </p:cNvPicPr>
          <p:nvPr/>
        </p:nvPicPr>
        <p:blipFill>
          <a:blip r:embed="rId1"/>
          <a:stretch>
            <a:fillRect/>
          </a:stretch>
        </p:blipFill>
        <p:spPr>
          <a:xfrm>
            <a:off x="731520" y="1600200"/>
            <a:ext cx="365760" cy="365760"/>
          </a:xfrm>
          <a:prstGeom prst="rect">
            <a:avLst/>
          </a:prstGeom>
        </p:spPr>
      </p:pic>
      <p:sp>
        <p:nvSpPr>
          <p:cNvPr id="5" name="Text 2"/>
          <p:cNvSpPr txBox="1"/>
          <p:nvPr/>
        </p:nvSpPr>
        <p:spPr>
          <a:xfrm>
            <a:off x="150876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Playwright 1.64.1</a:t>
            </a:r>
            <a:endParaRPr lang="en-US" sz="1900" dirty="0"/>
          </a:p>
        </p:txBody>
      </p:sp>
      <p:sp>
        <p:nvSpPr>
          <p:cNvPr id="6" name="Text 3"/>
          <p:cNvSpPr txBox="1"/>
          <p:nvPr/>
        </p:nvSpPr>
        <p:spPr>
          <a:xfrm>
            <a:off x="150876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Browser test automation (latest version)</a:t>
            </a:r>
            <a:endParaRPr lang="en-US" sz="1500" dirty="0"/>
          </a:p>
        </p:txBody>
      </p:sp>
      <p:sp>
        <p:nvSpPr>
          <p:cNvPr id="7" name="icon circle"/>
          <p:cNvSpPr/>
          <p:nvPr/>
        </p:nvSpPr>
        <p:spPr>
          <a:xfrm>
            <a:off x="548640" y="2606040"/>
            <a:ext cx="731520" cy="731520"/>
          </a:xfrm>
          <a:prstGeom prst="ellipse">
            <a:avLst/>
          </a:prstGeom>
          <a:solidFill>
            <a:srgbClr val="2A78D6"/>
          </a:solidFill>
          <a:ln/>
        </p:spPr>
      </p:sp>
      <p:pic>
        <p:nvPicPr>
          <p:cNvPr id="8" name="FaCode icon" descr="preencoded.png">    </p:cNvPr>
          <p:cNvPicPr>
            <a:picLocks noChangeAspect="1"/>
          </p:cNvPicPr>
          <p:nvPr/>
        </p:nvPicPr>
        <p:blipFill>
          <a:blip r:embed="rId2"/>
          <a:stretch>
            <a:fillRect/>
          </a:stretch>
        </p:blipFill>
        <p:spPr>
          <a:xfrm>
            <a:off x="731520" y="2788920"/>
            <a:ext cx="365760" cy="365760"/>
          </a:xfrm>
          <a:prstGeom prst="rect">
            <a:avLst/>
          </a:prstGeom>
        </p:spPr>
      </p:pic>
      <p:sp>
        <p:nvSpPr>
          <p:cNvPr id="9" name="Text 5"/>
          <p:cNvSpPr txBox="1"/>
          <p:nvPr/>
        </p:nvSpPr>
        <p:spPr>
          <a:xfrm>
            <a:off x="150876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TypeScript + Node.js 22</a:t>
            </a:r>
            <a:endParaRPr lang="en-US" sz="1900" dirty="0"/>
          </a:p>
        </p:txBody>
      </p:sp>
      <p:sp>
        <p:nvSpPr>
          <p:cNvPr id="10" name="Text 6"/>
          <p:cNvSpPr txBox="1"/>
          <p:nvPr/>
        </p:nvSpPr>
        <p:spPr>
          <a:xfrm>
            <a:off x="150876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One language for every component</a:t>
            </a:r>
            <a:endParaRPr lang="en-US" sz="1500" dirty="0"/>
          </a:p>
        </p:txBody>
      </p:sp>
      <p:sp>
        <p:nvSpPr>
          <p:cNvPr id="11" name="icon circle"/>
          <p:cNvSpPr/>
          <p:nvPr/>
        </p:nvSpPr>
        <p:spPr>
          <a:xfrm>
            <a:off x="548640" y="3794760"/>
            <a:ext cx="731520" cy="731520"/>
          </a:xfrm>
          <a:prstGeom prst="ellipse">
            <a:avLst/>
          </a:prstGeom>
          <a:solidFill>
            <a:srgbClr val="6250D6"/>
          </a:solidFill>
          <a:ln/>
        </p:spPr>
      </p:sp>
      <p:pic>
        <p:nvPicPr>
          <p:cNvPr id="12" name="FaBrain icon" descr="preencoded.png">    </p:cNvPr>
          <p:cNvPicPr>
            <a:picLocks noChangeAspect="1"/>
          </p:cNvPicPr>
          <p:nvPr/>
        </p:nvPicPr>
        <p:blipFill>
          <a:blip r:embed="rId3"/>
          <a:stretch>
            <a:fillRect/>
          </a:stretch>
        </p:blipFill>
        <p:spPr>
          <a:xfrm>
            <a:off x="731520" y="3977640"/>
            <a:ext cx="365760" cy="365760"/>
          </a:xfrm>
          <a:prstGeom prst="rect">
            <a:avLst/>
          </a:prstGeom>
        </p:spPr>
      </p:pic>
      <p:sp>
        <p:nvSpPr>
          <p:cNvPr id="13" name="Text 8"/>
          <p:cNvSpPr txBox="1"/>
          <p:nvPr/>
        </p:nvSpPr>
        <p:spPr>
          <a:xfrm>
            <a:off x="150876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Naive Bayes (from scratch)</a:t>
            </a:r>
            <a:endParaRPr lang="en-US" sz="1900" dirty="0"/>
          </a:p>
        </p:txBody>
      </p:sp>
      <p:sp>
        <p:nvSpPr>
          <p:cNvPr id="14" name="Text 9"/>
          <p:cNvSpPr txBox="1"/>
          <p:nvPr/>
        </p:nvSpPr>
        <p:spPr>
          <a:xfrm>
            <a:off x="150876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Severity classification, no black box</a:t>
            </a:r>
            <a:endParaRPr lang="en-US" sz="1500" dirty="0"/>
          </a:p>
        </p:txBody>
      </p:sp>
      <p:sp>
        <p:nvSpPr>
          <p:cNvPr id="15" name="icon circle"/>
          <p:cNvSpPr/>
          <p:nvPr/>
        </p:nvSpPr>
        <p:spPr>
          <a:xfrm>
            <a:off x="548640" y="4983480"/>
            <a:ext cx="731520" cy="731520"/>
          </a:xfrm>
          <a:prstGeom prst="ellipse">
            <a:avLst/>
          </a:prstGeom>
          <a:solidFill>
            <a:srgbClr val="10243F"/>
          </a:solidFill>
          <a:ln/>
        </p:spPr>
      </p:sp>
      <p:pic>
        <p:nvPicPr>
          <p:cNvPr id="16" name="FaDatabase icon" descr="preencoded.png">    </p:cNvPr>
          <p:cNvPicPr>
            <a:picLocks noChangeAspect="1"/>
          </p:cNvPicPr>
          <p:nvPr/>
        </p:nvPicPr>
        <p:blipFill>
          <a:blip r:embed="rId4"/>
          <a:stretch>
            <a:fillRect/>
          </a:stretch>
        </p:blipFill>
        <p:spPr>
          <a:xfrm>
            <a:off x="731520" y="5166360"/>
            <a:ext cx="365760" cy="365760"/>
          </a:xfrm>
          <a:prstGeom prst="rect">
            <a:avLst/>
          </a:prstGeom>
        </p:spPr>
      </p:pic>
      <p:sp>
        <p:nvSpPr>
          <p:cNvPr id="17" name="Text 11"/>
          <p:cNvSpPr txBox="1"/>
          <p:nvPr/>
        </p:nvSpPr>
        <p:spPr>
          <a:xfrm>
            <a:off x="150876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SQLite (better-sqlite3)</a:t>
            </a:r>
            <a:endParaRPr lang="en-US" sz="1900" dirty="0"/>
          </a:p>
        </p:txBody>
      </p:sp>
      <p:sp>
        <p:nvSpPr>
          <p:cNvPr id="18" name="Text 12"/>
          <p:cNvSpPr txBox="1"/>
          <p:nvPr/>
        </p:nvSpPr>
        <p:spPr>
          <a:xfrm>
            <a:off x="150876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Serverless, single-file defect store</a:t>
            </a:r>
            <a:endParaRPr lang="en-US" sz="1500" dirty="0"/>
          </a:p>
        </p:txBody>
      </p:sp>
      <p:sp>
        <p:nvSpPr>
          <p:cNvPr id="19" name="icon circle"/>
          <p:cNvSpPr/>
          <p:nvPr/>
        </p:nvSpPr>
        <p:spPr>
          <a:xfrm>
            <a:off x="6217920" y="1417320"/>
            <a:ext cx="731520" cy="731520"/>
          </a:xfrm>
          <a:prstGeom prst="ellipse">
            <a:avLst/>
          </a:prstGeom>
          <a:solidFill>
            <a:srgbClr val="1B8E4E"/>
          </a:solidFill>
          <a:ln/>
        </p:spPr>
      </p:sp>
      <p:pic>
        <p:nvPicPr>
          <p:cNvPr id="20" name="FaServer icon" descr="preencoded.png">    </p:cNvPr>
          <p:cNvPicPr>
            <a:picLocks noChangeAspect="1"/>
          </p:cNvPicPr>
          <p:nvPr/>
        </p:nvPicPr>
        <p:blipFill>
          <a:blip r:embed="rId5"/>
          <a:stretch>
            <a:fillRect/>
          </a:stretch>
        </p:blipFill>
        <p:spPr>
          <a:xfrm>
            <a:off x="6400800" y="1600200"/>
            <a:ext cx="365760" cy="365760"/>
          </a:xfrm>
          <a:prstGeom prst="rect">
            <a:avLst/>
          </a:prstGeom>
        </p:spPr>
      </p:pic>
      <p:sp>
        <p:nvSpPr>
          <p:cNvPr id="21" name="Text 14"/>
          <p:cNvSpPr txBox="1"/>
          <p:nvPr/>
        </p:nvSpPr>
        <p:spPr>
          <a:xfrm>
            <a:off x="717804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Express 5 + EJS</a:t>
            </a:r>
            <a:endParaRPr lang="en-US" sz="1900" dirty="0"/>
          </a:p>
        </p:txBody>
      </p:sp>
      <p:sp>
        <p:nvSpPr>
          <p:cNvPr id="22" name="Text 15"/>
          <p:cNvSpPr txBox="1"/>
          <p:nvPr/>
        </p:nvSpPr>
        <p:spPr>
          <a:xfrm>
            <a:off x="717804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Web dashboard and status updates</a:t>
            </a:r>
            <a:endParaRPr lang="en-US" sz="1500" dirty="0"/>
          </a:p>
        </p:txBody>
      </p:sp>
      <p:sp>
        <p:nvSpPr>
          <p:cNvPr id="23" name="icon circle"/>
          <p:cNvSpPr/>
          <p:nvPr/>
        </p:nvSpPr>
        <p:spPr>
          <a:xfrm>
            <a:off x="6217920" y="2606040"/>
            <a:ext cx="731520" cy="731520"/>
          </a:xfrm>
          <a:prstGeom prst="ellipse">
            <a:avLst/>
          </a:prstGeom>
          <a:solidFill>
            <a:srgbClr val="EC835A"/>
          </a:solidFill>
          <a:ln/>
        </p:spPr>
      </p:sp>
      <p:pic>
        <p:nvPicPr>
          <p:cNvPr id="24" name="FaChartBar icon" descr="preencoded.png">    </p:cNvPr>
          <p:cNvPicPr>
            <a:picLocks noChangeAspect="1"/>
          </p:cNvPicPr>
          <p:nvPr/>
        </p:nvPicPr>
        <p:blipFill>
          <a:blip r:embed="rId6"/>
          <a:stretch>
            <a:fillRect/>
          </a:stretch>
        </p:blipFill>
        <p:spPr>
          <a:xfrm>
            <a:off x="6400800" y="2788920"/>
            <a:ext cx="365760" cy="365760"/>
          </a:xfrm>
          <a:prstGeom prst="rect">
            <a:avLst/>
          </a:prstGeom>
        </p:spPr>
      </p:pic>
      <p:sp>
        <p:nvSpPr>
          <p:cNvPr id="25" name="Text 17"/>
          <p:cNvSpPr txBox="1"/>
          <p:nvPr/>
        </p:nvSpPr>
        <p:spPr>
          <a:xfrm>
            <a:off x="717804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HTML/CSS charts</a:t>
            </a:r>
            <a:endParaRPr lang="en-US" sz="1900" dirty="0"/>
          </a:p>
        </p:txBody>
      </p:sp>
      <p:sp>
        <p:nvSpPr>
          <p:cNvPr id="26" name="Text 18"/>
          <p:cNvSpPr txBox="1"/>
          <p:nvPr/>
        </p:nvSpPr>
        <p:spPr>
          <a:xfrm>
            <a:off x="717804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Light, no chart library needed</a:t>
            </a:r>
            <a:endParaRPr lang="en-US" sz="1500" dirty="0"/>
          </a:p>
        </p:txBody>
      </p:sp>
      <p:sp>
        <p:nvSpPr>
          <p:cNvPr id="27" name="icon circle"/>
          <p:cNvSpPr/>
          <p:nvPr/>
        </p:nvSpPr>
        <p:spPr>
          <a:xfrm>
            <a:off x="6217920" y="3794760"/>
            <a:ext cx="731520" cy="731520"/>
          </a:xfrm>
          <a:prstGeom prst="ellipse">
            <a:avLst/>
          </a:prstGeom>
          <a:solidFill>
            <a:srgbClr val="D03B3B"/>
          </a:solidFill>
          <a:ln/>
        </p:spPr>
      </p:sp>
      <p:pic>
        <p:nvPicPr>
          <p:cNvPr id="28" name="FaEnvelope icon" descr="preencoded.png">    </p:cNvPr>
          <p:cNvPicPr>
            <a:picLocks noChangeAspect="1"/>
          </p:cNvPicPr>
          <p:nvPr/>
        </p:nvPicPr>
        <p:blipFill>
          <a:blip r:embed="rId7"/>
          <a:stretch>
            <a:fillRect/>
          </a:stretch>
        </p:blipFill>
        <p:spPr>
          <a:xfrm>
            <a:off x="6400800" y="3977640"/>
            <a:ext cx="365760" cy="365760"/>
          </a:xfrm>
          <a:prstGeom prst="rect">
            <a:avLst/>
          </a:prstGeom>
        </p:spPr>
      </p:pic>
      <p:sp>
        <p:nvSpPr>
          <p:cNvPr id="29" name="Text 20"/>
          <p:cNvSpPr txBox="1"/>
          <p:nvPr/>
        </p:nvSpPr>
        <p:spPr>
          <a:xfrm>
            <a:off x="717804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Nodemailer</a:t>
            </a:r>
            <a:endParaRPr lang="en-US" sz="1900" dirty="0"/>
          </a:p>
        </p:txBody>
      </p:sp>
      <p:sp>
        <p:nvSpPr>
          <p:cNvPr id="30" name="Text 21"/>
          <p:cNvSpPr txBox="1"/>
          <p:nvPr/>
        </p:nvSpPr>
        <p:spPr>
          <a:xfrm>
            <a:off x="717804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SMTP email alerts for Critical bugs</a:t>
            </a:r>
            <a:endParaRPr lang="en-US" sz="1500" dirty="0"/>
          </a:p>
        </p:txBody>
      </p:sp>
      <p:sp>
        <p:nvSpPr>
          <p:cNvPr id="31" name="icon circle"/>
          <p:cNvSpPr/>
          <p:nvPr/>
        </p:nvSpPr>
        <p:spPr>
          <a:xfrm>
            <a:off x="6217920" y="4983480"/>
            <a:ext cx="731520" cy="731520"/>
          </a:xfrm>
          <a:prstGeom prst="ellipse">
            <a:avLst/>
          </a:prstGeom>
          <a:solidFill>
            <a:srgbClr val="5B6472"/>
          </a:solidFill>
          <a:ln/>
        </p:spPr>
      </p:sp>
      <p:pic>
        <p:nvPicPr>
          <p:cNvPr id="32" name="FaCogs icon" descr="preencoded.png">    </p:cNvPr>
          <p:cNvPicPr>
            <a:picLocks noChangeAspect="1"/>
          </p:cNvPicPr>
          <p:nvPr/>
        </p:nvPicPr>
        <p:blipFill>
          <a:blip r:embed="rId8"/>
          <a:stretch>
            <a:fillRect/>
          </a:stretch>
        </p:blipFill>
        <p:spPr>
          <a:xfrm>
            <a:off x="6400800" y="5166360"/>
            <a:ext cx="365760" cy="365760"/>
          </a:xfrm>
          <a:prstGeom prst="rect">
            <a:avLst/>
          </a:prstGeom>
        </p:spPr>
      </p:pic>
      <p:sp>
        <p:nvSpPr>
          <p:cNvPr id="33" name="Text 23"/>
          <p:cNvSpPr txBox="1"/>
          <p:nvPr/>
        </p:nvSpPr>
        <p:spPr>
          <a:xfrm>
            <a:off x="717804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dotenv</a:t>
            </a:r>
            <a:endParaRPr lang="en-US" sz="1900" dirty="0"/>
          </a:p>
        </p:txBody>
      </p:sp>
      <p:sp>
        <p:nvSpPr>
          <p:cNvPr id="34" name="Text 24"/>
          <p:cNvSpPr txBox="1"/>
          <p:nvPr/>
        </p:nvSpPr>
        <p:spPr>
          <a:xfrm>
            <a:off x="717804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Credentials and ports kept outside the code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Application under test: ShopEase</a:t>
            </a:r>
            <a:endParaRPr lang="en-US" sz="3000" dirty="0"/>
          </a:p>
        </p:txBody>
      </p:sp>
      <p:sp>
        <p:nvSpPr>
          <p:cNvPr id="3" name="ShopEase screenshot frame"/>
          <p:cNvSpPr/>
          <p:nvPr/>
        </p:nvSpPr>
        <p:spPr>
          <a:xfrm>
            <a:off x="548640" y="1417320"/>
            <a:ext cx="5394960" cy="3203258"/>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ShopEase screenshot" descr="preencoded.png">    </p:cNvPr>
          <p:cNvPicPr>
            <a:picLocks noChangeAspect="1"/>
          </p:cNvPicPr>
          <p:nvPr/>
        </p:nvPicPr>
        <p:blipFill>
          <a:blip r:embed="rId1"/>
          <a:stretch>
            <a:fillRect/>
          </a:stretch>
        </p:blipFill>
        <p:spPr>
          <a:xfrm>
            <a:off x="548640" y="1417320"/>
            <a:ext cx="5394960" cy="3203258"/>
          </a:xfrm>
          <a:prstGeom prst="rect">
            <a:avLst/>
          </a:prstGeom>
        </p:spPr>
      </p:pic>
      <p:sp>
        <p:nvSpPr>
          <p:cNvPr id="5" name="Text 2"/>
          <p:cNvSpPr txBox="1"/>
          <p:nvPr/>
        </p:nvSpPr>
        <p:spPr>
          <a:xfrm>
            <a:off x="548640" y="4803458"/>
            <a:ext cx="5394960" cy="548640"/>
          </a:xfrm>
          <a:prstGeom prst="rect">
            <a:avLst/>
          </a:prstGeom>
          <a:noFill/>
          <a:ln/>
        </p:spPr>
        <p:txBody>
          <a:bodyPr wrap="square" lIns="0" tIns="0" rIns="0" bIns="0" rtlCol="0" anchor="t"/>
          <a:lstStyle/>
          <a:p>
            <a:pPr indent="0" marL="0">
              <a:buNone/>
            </a:pPr>
            <a:r>
              <a:rPr lang="en-US" sz="1400" dirty="0">
                <a:solidFill>
                  <a:srgbClr val="5B6472"/>
                </a:solidFill>
              </a:rPr>
              <a:t>Demo web shop built for this project, with defects seeded on purpose in 6 modules</a:t>
            </a:r>
            <a:endParaRPr lang="en-US" sz="1400" dirty="0"/>
          </a:p>
        </p:txBody>
      </p:sp>
      <p:graphicFrame>
        <p:nvGraphicFramePr>
          <p:cNvPr id="8" name="seeded defects table"/>
          <p:cNvGraphicFramePr>
            <a:graphicFrameLocks noGrp="1"/>
          </p:cNvGraphicFramePr>
          <p:nvPr>
            <p:extLst>
              <p:ext uri="{D42A27DB-BD31-4B8C-83A1-F6EECF244321}">
                <p14:modId xmlns:p14="http://schemas.microsoft.com/office/powerpoint/2010/main" val="1579011935"/>
              </p:ext>
            </p:extLst>
          </p:nvPr>
        </p:nvGraphicFramePr>
        <p:xfrm>
          <a:off x="6309360" y="1417320"/>
          <a:ext cx="5330952" cy="914400"/>
        </p:xfrm>
        <a:graphic>
          <a:graphicData uri="http://schemas.openxmlformats.org/drawingml/2006/table">
            <a:tbl>
              <a:tblPr/>
              <a:tblGrid>
                <a:gridCol w="1143000"/>
                <a:gridCol w="2999232"/>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Seeded defect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Expected</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Apostrophe in username causes SQL error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 is case-sensitive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Heading typo "Avaliable Products"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Total drops the cents (parseInt)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Add-to-cart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Checkout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Payment gateway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Label typo "Adress", grey button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Order history JavaScript crash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 save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Help Center link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Terms page and spec PDF missing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1: automated bug capture</a:t>
            </a:r>
            <a:endParaRPr lang="en-US" sz="3000" dirty="0"/>
          </a:p>
        </p:txBody>
      </p:sp>
      <p:sp>
        <p:nvSpPr>
          <p:cNvPr id="3" name="hook onBegin()"/>
          <p:cNvSpPr/>
          <p:nvPr/>
        </p:nvSpPr>
        <p:spPr>
          <a:xfrm>
            <a:off x="548640" y="1463040"/>
            <a:ext cx="5120640" cy="1143000"/>
          </a:xfrm>
          <a:prstGeom prst="roundRect">
            <a:avLst>
              <a:gd name="adj" fmla="val 9600"/>
            </a:avLst>
          </a:prstGeom>
          <a:solidFill>
            <a:schemeClr val="bg2"/>
          </a:solidFill>
          <a:ln/>
        </p:spPr>
      </p:sp>
      <p:sp>
        <p:nvSpPr>
          <p:cNvPr id="4" name="Text 2"/>
          <p:cNvSpPr txBox="1"/>
          <p:nvPr/>
        </p:nvSpPr>
        <p:spPr>
          <a:xfrm>
            <a:off x="777240" y="162763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onBegin()</a:t>
            </a:r>
            <a:endParaRPr lang="en-US" sz="1700" dirty="0"/>
          </a:p>
        </p:txBody>
      </p:sp>
      <p:sp>
        <p:nvSpPr>
          <p:cNvPr id="5" name="Text 3"/>
          <p:cNvSpPr txBox="1"/>
          <p:nvPr/>
        </p:nvSpPr>
        <p:spPr>
          <a:xfrm>
            <a:off x="777240" y="2011680"/>
            <a:ext cx="4663440" cy="502920"/>
          </a:xfrm>
          <a:prstGeom prst="rect">
            <a:avLst/>
          </a:prstGeom>
          <a:noFill/>
          <a:ln/>
        </p:spPr>
        <p:txBody>
          <a:bodyPr wrap="square" lIns="0" tIns="0" rIns="0" bIns="0" rtlCol="0" anchor="t"/>
          <a:lstStyle/>
          <a:p>
            <a:pPr indent="0" marL="0">
              <a:buNone/>
            </a:pPr>
            <a:r>
              <a:rPr lang="en-US" sz="1400" dirty="0">
                <a:solidFill>
                  <a:schemeClr val="tx1"/>
                </a:solidFill>
              </a:rPr>
              <a:t>New row in test_runs for this execution</a:t>
            </a:r>
            <a:endParaRPr lang="en-US" sz="1400" dirty="0"/>
          </a:p>
        </p:txBody>
      </p:sp>
      <p:sp>
        <p:nvSpPr>
          <p:cNvPr id="6" name="arrow"/>
          <p:cNvSpPr/>
          <p:nvPr/>
        </p:nvSpPr>
        <p:spPr>
          <a:xfrm>
            <a:off x="3108960" y="2633472"/>
            <a:ext cx="0" cy="274320"/>
          </a:xfrm>
          <a:prstGeom prst="line">
            <a:avLst/>
          </a:prstGeom>
          <a:noFill/>
          <a:ln w="25400">
            <a:solidFill>
              <a:srgbClr val="5B6472"/>
            </a:solidFill>
            <a:prstDash val="solid"/>
            <a:tailEnd type="triangle"/>
          </a:ln>
        </p:spPr>
      </p:sp>
      <p:sp>
        <p:nvSpPr>
          <p:cNvPr id="7" name="hook onTestEnd(test, result)"/>
          <p:cNvSpPr/>
          <p:nvPr/>
        </p:nvSpPr>
        <p:spPr>
          <a:xfrm>
            <a:off x="548640" y="2926080"/>
            <a:ext cx="5120640" cy="1143000"/>
          </a:xfrm>
          <a:prstGeom prst="roundRect">
            <a:avLst>
              <a:gd name="adj" fmla="val 9600"/>
            </a:avLst>
          </a:prstGeom>
          <a:solidFill>
            <a:schemeClr val="bg2"/>
          </a:solidFill>
          <a:ln/>
        </p:spPr>
      </p:sp>
      <p:sp>
        <p:nvSpPr>
          <p:cNvPr id="8" name="Text 6"/>
          <p:cNvSpPr txBox="1"/>
          <p:nvPr/>
        </p:nvSpPr>
        <p:spPr>
          <a:xfrm>
            <a:off x="777240" y="309067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onTestEnd(test, result)</a:t>
            </a:r>
            <a:endParaRPr lang="en-US" sz="1700" dirty="0"/>
          </a:p>
        </p:txBody>
      </p:sp>
      <p:sp>
        <p:nvSpPr>
          <p:cNvPr id="9" name="Text 7"/>
          <p:cNvSpPr txBox="1"/>
          <p:nvPr/>
        </p:nvSpPr>
        <p:spPr>
          <a:xfrm>
            <a:off x="777240" y="3474720"/>
            <a:ext cx="4663440" cy="502920"/>
          </a:xfrm>
          <a:prstGeom prst="rect">
            <a:avLst/>
          </a:prstGeom>
          <a:noFill/>
          <a:ln/>
        </p:spPr>
        <p:txBody>
          <a:bodyPr wrap="square" lIns="0" tIns="0" rIns="0" bIns="0" rtlCol="0" anchor="t"/>
          <a:lstStyle/>
          <a:p>
            <a:pPr indent="0" marL="0">
              <a:buNone/>
            </a:pPr>
            <a:r>
              <a:rPr lang="en-US" sz="1400" dirty="0">
                <a:solidFill>
                  <a:schemeClr val="tx1"/>
                </a:solidFill>
              </a:rPr>
              <a:t>Store the result; on failure capture details, predict severity, save the bug</a:t>
            </a:r>
            <a:endParaRPr lang="en-US" sz="1400" dirty="0"/>
          </a:p>
        </p:txBody>
      </p:sp>
      <p:sp>
        <p:nvSpPr>
          <p:cNvPr id="10" name="arrow"/>
          <p:cNvSpPr/>
          <p:nvPr/>
        </p:nvSpPr>
        <p:spPr>
          <a:xfrm>
            <a:off x="3108960" y="4096512"/>
            <a:ext cx="0" cy="274320"/>
          </a:xfrm>
          <a:prstGeom prst="line">
            <a:avLst/>
          </a:prstGeom>
          <a:noFill/>
          <a:ln w="25400">
            <a:solidFill>
              <a:srgbClr val="5B6472"/>
            </a:solidFill>
            <a:prstDash val="solid"/>
            <a:tailEnd type="triangle"/>
          </a:ln>
        </p:spPr>
      </p:sp>
      <p:sp>
        <p:nvSpPr>
          <p:cNvPr id="11" name="hook onEnd()"/>
          <p:cNvSpPr/>
          <p:nvPr/>
        </p:nvSpPr>
        <p:spPr>
          <a:xfrm>
            <a:off x="548640" y="4389120"/>
            <a:ext cx="5120640" cy="1143000"/>
          </a:xfrm>
          <a:prstGeom prst="roundRect">
            <a:avLst>
              <a:gd name="adj" fmla="val 9600"/>
            </a:avLst>
          </a:prstGeom>
          <a:solidFill>
            <a:schemeClr val="bg2"/>
          </a:solidFill>
          <a:ln/>
        </p:spPr>
      </p:sp>
      <p:sp>
        <p:nvSpPr>
          <p:cNvPr id="12" name="Text 10"/>
          <p:cNvSpPr txBox="1"/>
          <p:nvPr/>
        </p:nvSpPr>
        <p:spPr>
          <a:xfrm>
            <a:off x="777240" y="455371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onEnd()</a:t>
            </a:r>
            <a:endParaRPr lang="en-US" sz="1700" dirty="0"/>
          </a:p>
        </p:txBody>
      </p:sp>
      <p:sp>
        <p:nvSpPr>
          <p:cNvPr id="13" name="Text 11"/>
          <p:cNvSpPr txBox="1"/>
          <p:nvPr/>
        </p:nvSpPr>
        <p:spPr>
          <a:xfrm>
            <a:off x="777240" y="4937760"/>
            <a:ext cx="4663440" cy="502920"/>
          </a:xfrm>
          <a:prstGeom prst="rect">
            <a:avLst/>
          </a:prstGeom>
          <a:noFill/>
          <a:ln/>
        </p:spPr>
        <p:txBody>
          <a:bodyPr wrap="square" lIns="0" tIns="0" rIns="0" bIns="0" rtlCol="0" anchor="t"/>
          <a:lstStyle/>
          <a:p>
            <a:pPr indent="0" marL="0">
              <a:buNone/>
            </a:pPr>
            <a:r>
              <a:rPr lang="en-US" sz="1400" dirty="0">
                <a:solidFill>
                  <a:schemeClr val="tx1"/>
                </a:solidFill>
              </a:rPr>
              <a:t>Save run summary; email alert for each new Critical bug</a:t>
            </a:r>
            <a:endParaRPr lang="en-US" sz="1400" dirty="0"/>
          </a:p>
        </p:txBody>
      </p:sp>
      <p:sp>
        <p:nvSpPr>
          <p:cNvPr id="14" name="Text 12"/>
          <p:cNvSpPr txBox="1"/>
          <p:nvPr/>
        </p:nvSpPr>
        <p:spPr>
          <a:xfrm>
            <a:off x="548640" y="5852160"/>
            <a:ext cx="5120640" cy="320040"/>
          </a:xfrm>
          <a:prstGeom prst="rect">
            <a:avLst/>
          </a:prstGeom>
          <a:noFill/>
          <a:ln/>
        </p:spPr>
        <p:txBody>
          <a:bodyPr wrap="square" lIns="0" tIns="0" rIns="0" bIns="0" rtlCol="0" anchor="t"/>
          <a:lstStyle/>
          <a:p>
            <a:pPr indent="0" marL="0">
              <a:buNone/>
            </a:pPr>
            <a:r>
              <a:rPr lang="en-US" sz="1300" i="1" dirty="0">
                <a:solidFill>
                  <a:srgbClr val="5B6472"/>
                </a:solidFill>
              </a:rPr>
              <a:t>Custom Playwright reporter: bugReporter.ts</a:t>
            </a:r>
            <a:endParaRPr lang="en-US" sz="1300" dirty="0"/>
          </a:p>
        </p:txBody>
      </p:sp>
      <p:sp>
        <p:nvSpPr>
          <p:cNvPr id="15" name="Text 13"/>
          <p:cNvSpPr txBox="1"/>
          <p:nvPr/>
        </p:nvSpPr>
        <p:spPr>
          <a:xfrm>
            <a:off x="6309360" y="1463040"/>
            <a:ext cx="5303520" cy="365760"/>
          </a:xfrm>
          <a:prstGeom prst="rect">
            <a:avLst/>
          </a:prstGeom>
          <a:noFill/>
          <a:ln/>
        </p:spPr>
        <p:txBody>
          <a:bodyPr wrap="square" lIns="0" tIns="0" rIns="0" bIns="0" rtlCol="0" anchor="t"/>
          <a:lstStyle/>
          <a:p>
            <a:pPr indent="0" marL="0">
              <a:buNone/>
            </a:pPr>
            <a:r>
              <a:rPr lang="en-US" sz="1900" b="1" dirty="0">
                <a:solidFill>
                  <a:schemeClr val="tx2"/>
                </a:solidFill>
              </a:rPr>
              <a:t>Captured for every failure</a:t>
            </a:r>
            <a:endParaRPr lang="en-US" sz="1900" dirty="0"/>
          </a:p>
        </p:txBody>
      </p:sp>
      <p:sp>
        <p:nvSpPr>
          <p:cNvPr id="16" name="field Error message"/>
          <p:cNvSpPr/>
          <p:nvPr/>
        </p:nvSpPr>
        <p:spPr>
          <a:xfrm>
            <a:off x="6309360" y="2011680"/>
            <a:ext cx="2560320" cy="1645920"/>
          </a:xfrm>
          <a:prstGeom prst="roundRect">
            <a:avLst>
              <a:gd name="adj" fmla="val 6667"/>
            </a:avLst>
          </a:prstGeom>
          <a:solidFill>
            <a:schemeClr val="bg2"/>
          </a:solidFill>
          <a:ln/>
        </p:spPr>
      </p:sp>
      <p:sp>
        <p:nvSpPr>
          <p:cNvPr id="17" name="icon circle"/>
          <p:cNvSpPr/>
          <p:nvPr/>
        </p:nvSpPr>
        <p:spPr>
          <a:xfrm>
            <a:off x="6537960" y="2212848"/>
            <a:ext cx="502920" cy="502920"/>
          </a:xfrm>
          <a:prstGeom prst="ellipse">
            <a:avLst/>
          </a:prstGeom>
          <a:solidFill>
            <a:srgbClr val="2A78D6"/>
          </a:solidFill>
          <a:ln/>
        </p:spPr>
      </p:sp>
      <p:pic>
        <p:nvPicPr>
          <p:cNvPr id="18" name="FaExclamationTriangle icon" descr="preencoded.png">    </p:cNvPr>
          <p:cNvPicPr>
            <a:picLocks noChangeAspect="1"/>
          </p:cNvPicPr>
          <p:nvPr/>
        </p:nvPicPr>
        <p:blipFill>
          <a:blip r:embed="rId1"/>
          <a:stretch>
            <a:fillRect/>
          </a:stretch>
        </p:blipFill>
        <p:spPr>
          <a:xfrm>
            <a:off x="6663690" y="2338578"/>
            <a:ext cx="251460" cy="251460"/>
          </a:xfrm>
          <a:prstGeom prst="rect">
            <a:avLst/>
          </a:prstGeom>
        </p:spPr>
      </p:pic>
      <p:sp>
        <p:nvSpPr>
          <p:cNvPr id="19" name="Text 16"/>
          <p:cNvSpPr txBox="1"/>
          <p:nvPr/>
        </p:nvSpPr>
        <p:spPr>
          <a:xfrm>
            <a:off x="653796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Error message</a:t>
            </a:r>
            <a:endParaRPr lang="en-US" sz="1600" dirty="0"/>
          </a:p>
        </p:txBody>
      </p:sp>
      <p:sp>
        <p:nvSpPr>
          <p:cNvPr id="20" name="Text 17"/>
          <p:cNvSpPr txBox="1"/>
          <p:nvPr/>
        </p:nvSpPr>
        <p:spPr>
          <a:xfrm>
            <a:off x="653796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Assertion, expected vs received</a:t>
            </a:r>
            <a:endParaRPr lang="en-US" sz="1300" dirty="0"/>
          </a:p>
        </p:txBody>
      </p:sp>
      <p:sp>
        <p:nvSpPr>
          <p:cNvPr id="21" name="field Screenshot"/>
          <p:cNvSpPr/>
          <p:nvPr/>
        </p:nvSpPr>
        <p:spPr>
          <a:xfrm>
            <a:off x="9006840" y="2011680"/>
            <a:ext cx="2560320" cy="1645920"/>
          </a:xfrm>
          <a:prstGeom prst="roundRect">
            <a:avLst>
              <a:gd name="adj" fmla="val 6667"/>
            </a:avLst>
          </a:prstGeom>
          <a:solidFill>
            <a:schemeClr val="bg2"/>
          </a:solidFill>
          <a:ln/>
        </p:spPr>
      </p:sp>
      <p:sp>
        <p:nvSpPr>
          <p:cNvPr id="22" name="icon circle"/>
          <p:cNvSpPr/>
          <p:nvPr/>
        </p:nvSpPr>
        <p:spPr>
          <a:xfrm>
            <a:off x="9235440" y="2212848"/>
            <a:ext cx="502920" cy="502920"/>
          </a:xfrm>
          <a:prstGeom prst="ellipse">
            <a:avLst/>
          </a:prstGeom>
          <a:solidFill>
            <a:srgbClr val="2A78D6"/>
          </a:solidFill>
          <a:ln/>
        </p:spPr>
      </p:sp>
      <p:pic>
        <p:nvPicPr>
          <p:cNvPr id="23" name="FaCamera icon" descr="preencoded.png">    </p:cNvPr>
          <p:cNvPicPr>
            <a:picLocks noChangeAspect="1"/>
          </p:cNvPicPr>
          <p:nvPr/>
        </p:nvPicPr>
        <p:blipFill>
          <a:blip r:embed="rId2"/>
          <a:stretch>
            <a:fillRect/>
          </a:stretch>
        </p:blipFill>
        <p:spPr>
          <a:xfrm>
            <a:off x="9361170" y="2338578"/>
            <a:ext cx="251460" cy="251460"/>
          </a:xfrm>
          <a:prstGeom prst="rect">
            <a:avLst/>
          </a:prstGeom>
        </p:spPr>
      </p:pic>
      <p:sp>
        <p:nvSpPr>
          <p:cNvPr id="24" name="Text 20"/>
          <p:cNvSpPr txBox="1"/>
          <p:nvPr/>
        </p:nvSpPr>
        <p:spPr>
          <a:xfrm>
            <a:off x="923544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Screenshot</a:t>
            </a:r>
            <a:endParaRPr lang="en-US" sz="1600" dirty="0"/>
          </a:p>
        </p:txBody>
      </p:sp>
      <p:sp>
        <p:nvSpPr>
          <p:cNvPr id="25" name="Text 21"/>
          <p:cNvSpPr txBox="1"/>
          <p:nvPr/>
        </p:nvSpPr>
        <p:spPr>
          <a:xfrm>
            <a:off x="923544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Page at the moment of failure</a:t>
            </a:r>
            <a:endParaRPr lang="en-US" sz="1300" dirty="0"/>
          </a:p>
        </p:txBody>
      </p:sp>
      <p:sp>
        <p:nvSpPr>
          <p:cNvPr id="26" name="field Timestamp"/>
          <p:cNvSpPr/>
          <p:nvPr/>
        </p:nvSpPr>
        <p:spPr>
          <a:xfrm>
            <a:off x="6309360" y="3840480"/>
            <a:ext cx="2560320" cy="1645920"/>
          </a:xfrm>
          <a:prstGeom prst="roundRect">
            <a:avLst>
              <a:gd name="adj" fmla="val 6667"/>
            </a:avLst>
          </a:prstGeom>
          <a:solidFill>
            <a:schemeClr val="bg2"/>
          </a:solidFill>
          <a:ln/>
        </p:spPr>
      </p:sp>
      <p:sp>
        <p:nvSpPr>
          <p:cNvPr id="27" name="icon circle"/>
          <p:cNvSpPr/>
          <p:nvPr/>
        </p:nvSpPr>
        <p:spPr>
          <a:xfrm>
            <a:off x="6537960" y="4041648"/>
            <a:ext cx="502920" cy="502920"/>
          </a:xfrm>
          <a:prstGeom prst="ellipse">
            <a:avLst/>
          </a:prstGeom>
          <a:solidFill>
            <a:srgbClr val="2A78D6"/>
          </a:solidFill>
          <a:ln/>
        </p:spPr>
      </p:sp>
      <p:pic>
        <p:nvPicPr>
          <p:cNvPr id="28" name="FaClock icon" descr="preencoded.png">    </p:cNvPr>
          <p:cNvPicPr>
            <a:picLocks noChangeAspect="1"/>
          </p:cNvPicPr>
          <p:nvPr/>
        </p:nvPicPr>
        <p:blipFill>
          <a:blip r:embed="rId3"/>
          <a:stretch>
            <a:fillRect/>
          </a:stretch>
        </p:blipFill>
        <p:spPr>
          <a:xfrm>
            <a:off x="6663690" y="4167378"/>
            <a:ext cx="251460" cy="251460"/>
          </a:xfrm>
          <a:prstGeom prst="rect">
            <a:avLst/>
          </a:prstGeom>
        </p:spPr>
      </p:pic>
      <p:sp>
        <p:nvSpPr>
          <p:cNvPr id="29" name="Text 24"/>
          <p:cNvSpPr txBox="1"/>
          <p:nvPr/>
        </p:nvSpPr>
        <p:spPr>
          <a:xfrm>
            <a:off x="653796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Timestamp</a:t>
            </a:r>
            <a:endParaRPr lang="en-US" sz="1600" dirty="0"/>
          </a:p>
        </p:txBody>
      </p:sp>
      <p:sp>
        <p:nvSpPr>
          <p:cNvPr id="30" name="Text 25"/>
          <p:cNvSpPr txBox="1"/>
          <p:nvPr/>
        </p:nvSpPr>
        <p:spPr>
          <a:xfrm>
            <a:off x="653796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e.g. 2026-10-21 10:29:35</a:t>
            </a:r>
            <a:endParaRPr lang="en-US" sz="1300" dirty="0"/>
          </a:p>
        </p:txBody>
      </p:sp>
      <p:sp>
        <p:nvSpPr>
          <p:cNvPr id="31" name="field Module"/>
          <p:cNvSpPr/>
          <p:nvPr/>
        </p:nvSpPr>
        <p:spPr>
          <a:xfrm>
            <a:off x="9006840" y="3840480"/>
            <a:ext cx="2560320" cy="1645920"/>
          </a:xfrm>
          <a:prstGeom prst="roundRect">
            <a:avLst>
              <a:gd name="adj" fmla="val 6667"/>
            </a:avLst>
          </a:prstGeom>
          <a:solidFill>
            <a:schemeClr val="bg2"/>
          </a:solidFill>
          <a:ln/>
        </p:spPr>
      </p:sp>
      <p:sp>
        <p:nvSpPr>
          <p:cNvPr id="32" name="icon circle"/>
          <p:cNvSpPr/>
          <p:nvPr/>
        </p:nvSpPr>
        <p:spPr>
          <a:xfrm>
            <a:off x="9235440" y="4041648"/>
            <a:ext cx="502920" cy="502920"/>
          </a:xfrm>
          <a:prstGeom prst="ellipse">
            <a:avLst/>
          </a:prstGeom>
          <a:solidFill>
            <a:srgbClr val="2A78D6"/>
          </a:solidFill>
          <a:ln/>
        </p:spPr>
      </p:sp>
      <p:pic>
        <p:nvPicPr>
          <p:cNvPr id="33" name="FaLayerGroup icon" descr="preencoded.png">    </p:cNvPr>
          <p:cNvPicPr>
            <a:picLocks noChangeAspect="1"/>
          </p:cNvPicPr>
          <p:nvPr/>
        </p:nvPicPr>
        <p:blipFill>
          <a:blip r:embed="rId4"/>
          <a:stretch>
            <a:fillRect/>
          </a:stretch>
        </p:blipFill>
        <p:spPr>
          <a:xfrm>
            <a:off x="9361170" y="4167378"/>
            <a:ext cx="251460" cy="251460"/>
          </a:xfrm>
          <a:prstGeom prst="rect">
            <a:avLst/>
          </a:prstGeom>
        </p:spPr>
      </p:pic>
      <p:sp>
        <p:nvSpPr>
          <p:cNvPr id="34" name="Text 28"/>
          <p:cNvSpPr txBox="1"/>
          <p:nvPr/>
        </p:nvSpPr>
        <p:spPr>
          <a:xfrm>
            <a:off x="923544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Module</a:t>
            </a:r>
            <a:endParaRPr lang="en-US" sz="1600" dirty="0"/>
          </a:p>
        </p:txBody>
      </p:sp>
      <p:sp>
        <p:nvSpPr>
          <p:cNvPr id="35" name="Text 29"/>
          <p:cNvSpPr txBox="1"/>
          <p:nvPr/>
        </p:nvSpPr>
        <p:spPr>
          <a:xfrm>
            <a:off x="923544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From the test tag, e.g. @Checkout</a:t>
            </a:r>
            <a:endParaRPr lang="en-US" sz="1300" dirty="0"/>
          </a:p>
        </p:txBody>
      </p:sp>
      <p:sp>
        <p:nvSpPr>
          <p:cNvPr id="36" name="Text 30"/>
          <p:cNvSpPr txBox="1"/>
          <p:nvPr/>
        </p:nvSpPr>
        <p:spPr>
          <a:xfrm>
            <a:off x="6309360" y="5760720"/>
            <a:ext cx="5303520" cy="411480"/>
          </a:xfrm>
          <a:prstGeom prst="rect">
            <a:avLst/>
          </a:prstGeom>
          <a:noFill/>
          <a:ln/>
        </p:spPr>
        <p:txBody>
          <a:bodyPr wrap="square" lIns="0" tIns="0" rIns="0" bIns="0" rtlCol="0" anchor="t"/>
          <a:lstStyle/>
          <a:p>
            <a:pPr indent="0" marL="0">
              <a:buNone/>
            </a:pPr>
            <a:r>
              <a:rPr lang="en-US" sz="1400" b="1" dirty="0">
                <a:solidFill>
                  <a:schemeClr val="accent1"/>
                </a:solidFill>
              </a:rPr>
              <a:t>Same failure again? Occurrence count + 1 (fingerprint), no duplicate bug</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2: ML severity classification</a:t>
            </a:r>
            <a:endParaRPr lang="en-US" sz="3000" dirty="0"/>
          </a:p>
        </p:txBody>
      </p:sp>
      <p:sp>
        <p:nvSpPr>
          <p:cNvPr id="3" name="ml step Raw error"/>
          <p:cNvSpPr/>
          <p:nvPr/>
        </p:nvSpPr>
        <p:spPr>
          <a:xfrm>
            <a:off x="548640"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Raw error</a:t>
            </a:r>
            <a:endParaRPr lang="en-US" sz="1500" dirty="0"/>
          </a:p>
          <a:p>
            <a:pPr algn="ctr" indent="0" marL="0">
              <a:buNone/>
            </a:pPr>
            <a:r>
              <a:rPr lang="en-US" sz="1200" dirty="0">
                <a:solidFill>
                  <a:schemeClr val="bg1"/>
                </a:solidFill>
              </a:rPr>
              <a:t>Playwright failure message</a:t>
            </a:r>
            <a:endParaRPr lang="en-US" sz="1500" dirty="0"/>
          </a:p>
        </p:txBody>
      </p:sp>
      <p:sp>
        <p:nvSpPr>
          <p:cNvPr id="4" name="arrow"/>
          <p:cNvSpPr/>
          <p:nvPr/>
        </p:nvSpPr>
        <p:spPr>
          <a:xfrm>
            <a:off x="2267712" y="2029968"/>
            <a:ext cx="164592" cy="0"/>
          </a:xfrm>
          <a:prstGeom prst="line">
            <a:avLst/>
          </a:prstGeom>
          <a:noFill/>
          <a:ln w="25400">
            <a:solidFill>
              <a:srgbClr val="10243F"/>
            </a:solidFill>
            <a:prstDash val="solid"/>
            <a:tailEnd type="triangle"/>
          </a:ln>
        </p:spPr>
      </p:sp>
      <p:sp>
        <p:nvSpPr>
          <p:cNvPr id="5" name="ml step Clean"/>
          <p:cNvSpPr/>
          <p:nvPr/>
        </p:nvSpPr>
        <p:spPr>
          <a:xfrm>
            <a:off x="2441448"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Clean</a:t>
            </a:r>
            <a:endParaRPr lang="en-US" sz="1500" dirty="0"/>
          </a:p>
          <a:p>
            <a:pPr algn="ctr" indent="0" marL="0">
              <a:buNone/>
            </a:pPr>
            <a:r>
              <a:rPr lang="en-US" sz="1200" dirty="0">
                <a:solidFill>
                  <a:schemeClr val="bg1"/>
                </a:solidFill>
              </a:rPr>
              <a:t>Drop colour codes, Locator / Timeout lines</a:t>
            </a:r>
            <a:endParaRPr lang="en-US" sz="1500" dirty="0"/>
          </a:p>
        </p:txBody>
      </p:sp>
      <p:sp>
        <p:nvSpPr>
          <p:cNvPr id="6" name="arrow"/>
          <p:cNvSpPr/>
          <p:nvPr/>
        </p:nvSpPr>
        <p:spPr>
          <a:xfrm>
            <a:off x="4160520" y="2029968"/>
            <a:ext cx="164592" cy="0"/>
          </a:xfrm>
          <a:prstGeom prst="line">
            <a:avLst/>
          </a:prstGeom>
          <a:noFill/>
          <a:ln w="25400">
            <a:solidFill>
              <a:srgbClr val="10243F"/>
            </a:solidFill>
            <a:prstDash val="solid"/>
            <a:tailEnd type="triangle"/>
          </a:ln>
        </p:spPr>
      </p:sp>
      <p:sp>
        <p:nvSpPr>
          <p:cNvPr id="7" name="ml step Normalise"/>
          <p:cNvSpPr/>
          <p:nvPr/>
        </p:nvSpPr>
        <p:spPr>
          <a:xfrm>
            <a:off x="4334256"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Normalise</a:t>
            </a:r>
            <a:endParaRPr lang="en-US" sz="1500" dirty="0"/>
          </a:p>
          <a:p>
            <a:pPr algn="ctr" indent="0" marL="0">
              <a:buNone/>
            </a:pPr>
            <a:r>
              <a:rPr lang="en-US" sz="1200" dirty="0">
                <a:solidFill>
                  <a:schemeClr val="bg1"/>
                </a:solidFill>
              </a:rPr>
              <a:t>Lowercase; 500 → http500; numbers → num</a:t>
            </a:r>
            <a:endParaRPr lang="en-US" sz="1500" dirty="0"/>
          </a:p>
        </p:txBody>
      </p:sp>
      <p:sp>
        <p:nvSpPr>
          <p:cNvPr id="8" name="arrow"/>
          <p:cNvSpPr/>
          <p:nvPr/>
        </p:nvSpPr>
        <p:spPr>
          <a:xfrm>
            <a:off x="6053328" y="2029968"/>
            <a:ext cx="164592" cy="0"/>
          </a:xfrm>
          <a:prstGeom prst="line">
            <a:avLst/>
          </a:prstGeom>
          <a:noFill/>
          <a:ln w="25400">
            <a:solidFill>
              <a:srgbClr val="10243F"/>
            </a:solidFill>
            <a:prstDash val="solid"/>
            <a:tailEnd type="triangle"/>
          </a:ln>
        </p:spPr>
      </p:sp>
      <p:sp>
        <p:nvSpPr>
          <p:cNvPr id="9" name="ml step Tokenise"/>
          <p:cNvSpPr/>
          <p:nvPr/>
        </p:nvSpPr>
        <p:spPr>
          <a:xfrm>
            <a:off x="6227064"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Tokenise</a:t>
            </a:r>
            <a:endParaRPr lang="en-US" sz="1500" dirty="0"/>
          </a:p>
          <a:p>
            <a:pPr algn="ctr" indent="0" marL="0">
              <a:buNone/>
            </a:pPr>
            <a:r>
              <a:rPr lang="en-US" sz="1200" dirty="0">
                <a:solidFill>
                  <a:schemeClr val="bg1"/>
                </a:solidFill>
              </a:rPr>
              <a:t>Split words, remove stop-words</a:t>
            </a:r>
            <a:endParaRPr lang="en-US" sz="1500" dirty="0"/>
          </a:p>
        </p:txBody>
      </p:sp>
      <p:sp>
        <p:nvSpPr>
          <p:cNvPr id="10" name="arrow"/>
          <p:cNvSpPr/>
          <p:nvPr/>
        </p:nvSpPr>
        <p:spPr>
          <a:xfrm>
            <a:off x="7946136" y="2029968"/>
            <a:ext cx="164592" cy="0"/>
          </a:xfrm>
          <a:prstGeom prst="line">
            <a:avLst/>
          </a:prstGeom>
          <a:noFill/>
          <a:ln w="25400">
            <a:solidFill>
              <a:srgbClr val="10243F"/>
            </a:solidFill>
            <a:prstDash val="solid"/>
            <a:tailEnd type="triangle"/>
          </a:ln>
        </p:spPr>
      </p:sp>
      <p:sp>
        <p:nvSpPr>
          <p:cNvPr id="11" name="ml step Bigrams"/>
          <p:cNvSpPr/>
          <p:nvPr/>
        </p:nvSpPr>
        <p:spPr>
          <a:xfrm>
            <a:off x="8119872"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Bigrams</a:t>
            </a:r>
            <a:endParaRPr lang="en-US" sz="1500" dirty="0"/>
          </a:p>
          <a:p>
            <a:pPr algn="ctr" indent="0" marL="0">
              <a:buNone/>
            </a:pPr>
            <a:r>
              <a:rPr lang="en-US" sz="1200" dirty="0">
                <a:solidFill>
                  <a:schemeClr val="bg1"/>
                </a:solidFill>
              </a:rPr>
              <a:t>payment_gateway, server_error</a:t>
            </a:r>
            <a:endParaRPr lang="en-US" sz="1500" dirty="0"/>
          </a:p>
        </p:txBody>
      </p:sp>
      <p:sp>
        <p:nvSpPr>
          <p:cNvPr id="12" name="arrow"/>
          <p:cNvSpPr/>
          <p:nvPr/>
        </p:nvSpPr>
        <p:spPr>
          <a:xfrm>
            <a:off x="9838944" y="2029968"/>
            <a:ext cx="164592" cy="0"/>
          </a:xfrm>
          <a:prstGeom prst="line">
            <a:avLst/>
          </a:prstGeom>
          <a:noFill/>
          <a:ln w="25400">
            <a:solidFill>
              <a:srgbClr val="10243F"/>
            </a:solidFill>
            <a:prstDash val="solid"/>
            <a:tailEnd type="triangle"/>
          </a:ln>
        </p:spPr>
      </p:sp>
      <p:sp>
        <p:nvSpPr>
          <p:cNvPr id="13" name="ml step Predict"/>
          <p:cNvSpPr/>
          <p:nvPr/>
        </p:nvSpPr>
        <p:spPr>
          <a:xfrm>
            <a:off x="10012680" y="1371600"/>
            <a:ext cx="1709928" cy="1325880"/>
          </a:xfrm>
          <a:prstGeom prst="roundRect">
            <a:avLst>
              <a:gd name="adj" fmla="val 6897"/>
            </a:avLst>
          </a:prstGeom>
          <a:solidFill>
            <a:srgbClr val="D03B3B"/>
          </a:solidFill>
          <a:ln/>
        </p:spPr>
        <p:txBody>
          <a:bodyPr wrap="square" lIns="76200" tIns="76200" rIns="76200" bIns="76200" rtlCol="0" anchor="ctr"/>
          <a:lstStyle/>
          <a:p>
            <a:pPr algn="ctr" indent="0" marL="0">
              <a:buNone/>
            </a:pPr>
            <a:r>
              <a:rPr lang="en-US" sz="1500" b="1" dirty="0">
                <a:solidFill>
                  <a:schemeClr val="bg1"/>
                </a:solidFill>
              </a:rPr>
              <a:t>Predict</a:t>
            </a:r>
            <a:endParaRPr lang="en-US" sz="1500" dirty="0"/>
          </a:p>
          <a:p>
            <a:pPr algn="ctr" indent="0" marL="0">
              <a:buNone/>
            </a:pPr>
            <a:r>
              <a:rPr lang="en-US" sz="1200" dirty="0">
                <a:solidFill>
                  <a:schemeClr val="bg1"/>
                </a:solidFill>
              </a:rPr>
              <a:t>Severity + confidence %</a:t>
            </a:r>
            <a:endParaRPr lang="en-US" sz="1500" dirty="0"/>
          </a:p>
        </p:txBody>
      </p:sp>
      <p:sp>
        <p:nvSpPr>
          <p:cNvPr id="14" name="formula card"/>
          <p:cNvSpPr/>
          <p:nvPr/>
        </p:nvSpPr>
        <p:spPr>
          <a:xfrm>
            <a:off x="548640" y="3017520"/>
            <a:ext cx="5943600" cy="3108960"/>
          </a:xfrm>
          <a:prstGeom prst="roundRect">
            <a:avLst>
              <a:gd name="adj" fmla="val 3529"/>
            </a:avLst>
          </a:prstGeom>
          <a:solidFill>
            <a:schemeClr val="bg2"/>
          </a:solidFill>
          <a:ln/>
        </p:spPr>
      </p:sp>
      <p:sp>
        <p:nvSpPr>
          <p:cNvPr id="15" name="Text 13"/>
          <p:cNvSpPr txBox="1"/>
          <p:nvPr/>
        </p:nvSpPr>
        <p:spPr>
          <a:xfrm>
            <a:off x="822960" y="3200400"/>
            <a:ext cx="5486400" cy="365760"/>
          </a:xfrm>
          <a:prstGeom prst="rect">
            <a:avLst/>
          </a:prstGeom>
          <a:noFill/>
          <a:ln/>
        </p:spPr>
        <p:txBody>
          <a:bodyPr wrap="square" lIns="0" tIns="0" rIns="0" bIns="0" rtlCol="0" anchor="t"/>
          <a:lstStyle/>
          <a:p>
            <a:pPr indent="0" marL="0">
              <a:buNone/>
            </a:pPr>
            <a:r>
              <a:rPr lang="en-US" sz="1800" b="1" dirty="0">
                <a:solidFill>
                  <a:schemeClr val="tx2"/>
                </a:solidFill>
              </a:rPr>
              <a:t>Multinomial Naive Bayes</a:t>
            </a:r>
            <a:endParaRPr lang="en-US" sz="1800" dirty="0"/>
          </a:p>
        </p:txBody>
      </p:sp>
      <p:sp>
        <p:nvSpPr>
          <p:cNvPr id="16" name="Text 14"/>
          <p:cNvSpPr txBox="1"/>
          <p:nvPr/>
        </p:nvSpPr>
        <p:spPr>
          <a:xfrm>
            <a:off x="822960" y="3657600"/>
            <a:ext cx="5486400" cy="457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P(class | message) ∝ P(class) × Π P(token | class)</a:t>
            </a:r>
            <a:endParaRPr lang="en-US" sz="1900" dirty="0"/>
          </a:p>
        </p:txBody>
      </p:sp>
      <p:sp>
        <p:nvSpPr>
          <p:cNvPr id="17" name="Text 15"/>
          <p:cNvSpPr txBox="1"/>
          <p:nvPr/>
        </p:nvSpPr>
        <p:spPr>
          <a:xfrm>
            <a:off x="822960" y="4251960"/>
            <a:ext cx="5486400" cy="17830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Laplace smoothing (α = 1): unseen words never give zero probability</a:t>
            </a:r>
            <a:endParaRPr lang="en-US" sz="1500" dirty="0"/>
          </a:p>
          <a:p>
            <a:pPr marL="342900" indent="-342900">
              <a:spcAft>
                <a:spcPts val="500"/>
              </a:spcAft>
              <a:buSzPct val="100000"/>
              <a:buChar char="•"/>
            </a:pPr>
            <a:r>
              <a:rPr lang="en-US" sz="1500" dirty="0">
                <a:solidFill>
                  <a:schemeClr val="tx1"/>
                </a:solidFill>
              </a:rPr>
              <a:t>Log-probabilities avoid numeric underflow</a:t>
            </a:r>
            <a:endParaRPr lang="en-US" sz="1500" dirty="0"/>
          </a:p>
          <a:p>
            <a:pPr marL="342900" indent="-342900">
              <a:spcAft>
                <a:spcPts val="500"/>
              </a:spcAft>
              <a:buSzPct val="100000"/>
              <a:buChar char="•"/>
            </a:pPr>
            <a:r>
              <a:rPr lang="en-US" sz="1500" dirty="0">
                <a:solidFill>
                  <a:schemeClr val="tx1"/>
                </a:solidFill>
              </a:rPr>
              <a:t>Softmax turns scores into a confidence %</a:t>
            </a:r>
            <a:endParaRPr lang="en-US" sz="1500" dirty="0"/>
          </a:p>
          <a:p>
            <a:pPr marL="342900" indent="-342900">
              <a:spcAft>
                <a:spcPts val="500"/>
              </a:spcAft>
              <a:buSzPct val="100000"/>
              <a:buChar char="•"/>
            </a:pPr>
            <a:r>
              <a:rPr lang="en-US" sz="1500" dirty="0">
                <a:solidFill>
                  <a:schemeClr val="tx1"/>
                </a:solidFill>
              </a:rPr>
              <a:t>Written from scratch in TypeScript</a:t>
            </a:r>
            <a:endParaRPr lang="en-US" sz="1500" dirty="0"/>
          </a:p>
        </p:txBody>
      </p:sp>
      <p:graphicFrame>
        <p:nvGraphicFramePr>
          <p:cNvPr id="18" name="training data chart" descr=""/>
          <p:cNvGraphicFramePr/>
          <p:nvPr/>
        </p:nvGraphicFramePr>
        <p:xfrm>
          <a:off x="6766560" y="3017520"/>
          <a:ext cx="4873752"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Model evaluation</a:t>
            </a:r>
            <a:endParaRPr lang="en-US" sz="3000" dirty="0"/>
          </a:p>
        </p:txBody>
      </p:sp>
      <p:sp>
        <p:nvSpPr>
          <p:cNvPr id="3" name="stat Hold-out accuracy (80/20 split)"/>
          <p:cNvSpPr/>
          <p:nvPr/>
        </p:nvSpPr>
        <p:spPr>
          <a:xfrm>
            <a:off x="548640" y="1371600"/>
            <a:ext cx="3108960" cy="1417320"/>
          </a:xfrm>
          <a:prstGeom prst="roundRect">
            <a:avLst>
              <a:gd name="adj" fmla="val 7742"/>
            </a:avLst>
          </a:prstGeom>
          <a:solidFill>
            <a:schemeClr val="bg2"/>
          </a:solidFill>
          <a:ln/>
        </p:spPr>
      </p:sp>
      <p:sp>
        <p:nvSpPr>
          <p:cNvPr id="4" name="Text 2"/>
          <p:cNvSpPr txBox="1"/>
          <p:nvPr/>
        </p:nvSpPr>
        <p:spPr>
          <a:xfrm>
            <a:off x="777240" y="15087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86.1%</a:t>
            </a:r>
            <a:endParaRPr lang="en-US" sz="4000" dirty="0"/>
          </a:p>
        </p:txBody>
      </p:sp>
      <p:sp>
        <p:nvSpPr>
          <p:cNvPr id="5" name="Text 3"/>
          <p:cNvSpPr txBox="1"/>
          <p:nvPr/>
        </p:nvSpPr>
        <p:spPr>
          <a:xfrm>
            <a:off x="777240" y="2240280"/>
            <a:ext cx="2651760" cy="457200"/>
          </a:xfrm>
          <a:prstGeom prst="rect">
            <a:avLst/>
          </a:prstGeom>
          <a:noFill/>
          <a:ln/>
        </p:spPr>
        <p:txBody>
          <a:bodyPr wrap="square" lIns="0" tIns="0" rIns="0" bIns="0" rtlCol="0" anchor="t"/>
          <a:lstStyle/>
          <a:p>
            <a:pPr indent="0" marL="0">
              <a:buNone/>
            </a:pPr>
            <a:r>
              <a:rPr lang="en-US" sz="1400" dirty="0">
                <a:solidFill>
                  <a:schemeClr val="tx1"/>
                </a:solidFill>
              </a:rPr>
              <a:t>Hold-out accuracy (80/20 split)</a:t>
            </a:r>
            <a:endParaRPr lang="en-US" sz="1400" dirty="0"/>
          </a:p>
        </p:txBody>
      </p:sp>
      <p:sp>
        <p:nvSpPr>
          <p:cNvPr id="6" name="stat 5-fold cross-validation (mean)"/>
          <p:cNvSpPr/>
          <p:nvPr/>
        </p:nvSpPr>
        <p:spPr>
          <a:xfrm>
            <a:off x="548640" y="2971800"/>
            <a:ext cx="3108960" cy="1417320"/>
          </a:xfrm>
          <a:prstGeom prst="roundRect">
            <a:avLst>
              <a:gd name="adj" fmla="val 7742"/>
            </a:avLst>
          </a:prstGeom>
          <a:solidFill>
            <a:schemeClr val="bg2"/>
          </a:solidFill>
          <a:ln/>
        </p:spPr>
      </p:sp>
      <p:sp>
        <p:nvSpPr>
          <p:cNvPr id="7" name="Text 5"/>
          <p:cNvSpPr txBox="1"/>
          <p:nvPr/>
        </p:nvSpPr>
        <p:spPr>
          <a:xfrm>
            <a:off x="777240" y="31089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87.2%</a:t>
            </a:r>
            <a:endParaRPr lang="en-US" sz="4000" dirty="0"/>
          </a:p>
        </p:txBody>
      </p:sp>
      <p:sp>
        <p:nvSpPr>
          <p:cNvPr id="8" name="Text 6"/>
          <p:cNvSpPr txBox="1"/>
          <p:nvPr/>
        </p:nvSpPr>
        <p:spPr>
          <a:xfrm>
            <a:off x="777240" y="3840480"/>
            <a:ext cx="2651760" cy="457200"/>
          </a:xfrm>
          <a:prstGeom prst="rect">
            <a:avLst/>
          </a:prstGeom>
          <a:noFill/>
          <a:ln/>
        </p:spPr>
        <p:txBody>
          <a:bodyPr wrap="square" lIns="0" tIns="0" rIns="0" bIns="0" rtlCol="0" anchor="t"/>
          <a:lstStyle/>
          <a:p>
            <a:pPr indent="0" marL="0">
              <a:buNone/>
            </a:pPr>
            <a:r>
              <a:rPr lang="en-US" sz="1400" dirty="0">
                <a:solidFill>
                  <a:schemeClr val="tx1"/>
                </a:solidFill>
              </a:rPr>
              <a:t>5-fold cross-validation (mean)</a:t>
            </a:r>
            <a:endParaRPr lang="en-US" sz="1400" dirty="0"/>
          </a:p>
        </p:txBody>
      </p:sp>
      <p:sp>
        <p:nvSpPr>
          <p:cNvPr id="9" name="stat Real Playwright failures classified correctly"/>
          <p:cNvSpPr/>
          <p:nvPr/>
        </p:nvSpPr>
        <p:spPr>
          <a:xfrm>
            <a:off x="548640" y="4572000"/>
            <a:ext cx="3108960" cy="1417320"/>
          </a:xfrm>
          <a:prstGeom prst="roundRect">
            <a:avLst>
              <a:gd name="adj" fmla="val 7742"/>
            </a:avLst>
          </a:prstGeom>
          <a:solidFill>
            <a:schemeClr val="bg2"/>
          </a:solidFill>
          <a:ln/>
        </p:spPr>
      </p:sp>
      <p:sp>
        <p:nvSpPr>
          <p:cNvPr id="10" name="Text 8"/>
          <p:cNvSpPr txBox="1"/>
          <p:nvPr/>
        </p:nvSpPr>
        <p:spPr>
          <a:xfrm>
            <a:off x="777240" y="4709160"/>
            <a:ext cx="2651760" cy="73152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13 / 13</a:t>
            </a:r>
            <a:endParaRPr lang="en-US" sz="4000" dirty="0"/>
          </a:p>
        </p:txBody>
      </p:sp>
      <p:sp>
        <p:nvSpPr>
          <p:cNvPr id="11" name="Text 9"/>
          <p:cNvSpPr txBox="1"/>
          <p:nvPr/>
        </p:nvSpPr>
        <p:spPr>
          <a:xfrm>
            <a:off x="777240" y="5440680"/>
            <a:ext cx="2651760" cy="457200"/>
          </a:xfrm>
          <a:prstGeom prst="rect">
            <a:avLst/>
          </a:prstGeom>
          <a:noFill/>
          <a:ln/>
        </p:spPr>
        <p:txBody>
          <a:bodyPr wrap="square" lIns="0" tIns="0" rIns="0" bIns="0" rtlCol="0" anchor="t"/>
          <a:lstStyle/>
          <a:p>
            <a:pPr indent="0" marL="0">
              <a:buNone/>
            </a:pPr>
            <a:r>
              <a:rPr lang="en-US" sz="1400" dirty="0">
                <a:solidFill>
                  <a:schemeClr val="tx1"/>
                </a:solidFill>
              </a:rPr>
              <a:t>Real Playwright failures classified correctly</a:t>
            </a:r>
            <a:endParaRPr lang="en-US" sz="1400" dirty="0"/>
          </a:p>
        </p:txBody>
      </p:sp>
      <p:graphicFrame>
        <p:nvGraphicFramePr>
          <p:cNvPr id="12" name="per-class metrics chart" descr=""/>
          <p:cNvGraphicFramePr/>
          <p:nvPr/>
        </p:nvGraphicFramePr>
        <p:xfrm>
          <a:off x="3931920" y="1371600"/>
          <a:ext cx="4572000" cy="46177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8778240" y="1371600"/>
            <a:ext cx="2862072" cy="320040"/>
          </a:xfrm>
          <a:prstGeom prst="rect">
            <a:avLst/>
          </a:prstGeom>
          <a:noFill/>
          <a:ln/>
        </p:spPr>
        <p:txBody>
          <a:bodyPr wrap="square" lIns="0" tIns="0" rIns="0" bIns="0" rtlCol="0" anchor="t"/>
          <a:lstStyle/>
          <a:p>
            <a:pPr indent="0" marL="0">
              <a:buNone/>
            </a:pPr>
            <a:r>
              <a:rPr lang="en-US" sz="1400" b="1" dirty="0">
                <a:solidFill>
                  <a:schemeClr val="tx2"/>
                </a:solidFill>
              </a:rPr>
              <a:t>Confusion matrix (36 test samples)</a:t>
            </a:r>
            <a:endParaRPr lang="en-US" sz="1400" dirty="0"/>
          </a:p>
        </p:txBody>
      </p:sp>
      <p:graphicFrame>
        <p:nvGraphicFramePr>
          <p:cNvPr id="11" name="confusion matrix"/>
          <p:cNvGraphicFramePr>
            <a:graphicFrameLocks noGrp="1"/>
          </p:cNvGraphicFramePr>
          <p:nvPr>
            <p:extLst>
              <p:ext uri="{D42A27DB-BD31-4B8C-83A1-F6EECF244321}">
                <p14:modId xmlns:p14="http://schemas.microsoft.com/office/powerpoint/2010/main" val="1579011935"/>
              </p:ext>
            </p:extLst>
          </p:nvPr>
        </p:nvGraphicFramePr>
        <p:xfrm>
          <a:off x="8778240" y="1783080"/>
          <a:ext cx="2862072" cy="914400"/>
        </p:xfrm>
        <a:graphic>
          <a:graphicData uri="http://schemas.openxmlformats.org/drawingml/2006/table">
            <a:tbl>
              <a:tblPr/>
              <a:tblGrid>
                <a:gridCol w="1005840"/>
                <a:gridCol w="621792"/>
                <a:gridCol w="621792"/>
                <a:gridCol w="612648"/>
              </a:tblGrid>
              <a:tr h="45720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Actual ↓</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Crit</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Maj</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Min</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r>
            </a:tbl>
          </a:graphicData>
        </a:graphic>
      </p:graphicFrame>
      <p:sp>
        <p:nvSpPr>
          <p:cNvPr id="15" name="Text 11"/>
          <p:cNvSpPr txBox="1"/>
          <p:nvPr/>
        </p:nvSpPr>
        <p:spPr>
          <a:xfrm>
            <a:off x="8778240" y="3794760"/>
            <a:ext cx="2862072" cy="1097280"/>
          </a:xfrm>
          <a:prstGeom prst="rect">
            <a:avLst/>
          </a:prstGeom>
          <a:noFill/>
          <a:ln/>
        </p:spPr>
        <p:txBody>
          <a:bodyPr wrap="square" lIns="0" tIns="0" rIns="0" bIns="0" rtlCol="0" anchor="t"/>
          <a:lstStyle/>
          <a:p>
            <a:pPr indent="0" marL="0">
              <a:buNone/>
            </a:pPr>
            <a:r>
              <a:rPr lang="en-US" sz="1300" dirty="0">
                <a:solidFill>
                  <a:srgbClr val="5B6472"/>
                </a:solidFill>
              </a:rPr>
              <a:t>Columns = predicted. Most errors are Minor or Critical messages predicted as Major, the "middle" class.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3: centralized SQLite database</a:t>
            </a:r>
            <a:endParaRPr lang="en-US" sz="3000" dirty="0"/>
          </a:p>
        </p:txBody>
      </p:sp>
      <p:sp>
        <p:nvSpPr>
          <p:cNvPr id="3" name="table test_runs"/>
          <p:cNvSpPr/>
          <p:nvPr/>
        </p:nvSpPr>
        <p:spPr>
          <a:xfrm>
            <a:off x="548640" y="1371600"/>
            <a:ext cx="2606040" cy="4206240"/>
          </a:xfrm>
          <a:prstGeom prst="roundRect">
            <a:avLst>
              <a:gd name="adj" fmla="val 4211"/>
            </a:avLst>
          </a:prstGeom>
          <a:solidFill>
            <a:schemeClr val="bg2"/>
          </a:solidFill>
          <a:ln/>
        </p:spPr>
      </p:sp>
      <p:sp>
        <p:nvSpPr>
          <p:cNvPr id="4" name="icon circle"/>
          <p:cNvSpPr/>
          <p:nvPr/>
        </p:nvSpPr>
        <p:spPr>
          <a:xfrm>
            <a:off x="777240" y="1572768"/>
            <a:ext cx="457200" cy="457200"/>
          </a:xfrm>
          <a:prstGeom prst="ellipse">
            <a:avLst/>
          </a:prstGeom>
          <a:solidFill>
            <a:srgbClr val="10243F"/>
          </a:solidFill>
          <a:ln/>
        </p:spPr>
      </p:sp>
      <p:pic>
        <p:nvPicPr>
          <p:cNvPr id="5" name="FaTable icon" descr="preencoded.png">    </p:cNvPr>
          <p:cNvPicPr>
            <a:picLocks noChangeAspect="1"/>
          </p:cNvPicPr>
          <p:nvPr/>
        </p:nvPicPr>
        <p:blipFill>
          <a:blip r:embed="rId1"/>
          <a:stretch>
            <a:fillRect/>
          </a:stretch>
        </p:blipFill>
        <p:spPr>
          <a:xfrm>
            <a:off x="891540" y="1687068"/>
            <a:ext cx="228600" cy="228600"/>
          </a:xfrm>
          <a:prstGeom prst="rect">
            <a:avLst/>
          </a:prstGeom>
        </p:spPr>
      </p:pic>
      <p:sp>
        <p:nvSpPr>
          <p:cNvPr id="6" name="Text 3"/>
          <p:cNvSpPr txBox="1"/>
          <p:nvPr/>
        </p:nvSpPr>
        <p:spPr>
          <a:xfrm>
            <a:off x="132588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test_runs</a:t>
            </a:r>
            <a:endParaRPr lang="en-US" sz="1700" dirty="0"/>
          </a:p>
        </p:txBody>
      </p:sp>
      <p:sp>
        <p:nvSpPr>
          <p:cNvPr id="7" name="Text 4"/>
          <p:cNvSpPr txBox="1"/>
          <p:nvPr/>
        </p:nvSpPr>
        <p:spPr>
          <a:xfrm>
            <a:off x="77724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execution</a:t>
            </a:r>
            <a:endParaRPr lang="en-US" sz="1300" dirty="0"/>
          </a:p>
        </p:txBody>
      </p:sp>
      <p:sp>
        <p:nvSpPr>
          <p:cNvPr id="8" name="Text 5"/>
          <p:cNvSpPr txBox="1"/>
          <p:nvPr/>
        </p:nvSpPr>
        <p:spPr>
          <a:xfrm>
            <a:off x="77724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id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started_at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total, passed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failed, skipped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new_bugs</a:t>
            </a:r>
            <a:endParaRPr lang="en-US" sz="1400" dirty="0"/>
          </a:p>
        </p:txBody>
      </p:sp>
      <p:sp>
        <p:nvSpPr>
          <p:cNvPr id="9" name="table test_results"/>
          <p:cNvSpPr/>
          <p:nvPr/>
        </p:nvSpPr>
        <p:spPr>
          <a:xfrm>
            <a:off x="3383280" y="1371600"/>
            <a:ext cx="2606040" cy="4206240"/>
          </a:xfrm>
          <a:prstGeom prst="roundRect">
            <a:avLst>
              <a:gd name="adj" fmla="val 4211"/>
            </a:avLst>
          </a:prstGeom>
          <a:solidFill>
            <a:schemeClr val="bg2"/>
          </a:solidFill>
          <a:ln/>
        </p:spPr>
      </p:sp>
      <p:sp>
        <p:nvSpPr>
          <p:cNvPr id="10" name="icon circle"/>
          <p:cNvSpPr/>
          <p:nvPr/>
        </p:nvSpPr>
        <p:spPr>
          <a:xfrm>
            <a:off x="3611880" y="1572768"/>
            <a:ext cx="457200" cy="457200"/>
          </a:xfrm>
          <a:prstGeom prst="ellipse">
            <a:avLst/>
          </a:prstGeom>
          <a:solidFill>
            <a:srgbClr val="10243F"/>
          </a:solidFill>
          <a:ln/>
        </p:spPr>
      </p:sp>
      <p:pic>
        <p:nvPicPr>
          <p:cNvPr id="11" name="FaTable icon" descr="preencoded.png">    </p:cNvPr>
          <p:cNvPicPr>
            <a:picLocks noChangeAspect="1"/>
          </p:cNvPicPr>
          <p:nvPr/>
        </p:nvPicPr>
        <p:blipFill>
          <a:blip r:embed="rId2"/>
          <a:stretch>
            <a:fillRect/>
          </a:stretch>
        </p:blipFill>
        <p:spPr>
          <a:xfrm>
            <a:off x="3726180" y="1687068"/>
            <a:ext cx="228600" cy="228600"/>
          </a:xfrm>
          <a:prstGeom prst="rect">
            <a:avLst/>
          </a:prstGeom>
        </p:spPr>
      </p:pic>
      <p:sp>
        <p:nvSpPr>
          <p:cNvPr id="12" name="Text 8"/>
          <p:cNvSpPr txBox="1"/>
          <p:nvPr/>
        </p:nvSpPr>
        <p:spPr>
          <a:xfrm>
            <a:off x="416052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test_results</a:t>
            </a:r>
            <a:endParaRPr lang="en-US" sz="1700" dirty="0"/>
          </a:p>
        </p:txBody>
      </p:sp>
      <p:sp>
        <p:nvSpPr>
          <p:cNvPr id="13" name="Text 9"/>
          <p:cNvSpPr txBox="1"/>
          <p:nvPr/>
        </p:nvSpPr>
        <p:spPr>
          <a:xfrm>
            <a:off x="361188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test per run</a:t>
            </a:r>
            <a:endParaRPr lang="en-US" sz="1300" dirty="0"/>
          </a:p>
        </p:txBody>
      </p:sp>
      <p:sp>
        <p:nvSpPr>
          <p:cNvPr id="14" name="Text 10"/>
          <p:cNvSpPr txBox="1"/>
          <p:nvPr/>
        </p:nvSpPr>
        <p:spPr>
          <a:xfrm>
            <a:off x="361188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run_id → test_runs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test_key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executed_at</a:t>
            </a:r>
            <a:endParaRPr lang="en-US" sz="1400" dirty="0"/>
          </a:p>
        </p:txBody>
      </p:sp>
      <p:sp>
        <p:nvSpPr>
          <p:cNvPr id="15" name="table bugs"/>
          <p:cNvSpPr/>
          <p:nvPr/>
        </p:nvSpPr>
        <p:spPr>
          <a:xfrm>
            <a:off x="6217920" y="1371600"/>
            <a:ext cx="2606040" cy="4206240"/>
          </a:xfrm>
          <a:prstGeom prst="roundRect">
            <a:avLst>
              <a:gd name="adj" fmla="val 4211"/>
            </a:avLst>
          </a:prstGeom>
          <a:solidFill>
            <a:schemeClr val="bg2"/>
          </a:solidFill>
          <a:ln/>
        </p:spPr>
      </p:sp>
      <p:sp>
        <p:nvSpPr>
          <p:cNvPr id="16" name="icon circle"/>
          <p:cNvSpPr/>
          <p:nvPr/>
        </p:nvSpPr>
        <p:spPr>
          <a:xfrm>
            <a:off x="6446520" y="1572768"/>
            <a:ext cx="457200" cy="457200"/>
          </a:xfrm>
          <a:prstGeom prst="ellipse">
            <a:avLst/>
          </a:prstGeom>
          <a:solidFill>
            <a:srgbClr val="D03B3B"/>
          </a:solidFill>
          <a:ln/>
        </p:spPr>
      </p:sp>
      <p:pic>
        <p:nvPicPr>
          <p:cNvPr id="17" name="FaTable icon" descr="preencoded.png">    </p:cNvPr>
          <p:cNvPicPr>
            <a:picLocks noChangeAspect="1"/>
          </p:cNvPicPr>
          <p:nvPr/>
        </p:nvPicPr>
        <p:blipFill>
          <a:blip r:embed="rId3"/>
          <a:stretch>
            <a:fillRect/>
          </a:stretch>
        </p:blipFill>
        <p:spPr>
          <a:xfrm>
            <a:off x="6560820" y="1687068"/>
            <a:ext cx="228600" cy="228600"/>
          </a:xfrm>
          <a:prstGeom prst="rect">
            <a:avLst/>
          </a:prstGeom>
        </p:spPr>
      </p:pic>
      <p:sp>
        <p:nvSpPr>
          <p:cNvPr id="18" name="Text 13"/>
          <p:cNvSpPr txBox="1"/>
          <p:nvPr/>
        </p:nvSpPr>
        <p:spPr>
          <a:xfrm>
            <a:off x="699516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bugs</a:t>
            </a:r>
            <a:endParaRPr lang="en-US" sz="1700" dirty="0"/>
          </a:p>
        </p:txBody>
      </p:sp>
      <p:sp>
        <p:nvSpPr>
          <p:cNvPr id="19" name="Text 14"/>
          <p:cNvSpPr txBox="1"/>
          <p:nvPr/>
        </p:nvSpPr>
        <p:spPr>
          <a:xfrm>
            <a:off x="644652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unique defect</a:t>
            </a:r>
            <a:endParaRPr lang="en-US" sz="1300" dirty="0"/>
          </a:p>
        </p:txBody>
      </p:sp>
      <p:sp>
        <p:nvSpPr>
          <p:cNvPr id="20" name="Text 15"/>
          <p:cNvSpPr txBox="1"/>
          <p:nvPr/>
        </p:nvSpPr>
        <p:spPr>
          <a:xfrm>
            <a:off x="644652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fingerprint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screenshot_path</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severity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confidence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 occurrences</a:t>
            </a:r>
            <a:endParaRPr lang="en-US" sz="1400" dirty="0"/>
          </a:p>
        </p:txBody>
      </p:sp>
      <p:sp>
        <p:nvSpPr>
          <p:cNvPr id="21" name="table bug_history"/>
          <p:cNvSpPr/>
          <p:nvPr/>
        </p:nvSpPr>
        <p:spPr>
          <a:xfrm>
            <a:off x="9052560" y="1371600"/>
            <a:ext cx="2606040" cy="4206240"/>
          </a:xfrm>
          <a:prstGeom prst="roundRect">
            <a:avLst>
              <a:gd name="adj" fmla="val 4211"/>
            </a:avLst>
          </a:prstGeom>
          <a:solidFill>
            <a:schemeClr val="bg2"/>
          </a:solidFill>
          <a:ln/>
        </p:spPr>
      </p:sp>
      <p:sp>
        <p:nvSpPr>
          <p:cNvPr id="22" name="icon circle"/>
          <p:cNvSpPr/>
          <p:nvPr/>
        </p:nvSpPr>
        <p:spPr>
          <a:xfrm>
            <a:off x="9281160" y="1572768"/>
            <a:ext cx="457200" cy="457200"/>
          </a:xfrm>
          <a:prstGeom prst="ellipse">
            <a:avLst/>
          </a:prstGeom>
          <a:solidFill>
            <a:srgbClr val="10243F"/>
          </a:solidFill>
          <a:ln/>
        </p:spPr>
      </p:sp>
      <p:pic>
        <p:nvPicPr>
          <p:cNvPr id="23" name="FaTable icon" descr="preencoded.png">    </p:cNvPr>
          <p:cNvPicPr>
            <a:picLocks noChangeAspect="1"/>
          </p:cNvPicPr>
          <p:nvPr/>
        </p:nvPicPr>
        <p:blipFill>
          <a:blip r:embed="rId4"/>
          <a:stretch>
            <a:fillRect/>
          </a:stretch>
        </p:blipFill>
        <p:spPr>
          <a:xfrm>
            <a:off x="9395460" y="1687068"/>
            <a:ext cx="228600" cy="228600"/>
          </a:xfrm>
          <a:prstGeom prst="rect">
            <a:avLst/>
          </a:prstGeom>
        </p:spPr>
      </p:pic>
      <p:sp>
        <p:nvSpPr>
          <p:cNvPr id="24" name="Text 18"/>
          <p:cNvSpPr txBox="1"/>
          <p:nvPr/>
        </p:nvSpPr>
        <p:spPr>
          <a:xfrm>
            <a:off x="982980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bug_history</a:t>
            </a:r>
            <a:endParaRPr lang="en-US" sz="1700" dirty="0"/>
          </a:p>
        </p:txBody>
      </p:sp>
      <p:sp>
        <p:nvSpPr>
          <p:cNvPr id="25" name="Text 19"/>
          <p:cNvSpPr txBox="1"/>
          <p:nvPr/>
        </p:nvSpPr>
        <p:spPr>
          <a:xfrm>
            <a:off x="928116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Every status change</a:t>
            </a:r>
            <a:endParaRPr lang="en-US" sz="1300" dirty="0"/>
          </a:p>
        </p:txBody>
      </p:sp>
      <p:sp>
        <p:nvSpPr>
          <p:cNvPr id="26" name="Text 20"/>
          <p:cNvSpPr txBox="1"/>
          <p:nvPr/>
        </p:nvSpPr>
        <p:spPr>
          <a:xfrm>
            <a:off x="928116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bug_id → bugs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old_status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changed_at</a:t>
            </a:r>
            <a:endParaRPr lang="en-US" sz="1400" dirty="0"/>
          </a:p>
        </p:txBody>
      </p:sp>
      <p:sp>
        <p:nvSpPr>
          <p:cNvPr id="27" name="Text 2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600" i="1" dirty="0">
                <a:solidFill>
                  <a:schemeClr val="tx2"/>
                </a:solidFill>
              </a:rPr>
              <a:t>One file (data/bugs.db): every run, test result, bug and status change is stored and traceable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4: web dashboard for bug management</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Filter</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By severity, status and module</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Search</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Bug ID, test name or error text</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Bug details</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Error, screenshot, ML confidence, history</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Status workflow</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Open</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In Progress</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Resolved</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Every change is saved in bug_history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5: defect analytics</a:t>
            </a:r>
            <a:endParaRPr lang="en-US" sz="3000" dirty="0"/>
          </a:p>
        </p:txBody>
      </p:sp>
      <p:graphicFrame>
        <p:nvGraphicFramePr>
          <p:cNvPr id="3" name="bugs per module chart" descr=""/>
          <p:cNvGraphicFramePr/>
          <p:nvPr/>
        </p:nvGraphicFramePr>
        <p:xfrm>
          <a:off x="548640" y="1325880"/>
          <a:ext cx="548640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severity chart" descr=""/>
          <p:cNvGraphicFramePr/>
          <p:nvPr/>
        </p:nvGraphicFramePr>
        <p:xfrm>
          <a:off x="6172200" y="1325880"/>
          <a:ext cx="5468112" cy="251460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trend chart" descr=""/>
          <p:cNvGraphicFramePr/>
          <p:nvPr/>
        </p:nvGraphicFramePr>
        <p:xfrm>
          <a:off x="548640" y="3977640"/>
          <a:ext cx="11091672" cy="22402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6: flaky test detection</a:t>
            </a:r>
            <a:endParaRPr lang="en-US" sz="3000" dirty="0"/>
          </a:p>
        </p:txBody>
      </p:sp>
      <p:sp>
        <p:nvSpPr>
          <p:cNvPr id="3" name="flaky method card"/>
          <p:cNvSpPr/>
          <p:nvPr/>
        </p:nvSpPr>
        <p:spPr>
          <a:xfrm>
            <a:off x="548640" y="1371600"/>
            <a:ext cx="4937760" cy="4800600"/>
          </a:xfrm>
          <a:prstGeom prst="roundRect">
            <a:avLst>
              <a:gd name="adj" fmla="val 2286"/>
            </a:avLst>
          </a:prstGeom>
          <a:solidFill>
            <a:schemeClr val="bg2"/>
          </a:solidFill>
          <a:ln/>
        </p:spPr>
      </p:sp>
      <p:sp>
        <p:nvSpPr>
          <p:cNvPr id="4" name="Text 2"/>
          <p:cNvSpPr txBox="1"/>
          <p:nvPr/>
        </p:nvSpPr>
        <p:spPr>
          <a:xfrm>
            <a:off x="822960" y="1600200"/>
            <a:ext cx="4480560" cy="365760"/>
          </a:xfrm>
          <a:prstGeom prst="rect">
            <a:avLst/>
          </a:prstGeom>
          <a:noFill/>
          <a:ln/>
        </p:spPr>
        <p:txBody>
          <a:bodyPr wrap="square" lIns="0" tIns="0" rIns="0" bIns="0" rtlCol="0" anchor="t"/>
          <a:lstStyle/>
          <a:p>
            <a:pPr indent="0" marL="0">
              <a:buNone/>
            </a:pPr>
            <a:r>
              <a:rPr lang="en-US" sz="1800" b="1" dirty="0">
                <a:solidFill>
                  <a:schemeClr val="tx2"/>
                </a:solidFill>
              </a:rPr>
              <a:t>Rule (last 10 runs, minimum 3)</a:t>
            </a:r>
            <a:endParaRPr lang="en-US" sz="1800" dirty="0"/>
          </a:p>
        </p:txBody>
      </p:sp>
      <p:sp>
        <p:nvSpPr>
          <p:cNvPr id="5" name="Flaky marker"/>
          <p:cNvSpPr/>
          <p:nvPr/>
        </p:nvSpPr>
        <p:spPr>
          <a:xfrm>
            <a:off x="822960" y="2176272"/>
            <a:ext cx="201168" cy="201168"/>
          </a:xfrm>
          <a:prstGeom prst="ellipse">
            <a:avLst/>
          </a:prstGeom>
          <a:solidFill>
            <a:srgbClr val="6250D6"/>
          </a:solidFill>
          <a:ln/>
        </p:spPr>
      </p:sp>
      <p:sp>
        <p:nvSpPr>
          <p:cNvPr id="6" name="Text 4"/>
          <p:cNvSpPr txBox="1"/>
          <p:nvPr/>
        </p:nvSpPr>
        <p:spPr>
          <a:xfrm>
            <a:off x="1188720" y="21031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Flaky: </a:t>
            </a:r>
            <a:pPr indent="0" marL="0">
              <a:buNone/>
            </a:pPr>
            <a:r>
              <a:rPr lang="en-US" sz="1500" dirty="0">
                <a:solidFill>
                  <a:schemeClr val="tx1"/>
                </a:solidFill>
              </a:rPr>
              <a:t>passed at least once and failed at least once</a:t>
            </a:r>
            <a:endParaRPr lang="en-US" sz="1500" dirty="0"/>
          </a:p>
        </p:txBody>
      </p:sp>
      <p:sp>
        <p:nvSpPr>
          <p:cNvPr id="7" name="Consistently failing marker"/>
          <p:cNvSpPr/>
          <p:nvPr/>
        </p:nvSpPr>
        <p:spPr>
          <a:xfrm>
            <a:off x="822960" y="2862072"/>
            <a:ext cx="201168" cy="201168"/>
          </a:xfrm>
          <a:prstGeom prst="ellipse">
            <a:avLst/>
          </a:prstGeom>
          <a:solidFill>
            <a:srgbClr val="D03B3B"/>
          </a:solidFill>
          <a:ln/>
        </p:spPr>
      </p:sp>
      <p:sp>
        <p:nvSpPr>
          <p:cNvPr id="8" name="Text 6"/>
          <p:cNvSpPr txBox="1"/>
          <p:nvPr/>
        </p:nvSpPr>
        <p:spPr>
          <a:xfrm>
            <a:off x="1188720" y="27889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Consistently failing: </a:t>
            </a:r>
            <a:pPr indent="0" marL="0">
              <a:buNone/>
            </a:pPr>
            <a:r>
              <a:rPr lang="en-US" sz="1500" dirty="0">
                <a:solidFill>
                  <a:schemeClr val="tx1"/>
                </a:solidFill>
              </a:rPr>
              <a:t>failed every run: a real defect</a:t>
            </a:r>
            <a:endParaRPr lang="en-US" sz="1500" dirty="0"/>
          </a:p>
        </p:txBody>
      </p:sp>
      <p:sp>
        <p:nvSpPr>
          <p:cNvPr id="9" name="Stable marker"/>
          <p:cNvSpPr/>
          <p:nvPr/>
        </p:nvSpPr>
        <p:spPr>
          <a:xfrm>
            <a:off x="822960" y="3547872"/>
            <a:ext cx="201168" cy="201168"/>
          </a:xfrm>
          <a:prstGeom prst="ellipse">
            <a:avLst/>
          </a:prstGeom>
          <a:solidFill>
            <a:srgbClr val="1B8E4E"/>
          </a:solidFill>
          <a:ln/>
        </p:spPr>
      </p:sp>
      <p:sp>
        <p:nvSpPr>
          <p:cNvPr id="10" name="Text 8"/>
          <p:cNvSpPr txBox="1"/>
          <p:nvPr/>
        </p:nvSpPr>
        <p:spPr>
          <a:xfrm>
            <a:off x="1188720" y="34747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Stable: </a:t>
            </a:r>
            <a:pPr indent="0" marL="0">
              <a:buNone/>
            </a:pPr>
            <a:r>
              <a:rPr lang="en-US" sz="1500" dirty="0">
                <a:solidFill>
                  <a:schemeClr val="tx1"/>
                </a:solidFill>
              </a:rPr>
              <a:t>passed every run</a:t>
            </a:r>
            <a:endParaRPr lang="en-US" sz="1500" dirty="0"/>
          </a:p>
        </p:txBody>
      </p:sp>
      <p:sp>
        <p:nvSpPr>
          <p:cNvPr id="11" name="Text 9"/>
          <p:cNvSpPr txBox="1"/>
          <p:nvPr/>
        </p:nvSpPr>
        <p:spPr>
          <a:xfrm>
            <a:off x="822960" y="4251960"/>
            <a:ext cx="4480560" cy="36576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Example:  P F P F F F P P P P</a:t>
            </a:r>
            <a:endParaRPr lang="en-US" sz="1600" dirty="0"/>
          </a:p>
        </p:txBody>
      </p:sp>
      <p:sp>
        <p:nvSpPr>
          <p:cNvPr id="12" name="Text 10"/>
          <p:cNvSpPr txBox="1"/>
          <p:nvPr/>
        </p:nvSpPr>
        <p:spPr>
          <a:xfrm>
            <a:off x="822960" y="4709160"/>
            <a:ext cx="4480560" cy="13716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Failure rate = fails / runs = 4/10 = 40%</a:t>
            </a:r>
            <a:endParaRPr lang="en-US" sz="1500" dirty="0"/>
          </a:p>
          <a:p>
            <a:pPr marL="342900" indent="-342900">
              <a:spcAft>
                <a:spcPts val="400"/>
              </a:spcAft>
              <a:buSzPct val="100000"/>
              <a:buChar char="•"/>
            </a:pPr>
            <a:r>
              <a:rPr lang="en-US" sz="1500" dirty="0">
                <a:solidFill>
                  <a:schemeClr val="tx1"/>
                </a:solidFill>
              </a:rPr>
              <a:t>Flip rate = changes / (runs − 1) = 4/9 = 44%</a:t>
            </a:r>
            <a:endParaRPr lang="en-US" sz="1500" dirty="0"/>
          </a:p>
          <a:p>
            <a:pPr marL="342900" indent="-342900">
              <a:spcAft>
                <a:spcPts val="400"/>
              </a:spcAft>
              <a:buSzPct val="100000"/>
              <a:buChar char="•"/>
            </a:pPr>
            <a:r>
              <a:rPr lang="en-US" sz="1500" dirty="0">
                <a:solidFill>
                  <a:schemeClr val="tx1"/>
                </a:solidFill>
              </a:rPr>
              <a:t>Retries disabled: flakiness is measured, not hidden</a:t>
            </a:r>
            <a:endParaRPr lang="en-US" sz="1500" dirty="0"/>
          </a:p>
        </p:txBody>
      </p:sp>
      <p:sp>
        <p:nvSpPr>
          <p:cNvPr id="13" name="Text 11"/>
          <p:cNvSpPr txBox="1"/>
          <p:nvPr/>
        </p:nvSpPr>
        <p:spPr>
          <a:xfrm>
            <a:off x="5852160" y="1371600"/>
            <a:ext cx="5788152" cy="365760"/>
          </a:xfrm>
          <a:prstGeom prst="rect">
            <a:avLst/>
          </a:prstGeom>
          <a:noFill/>
          <a:ln/>
        </p:spPr>
        <p:txBody>
          <a:bodyPr wrap="square" lIns="0" tIns="0" rIns="0" bIns="0" rtlCol="0" anchor="t"/>
          <a:lstStyle/>
          <a:p>
            <a:pPr indent="0" marL="0">
              <a:buNone/>
            </a:pPr>
            <a:r>
              <a:rPr lang="en-US" sz="1800" b="1" dirty="0">
                <a:solidFill>
                  <a:schemeClr val="tx2"/>
                </a:solidFill>
              </a:rPr>
              <a:t>Detected in 10 runs of the demo suite</a:t>
            </a:r>
            <a:endParaRPr lang="en-US" sz="1800" dirty="0"/>
          </a:p>
        </p:txBody>
      </p:sp>
      <p:graphicFrame>
        <p:nvGraphicFramePr>
          <p:cNvPr id="15" name="flaky tests table"/>
          <p:cNvGraphicFramePr>
            <a:graphicFrameLocks noGrp="1"/>
          </p:cNvGraphicFramePr>
          <p:nvPr>
            <p:extLst>
              <p:ext uri="{D42A27DB-BD31-4B8C-83A1-F6EECF244321}">
                <p14:modId xmlns:p14="http://schemas.microsoft.com/office/powerpoint/2010/main" val="1579011935"/>
              </p:ext>
            </p:extLst>
          </p:nvPr>
        </p:nvGraphicFramePr>
        <p:xfrm>
          <a:off x="5852160" y="1874520"/>
          <a:ext cx="5788152" cy="914400"/>
        </p:xfrm>
        <a:graphic>
          <a:graphicData uri="http://schemas.openxmlformats.org/drawingml/2006/table">
            <a:tbl>
              <a:tblPr/>
              <a:tblGrid>
                <a:gridCol w="2377440"/>
                <a:gridCol w="822960"/>
                <a:gridCol w="822960"/>
                <a:gridCol w="1764792"/>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Flaky test</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Fail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Flip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History</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Profile: saving the profile shows a success message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Cart: adding a product updates the cart badge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15" name="Text 12"/>
          <p:cNvSpPr txBox="1"/>
          <p:nvPr/>
        </p:nvSpPr>
        <p:spPr>
          <a:xfrm>
            <a:off x="5852160" y="3977640"/>
            <a:ext cx="5788152" cy="365760"/>
          </a:xfrm>
          <a:prstGeom prst="rect">
            <a:avLst/>
          </a:prstGeom>
          <a:noFill/>
          <a:ln/>
        </p:spPr>
        <p:txBody>
          <a:bodyPr wrap="square" lIns="0" tIns="0" rIns="0" bIns="0" rtlCol="0" anchor="t"/>
          <a:lstStyle/>
          <a:p>
            <a:pPr indent="0" marL="0">
              <a:buNone/>
            </a:pPr>
            <a:r>
              <a:rPr lang="en-US" sz="1800" b="1" dirty="0">
                <a:solidFill>
                  <a:schemeClr val="tx2"/>
                </a:solidFill>
              </a:rPr>
              <a:t>All 17 tests by verdict</a:t>
            </a:r>
            <a:endParaRPr lang="en-US" sz="1800" dirty="0"/>
          </a:p>
        </p:txBody>
      </p:sp>
      <p:sp>
        <p:nvSpPr>
          <p:cNvPr id="16" name="verdict Flaky"/>
          <p:cNvSpPr/>
          <p:nvPr/>
        </p:nvSpPr>
        <p:spPr>
          <a:xfrm>
            <a:off x="5852160" y="4434840"/>
            <a:ext cx="1837944" cy="1325880"/>
          </a:xfrm>
          <a:prstGeom prst="roundRect">
            <a:avLst>
              <a:gd name="adj" fmla="val 8276"/>
            </a:avLst>
          </a:prstGeom>
          <a:solidFill>
            <a:schemeClr val="bg2"/>
          </a:solidFill>
          <a:ln/>
        </p:spPr>
      </p:sp>
      <p:sp>
        <p:nvSpPr>
          <p:cNvPr id="17" name="Text 14"/>
          <p:cNvSpPr txBox="1"/>
          <p:nvPr/>
        </p:nvSpPr>
        <p:spPr>
          <a:xfrm>
            <a:off x="6035040" y="4526280"/>
            <a:ext cx="1463040" cy="640080"/>
          </a:xfrm>
          <a:prstGeom prst="rect">
            <a:avLst/>
          </a:prstGeom>
          <a:noFill/>
          <a:ln/>
        </p:spPr>
        <p:txBody>
          <a:bodyPr wrap="square" lIns="0" tIns="0" rIns="0" bIns="0" rtlCol="0" anchor="t"/>
          <a:lstStyle/>
          <a:p>
            <a:pPr indent="0" marL="0">
              <a:buNone/>
            </a:pPr>
            <a:r>
              <a:rPr lang="en-US" sz="3600" b="1" dirty="0">
                <a:solidFill>
                  <a:srgbClr val="6250D6"/>
                </a:solidFill>
                <a:latin typeface="Arial" pitchFamily="34" charset="0"/>
                <a:ea typeface="Arial" pitchFamily="34" charset="-122"/>
                <a:cs typeface="Arial" pitchFamily="34" charset="-120"/>
              </a:rPr>
              <a:t>2</a:t>
            </a:r>
            <a:endParaRPr lang="en-US" sz="3600" dirty="0"/>
          </a:p>
        </p:txBody>
      </p:sp>
      <p:sp>
        <p:nvSpPr>
          <p:cNvPr id="18" name="Text 15"/>
          <p:cNvSpPr txBox="1"/>
          <p:nvPr/>
        </p:nvSpPr>
        <p:spPr>
          <a:xfrm>
            <a:off x="6035040"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Flaky</a:t>
            </a:r>
            <a:endParaRPr lang="en-US" sz="1400" dirty="0"/>
          </a:p>
        </p:txBody>
      </p:sp>
      <p:sp>
        <p:nvSpPr>
          <p:cNvPr id="19" name="verdict Consistently failing"/>
          <p:cNvSpPr/>
          <p:nvPr/>
        </p:nvSpPr>
        <p:spPr>
          <a:xfrm>
            <a:off x="7827264" y="4434840"/>
            <a:ext cx="1837944" cy="1325880"/>
          </a:xfrm>
          <a:prstGeom prst="roundRect">
            <a:avLst>
              <a:gd name="adj" fmla="val 8276"/>
            </a:avLst>
          </a:prstGeom>
          <a:solidFill>
            <a:schemeClr val="bg2"/>
          </a:solidFill>
          <a:ln/>
        </p:spPr>
      </p:sp>
      <p:sp>
        <p:nvSpPr>
          <p:cNvPr id="20" name="Text 17"/>
          <p:cNvSpPr txBox="1"/>
          <p:nvPr/>
        </p:nvSpPr>
        <p:spPr>
          <a:xfrm>
            <a:off x="8010144" y="4526280"/>
            <a:ext cx="1463040" cy="640080"/>
          </a:xfrm>
          <a:prstGeom prst="rect">
            <a:avLst/>
          </a:prstGeom>
          <a:noFill/>
          <a:ln/>
        </p:spPr>
        <p:txBody>
          <a:bodyPr wrap="square" lIns="0" tIns="0" rIns="0" bIns="0" rtlCol="0" anchor="t"/>
          <a:lstStyle/>
          <a:p>
            <a:pPr indent="0" marL="0">
              <a:buNone/>
            </a:pPr>
            <a:r>
              <a:rPr lang="en-US" sz="3600" b="1" dirty="0">
                <a:solidFill>
                  <a:srgbClr val="D03B3B"/>
                </a:solidFill>
                <a:latin typeface="Arial" pitchFamily="34" charset="0"/>
                <a:ea typeface="Arial" pitchFamily="34" charset="-122"/>
                <a:cs typeface="Arial" pitchFamily="34" charset="-120"/>
              </a:rPr>
              <a:t>9</a:t>
            </a:r>
            <a:endParaRPr lang="en-US" sz="3600" dirty="0"/>
          </a:p>
        </p:txBody>
      </p:sp>
      <p:sp>
        <p:nvSpPr>
          <p:cNvPr id="21" name="Text 18"/>
          <p:cNvSpPr txBox="1"/>
          <p:nvPr/>
        </p:nvSpPr>
        <p:spPr>
          <a:xfrm>
            <a:off x="8010144"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Consistently failing</a:t>
            </a:r>
            <a:endParaRPr lang="en-US" sz="1400" dirty="0"/>
          </a:p>
        </p:txBody>
      </p:sp>
      <p:sp>
        <p:nvSpPr>
          <p:cNvPr id="22" name="verdict Stable"/>
          <p:cNvSpPr/>
          <p:nvPr/>
        </p:nvSpPr>
        <p:spPr>
          <a:xfrm>
            <a:off x="9802368" y="4434840"/>
            <a:ext cx="1837944" cy="1325880"/>
          </a:xfrm>
          <a:prstGeom prst="roundRect">
            <a:avLst>
              <a:gd name="adj" fmla="val 8276"/>
            </a:avLst>
          </a:prstGeom>
          <a:solidFill>
            <a:schemeClr val="bg2"/>
          </a:solidFill>
          <a:ln/>
        </p:spPr>
      </p:sp>
      <p:sp>
        <p:nvSpPr>
          <p:cNvPr id="23" name="Text 20"/>
          <p:cNvSpPr txBox="1"/>
          <p:nvPr/>
        </p:nvSpPr>
        <p:spPr>
          <a:xfrm>
            <a:off x="9985248" y="4526280"/>
            <a:ext cx="1463040" cy="640080"/>
          </a:xfrm>
          <a:prstGeom prst="rect">
            <a:avLst/>
          </a:prstGeom>
          <a:noFill/>
          <a:ln/>
        </p:spPr>
        <p:txBody>
          <a:bodyPr wrap="square" lIns="0" tIns="0" rIns="0" bIns="0" rtlCol="0" anchor="t"/>
          <a:lstStyle/>
          <a:p>
            <a:pPr indent="0" marL="0">
              <a:buNone/>
            </a:pPr>
            <a:r>
              <a:rPr lang="en-US" sz="3600" b="1" dirty="0">
                <a:solidFill>
                  <a:srgbClr val="1B8E4E"/>
                </a:solidFill>
                <a:latin typeface="Arial" pitchFamily="34" charset="0"/>
                <a:ea typeface="Arial" pitchFamily="34" charset="-122"/>
                <a:cs typeface="Arial" pitchFamily="34" charset="-120"/>
              </a:rPr>
              <a:t>6</a:t>
            </a:r>
            <a:endParaRPr lang="en-US" sz="3600" dirty="0"/>
          </a:p>
        </p:txBody>
      </p:sp>
      <p:sp>
        <p:nvSpPr>
          <p:cNvPr id="24" name="Text 21"/>
          <p:cNvSpPr txBox="1"/>
          <p:nvPr/>
        </p:nvSpPr>
        <p:spPr>
          <a:xfrm>
            <a:off x="9985248"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Stable</a:t>
            </a:r>
            <a:endParaRPr lang="en-US" sz="1400" dirty="0"/>
          </a:p>
        </p:txBody>
      </p:sp>
      <p:sp>
        <p:nvSpPr>
          <p:cNvPr id="25" name="Text 22"/>
          <p:cNvSpPr txBox="1"/>
          <p:nvPr/>
        </p:nvSpPr>
        <p:spPr>
          <a:xfrm>
            <a:off x="5852160" y="5852160"/>
            <a:ext cx="5788152" cy="365760"/>
          </a:xfrm>
          <a:prstGeom prst="rect">
            <a:avLst/>
          </a:prstGeom>
          <a:noFill/>
          <a:ln/>
        </p:spPr>
        <p:txBody>
          <a:bodyPr wrap="square" lIns="0" tIns="0" rIns="0" bIns="0" rtlCol="0" anchor="t"/>
          <a:lstStyle/>
          <a:p>
            <a:pPr indent="0" marL="0">
              <a:buNone/>
            </a:pPr>
            <a:r>
              <a:rPr lang="en-US" sz="1400" i="1" dirty="0">
                <a:solidFill>
                  <a:srgbClr val="5B6472"/>
                </a:solidFill>
              </a:rPr>
              <a:t>The consistently failing tests are real defects, not flakiness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7: email alerts for Critical bugs</a:t>
            </a:r>
            <a:endParaRPr lang="en-US" sz="3000" dirty="0"/>
          </a:p>
        </p:txBody>
      </p:sp>
      <p:sp>
        <p:nvSpPr>
          <p:cNvPr id="3" name="alert email screenshot frame"/>
          <p:cNvSpPr/>
          <p:nvPr/>
        </p:nvSpPr>
        <p:spPr>
          <a:xfrm>
            <a:off x="548640" y="1371600"/>
            <a:ext cx="5394960" cy="4373187"/>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alert email screenshot" descr="preencoded.png">    </p:cNvPr>
          <p:cNvPicPr>
            <a:picLocks noChangeAspect="1"/>
          </p:cNvPicPr>
          <p:nvPr/>
        </p:nvPicPr>
        <p:blipFill>
          <a:blip r:embed="rId1"/>
          <a:stretch>
            <a:fillRect/>
          </a:stretch>
        </p:blipFill>
        <p:spPr>
          <a:xfrm>
            <a:off x="548640" y="1371600"/>
            <a:ext cx="5394960" cy="4373187"/>
          </a:xfrm>
          <a:prstGeom prst="rect">
            <a:avLst/>
          </a:prstGeom>
        </p:spPr>
      </p:pic>
      <p:sp>
        <p:nvSpPr>
          <p:cNvPr id="5" name="alert step 1"/>
          <p:cNvSpPr/>
          <p:nvPr/>
        </p:nvSpPr>
        <p:spPr>
          <a:xfrm>
            <a:off x="6400800" y="146304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7178040" y="1444752"/>
            <a:ext cx="4480560" cy="347472"/>
          </a:xfrm>
          <a:prstGeom prst="rect">
            <a:avLst/>
          </a:prstGeom>
          <a:noFill/>
          <a:ln/>
        </p:spPr>
        <p:txBody>
          <a:bodyPr wrap="square" lIns="0" tIns="0" rIns="0" bIns="0" rtlCol="0" anchor="t"/>
          <a:lstStyle/>
          <a:p>
            <a:pPr indent="0" marL="0">
              <a:buNone/>
            </a:pPr>
            <a:r>
              <a:rPr lang="en-US" sz="1800" b="1" dirty="0">
                <a:solidFill>
                  <a:schemeClr val="tx2"/>
                </a:solidFill>
              </a:rPr>
              <a:t>Run ends with a Critical bug</a:t>
            </a:r>
            <a:endParaRPr lang="en-US" sz="1800" dirty="0"/>
          </a:p>
        </p:txBody>
      </p:sp>
      <p:sp>
        <p:nvSpPr>
          <p:cNvPr id="7" name="Text 4"/>
          <p:cNvSpPr txBox="1"/>
          <p:nvPr/>
        </p:nvSpPr>
        <p:spPr>
          <a:xfrm>
            <a:off x="7178040" y="1810512"/>
            <a:ext cx="4480560" cy="365760"/>
          </a:xfrm>
          <a:prstGeom prst="rect">
            <a:avLst/>
          </a:prstGeom>
          <a:noFill/>
          <a:ln/>
        </p:spPr>
        <p:txBody>
          <a:bodyPr wrap="square" lIns="0" tIns="0" rIns="0" bIns="0" rtlCol="0" anchor="t"/>
          <a:lstStyle/>
          <a:p>
            <a:pPr indent="0" marL="0">
              <a:buNone/>
            </a:pPr>
            <a:r>
              <a:rPr lang="en-US" sz="1500" dirty="0">
                <a:solidFill>
                  <a:schemeClr val="tx1"/>
                </a:solidFill>
              </a:rPr>
              <a:t>new or already known, in any module</a:t>
            </a:r>
            <a:endParaRPr lang="en-US" sz="1500" dirty="0"/>
          </a:p>
        </p:txBody>
      </p:sp>
      <p:sp>
        <p:nvSpPr>
          <p:cNvPr id="8" name="arrow"/>
          <p:cNvSpPr/>
          <p:nvPr/>
        </p:nvSpPr>
        <p:spPr>
          <a:xfrm>
            <a:off x="6675120" y="2057400"/>
            <a:ext cx="0" cy="548640"/>
          </a:xfrm>
          <a:prstGeom prst="line">
            <a:avLst/>
          </a:prstGeom>
          <a:noFill/>
          <a:ln w="25400">
            <a:solidFill>
              <a:srgbClr val="5B6472"/>
            </a:solidFill>
            <a:prstDash val="solid"/>
            <a:tailEnd type="triangle"/>
          </a:ln>
        </p:spPr>
      </p:sp>
      <p:sp>
        <p:nvSpPr>
          <p:cNvPr id="9" name="alert step 2"/>
          <p:cNvSpPr/>
          <p:nvPr/>
        </p:nvSpPr>
        <p:spPr>
          <a:xfrm>
            <a:off x="6400800" y="269748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7178040" y="2679192"/>
            <a:ext cx="4480560" cy="347472"/>
          </a:xfrm>
          <a:prstGeom prst="rect">
            <a:avLst/>
          </a:prstGeom>
          <a:noFill/>
          <a:ln/>
        </p:spPr>
        <p:txBody>
          <a:bodyPr wrap="square" lIns="0" tIns="0" rIns="0" bIns="0" rtlCol="0" anchor="t"/>
          <a:lstStyle/>
          <a:p>
            <a:pPr indent="0" marL="0">
              <a:buNone/>
            </a:pPr>
            <a:r>
              <a:rPr lang="en-US" sz="1800" b="1" dirty="0">
                <a:solidFill>
                  <a:schemeClr val="tx2"/>
                </a:solidFill>
              </a:rPr>
              <a:t>One email to every address in .env</a:t>
            </a:r>
            <a:endParaRPr lang="en-US" sz="1800" dirty="0"/>
          </a:p>
        </p:txBody>
      </p:sp>
      <p:sp>
        <p:nvSpPr>
          <p:cNvPr id="11" name="Text 8"/>
          <p:cNvSpPr txBox="1"/>
          <p:nvPr/>
        </p:nvSpPr>
        <p:spPr>
          <a:xfrm>
            <a:off x="7178040" y="3044952"/>
            <a:ext cx="4480560" cy="365760"/>
          </a:xfrm>
          <a:prstGeom prst="rect">
            <a:avLst/>
          </a:prstGeom>
          <a:noFill/>
          <a:ln/>
        </p:spPr>
        <p:txBody>
          <a:bodyPr wrap="square" lIns="0" tIns="0" rIns="0" bIns="0" rtlCol="0" anchor="t"/>
          <a:lstStyle/>
          <a:p>
            <a:pPr indent="0" marL="0">
              <a:buNone/>
            </a:pPr>
            <a:r>
              <a:rPr lang="en-US" sz="1500" dirty="0">
                <a:solidFill>
                  <a:schemeClr val="tx1"/>
                </a:solidFill>
              </a:rPr>
              <a:t>Nodemailer via SMTP (Gmail App Password)</a:t>
            </a:r>
            <a:endParaRPr lang="en-US" sz="1500" dirty="0"/>
          </a:p>
        </p:txBody>
      </p:sp>
      <p:sp>
        <p:nvSpPr>
          <p:cNvPr id="12" name="arrow"/>
          <p:cNvSpPr/>
          <p:nvPr/>
        </p:nvSpPr>
        <p:spPr>
          <a:xfrm>
            <a:off x="6675120" y="3291840"/>
            <a:ext cx="0" cy="548640"/>
          </a:xfrm>
          <a:prstGeom prst="line">
            <a:avLst/>
          </a:prstGeom>
          <a:noFill/>
          <a:ln w="25400">
            <a:solidFill>
              <a:srgbClr val="5B6472"/>
            </a:solidFill>
            <a:prstDash val="solid"/>
            <a:tailEnd type="triangle"/>
          </a:ln>
        </p:spPr>
      </p:sp>
      <p:sp>
        <p:nvSpPr>
          <p:cNvPr id="13" name="alert step 3"/>
          <p:cNvSpPr/>
          <p:nvPr/>
        </p:nvSpPr>
        <p:spPr>
          <a:xfrm>
            <a:off x="6400800" y="393192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178040" y="3913632"/>
            <a:ext cx="4480560" cy="347472"/>
          </a:xfrm>
          <a:prstGeom prst="rect">
            <a:avLst/>
          </a:prstGeom>
          <a:noFill/>
          <a:ln/>
        </p:spPr>
        <p:txBody>
          <a:bodyPr wrap="square" lIns="0" tIns="0" rIns="0" bIns="0" rtlCol="0" anchor="t"/>
          <a:lstStyle/>
          <a:p>
            <a:pPr indent="0" marL="0">
              <a:buNone/>
            </a:pPr>
            <a:r>
              <a:rPr lang="en-US" sz="1800" b="1" dirty="0">
                <a:solidFill>
                  <a:schemeClr val="tx2"/>
                </a:solidFill>
              </a:rPr>
              <a:t>Clear snapshot of each Critical bug</a:t>
            </a:r>
            <a:endParaRPr lang="en-US" sz="1800" dirty="0"/>
          </a:p>
        </p:txBody>
      </p:sp>
      <p:sp>
        <p:nvSpPr>
          <p:cNvPr id="15" name="Text 12"/>
          <p:cNvSpPr txBox="1"/>
          <p:nvPr/>
        </p:nvSpPr>
        <p:spPr>
          <a:xfrm>
            <a:off x="7178040" y="4279392"/>
            <a:ext cx="4480560" cy="365760"/>
          </a:xfrm>
          <a:prstGeom prst="rect">
            <a:avLst/>
          </a:prstGeom>
          <a:noFill/>
          <a:ln/>
        </p:spPr>
        <p:txBody>
          <a:bodyPr wrap="square" lIns="0" tIns="0" rIns="0" bIns="0" rtlCol="0" anchor="t"/>
          <a:lstStyle/>
          <a:p>
            <a:pPr indent="0" marL="0">
              <a:buNone/>
            </a:pPr>
            <a:r>
              <a:rPr lang="en-US" sz="1500" dirty="0">
                <a:solidFill>
                  <a:schemeClr val="tx1"/>
                </a:solidFill>
              </a:rPr>
              <a:t>error, details and screenshot inside the email</a:t>
            </a:r>
            <a:endParaRPr lang="en-US" sz="1500" dirty="0"/>
          </a:p>
        </p:txBody>
      </p:sp>
      <p:sp>
        <p:nvSpPr>
          <p:cNvPr id="16" name="alert notes"/>
          <p:cNvSpPr/>
          <p:nvPr/>
        </p:nvSpPr>
        <p:spPr>
          <a:xfrm>
            <a:off x="6400800" y="5166360"/>
            <a:ext cx="5239512" cy="1005840"/>
          </a:xfrm>
          <a:prstGeom prst="roundRect">
            <a:avLst>
              <a:gd name="adj" fmla="val 10909"/>
            </a:avLst>
          </a:prstGeom>
          <a:solidFill>
            <a:schemeClr val="bg2"/>
          </a:solidFill>
          <a:ln/>
        </p:spPr>
      </p:sp>
      <p:sp>
        <p:nvSpPr>
          <p:cNvPr id="17" name="Text 14"/>
          <p:cNvSpPr txBox="1"/>
          <p:nvPr/>
        </p:nvSpPr>
        <p:spPr>
          <a:xfrm>
            <a:off x="6629400" y="5303520"/>
            <a:ext cx="4846320" cy="7772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No Critical bug in the run = no email</a:t>
            </a:r>
            <a:endParaRPr lang="en-US" sz="1400" dirty="0"/>
          </a:p>
          <a:p>
            <a:pPr marL="342900" indent="-342900">
              <a:spcAft>
                <a:spcPts val="300"/>
              </a:spcAft>
              <a:buSzPct val="100000"/>
              <a:buChar char="•"/>
            </a:pPr>
            <a:r>
              <a:rPr lang="en-US" sz="1400" dirty="0">
                <a:solidFill>
                  <a:schemeClr val="tx1"/>
                </a:solidFill>
              </a:rPr>
              <a:t>No SMTP configured: saved as HTML preview in reports/alerts/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Additional feature: broken link checker</a:t>
            </a:r>
            <a:endParaRPr lang="en-US" sz="3000" dirty="0"/>
          </a:p>
        </p:txBody>
      </p:sp>
      <p:sp>
        <p:nvSpPr>
          <p:cNvPr id="3" name="link step Crawl"/>
          <p:cNvSpPr/>
          <p:nvPr/>
        </p:nvSpPr>
        <p:spPr>
          <a:xfrm>
            <a:off x="548640" y="1371600"/>
            <a:ext cx="3566160" cy="1508760"/>
          </a:xfrm>
          <a:prstGeom prst="roundRect">
            <a:avLst>
              <a:gd name="adj" fmla="val 7273"/>
            </a:avLst>
          </a:prstGeom>
          <a:solidFill>
            <a:schemeClr val="bg2"/>
          </a:solidFill>
          <a:ln/>
        </p:spPr>
      </p:sp>
      <p:sp>
        <p:nvSpPr>
          <p:cNvPr id="4" name="icon circle"/>
          <p:cNvSpPr/>
          <p:nvPr/>
        </p:nvSpPr>
        <p:spPr>
          <a:xfrm>
            <a:off x="777240" y="1572768"/>
            <a:ext cx="548640" cy="548640"/>
          </a:xfrm>
          <a:prstGeom prst="ellipse">
            <a:avLst/>
          </a:prstGeom>
          <a:solidFill>
            <a:srgbClr val="10243F"/>
          </a:solidFill>
          <a:ln/>
        </p:spPr>
      </p:sp>
      <p:pic>
        <p:nvPicPr>
          <p:cNvPr id="5" name="FaSitemap icon" descr="preencoded.png">    </p:cNvPr>
          <p:cNvPicPr>
            <a:picLocks noChangeAspect="1"/>
          </p:cNvPicPr>
          <p:nvPr/>
        </p:nvPicPr>
        <p:blipFill>
          <a:blip r:embed="rId1"/>
          <a:stretch>
            <a:fillRect/>
          </a:stretch>
        </p:blipFill>
        <p:spPr>
          <a:xfrm>
            <a:off x="914400" y="1709928"/>
            <a:ext cx="274320" cy="274320"/>
          </a:xfrm>
          <a:prstGeom prst="rect">
            <a:avLst/>
          </a:prstGeom>
        </p:spPr>
      </p:pic>
      <p:sp>
        <p:nvSpPr>
          <p:cNvPr id="6" name="Text 3"/>
          <p:cNvSpPr txBox="1"/>
          <p:nvPr/>
        </p:nvSpPr>
        <p:spPr>
          <a:xfrm>
            <a:off x="150876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1. Crawl</a:t>
            </a:r>
            <a:endParaRPr lang="en-US" sz="1800" dirty="0"/>
          </a:p>
        </p:txBody>
      </p:sp>
      <p:sp>
        <p:nvSpPr>
          <p:cNvPr id="7" name="Text 4"/>
          <p:cNvSpPr txBox="1"/>
          <p:nvPr/>
        </p:nvSpPr>
        <p:spPr>
          <a:xfrm>
            <a:off x="77724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Open every page of the website in a real browser and collect all &lt;a href&gt; links</a:t>
            </a:r>
            <a:endParaRPr lang="en-US" sz="1300" dirty="0"/>
          </a:p>
        </p:txBody>
      </p:sp>
      <p:sp>
        <p:nvSpPr>
          <p:cNvPr id="8" name="arrow"/>
          <p:cNvSpPr/>
          <p:nvPr/>
        </p:nvSpPr>
        <p:spPr>
          <a:xfrm>
            <a:off x="4133088" y="2121408"/>
            <a:ext cx="146304" cy="0"/>
          </a:xfrm>
          <a:prstGeom prst="line">
            <a:avLst/>
          </a:prstGeom>
          <a:noFill/>
          <a:ln w="25400">
            <a:solidFill>
              <a:srgbClr val="10243F"/>
            </a:solidFill>
            <a:prstDash val="solid"/>
            <a:tailEnd type="triangle"/>
          </a:ln>
        </p:spPr>
      </p:sp>
      <p:sp>
        <p:nvSpPr>
          <p:cNvPr id="9" name="link step Check"/>
          <p:cNvSpPr/>
          <p:nvPr/>
        </p:nvSpPr>
        <p:spPr>
          <a:xfrm>
            <a:off x="4297680" y="1371600"/>
            <a:ext cx="3566160" cy="1508760"/>
          </a:xfrm>
          <a:prstGeom prst="roundRect">
            <a:avLst>
              <a:gd name="adj" fmla="val 7273"/>
            </a:avLst>
          </a:prstGeom>
          <a:solidFill>
            <a:schemeClr val="bg2"/>
          </a:solidFill>
          <a:ln/>
        </p:spPr>
      </p:sp>
      <p:sp>
        <p:nvSpPr>
          <p:cNvPr id="10" name="icon circle"/>
          <p:cNvSpPr/>
          <p:nvPr/>
        </p:nvSpPr>
        <p:spPr>
          <a:xfrm>
            <a:off x="4526280" y="1572768"/>
            <a:ext cx="548640" cy="548640"/>
          </a:xfrm>
          <a:prstGeom prst="ellipse">
            <a:avLst/>
          </a:prstGeom>
          <a:solidFill>
            <a:srgbClr val="10243F"/>
          </a:solidFill>
          <a:ln/>
        </p:spPr>
      </p:sp>
      <p:pic>
        <p:nvPicPr>
          <p:cNvPr id="11" name="FaLink icon" descr="preencoded.png">    </p:cNvPr>
          <p:cNvPicPr>
            <a:picLocks noChangeAspect="1"/>
          </p:cNvPicPr>
          <p:nvPr/>
        </p:nvPicPr>
        <p:blipFill>
          <a:blip r:embed="rId2"/>
          <a:stretch>
            <a:fillRect/>
          </a:stretch>
        </p:blipFill>
        <p:spPr>
          <a:xfrm>
            <a:off x="4663440" y="1709928"/>
            <a:ext cx="274320" cy="274320"/>
          </a:xfrm>
          <a:prstGeom prst="rect">
            <a:avLst/>
          </a:prstGeom>
        </p:spPr>
      </p:pic>
      <p:sp>
        <p:nvSpPr>
          <p:cNvPr id="12" name="Text 8"/>
          <p:cNvSpPr txBox="1"/>
          <p:nvPr/>
        </p:nvSpPr>
        <p:spPr>
          <a:xfrm>
            <a:off x="525780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2. Check</a:t>
            </a:r>
            <a:endParaRPr lang="en-US" sz="1800" dirty="0"/>
          </a:p>
        </p:txBody>
      </p:sp>
      <p:sp>
        <p:nvSpPr>
          <p:cNvPr id="13" name="Text 9"/>
          <p:cNvSpPr txBox="1"/>
          <p:nvPr/>
        </p:nvSpPr>
        <p:spPr>
          <a:xfrm>
            <a:off x="452628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Request each unique link (HEAD, then GET) and record its HTTP status</a:t>
            </a:r>
            <a:endParaRPr lang="en-US" sz="1300" dirty="0"/>
          </a:p>
        </p:txBody>
      </p:sp>
      <p:sp>
        <p:nvSpPr>
          <p:cNvPr id="14" name="arrow"/>
          <p:cNvSpPr/>
          <p:nvPr/>
        </p:nvSpPr>
        <p:spPr>
          <a:xfrm>
            <a:off x="7882128" y="2121408"/>
            <a:ext cx="146304" cy="0"/>
          </a:xfrm>
          <a:prstGeom prst="line">
            <a:avLst/>
          </a:prstGeom>
          <a:noFill/>
          <a:ln w="25400">
            <a:solidFill>
              <a:srgbClr val="10243F"/>
            </a:solidFill>
            <a:prstDash val="solid"/>
            <a:tailEnd type="triangle"/>
          </a:ln>
        </p:spPr>
      </p:sp>
      <p:sp>
        <p:nvSpPr>
          <p:cNvPr id="15" name="link step Report"/>
          <p:cNvSpPr/>
          <p:nvPr/>
        </p:nvSpPr>
        <p:spPr>
          <a:xfrm>
            <a:off x="8046720" y="1371600"/>
            <a:ext cx="3566160" cy="1508760"/>
          </a:xfrm>
          <a:prstGeom prst="roundRect">
            <a:avLst>
              <a:gd name="adj" fmla="val 7273"/>
            </a:avLst>
          </a:prstGeom>
          <a:solidFill>
            <a:schemeClr val="bg2"/>
          </a:solidFill>
          <a:ln/>
        </p:spPr>
      </p:sp>
      <p:sp>
        <p:nvSpPr>
          <p:cNvPr id="16" name="icon circle"/>
          <p:cNvSpPr/>
          <p:nvPr/>
        </p:nvSpPr>
        <p:spPr>
          <a:xfrm>
            <a:off x="8275320" y="1572768"/>
            <a:ext cx="548640" cy="548640"/>
          </a:xfrm>
          <a:prstGeom prst="ellipse">
            <a:avLst/>
          </a:prstGeom>
          <a:solidFill>
            <a:srgbClr val="D03B3B"/>
          </a:solidFill>
          <a:ln/>
        </p:spPr>
      </p:sp>
      <p:pic>
        <p:nvPicPr>
          <p:cNvPr id="17" name="FaBug icon" descr="preencoded.png">    </p:cNvPr>
          <p:cNvPicPr>
            <a:picLocks noChangeAspect="1"/>
          </p:cNvPicPr>
          <p:nvPr/>
        </p:nvPicPr>
        <p:blipFill>
          <a:blip r:embed="rId3"/>
          <a:stretch>
            <a:fillRect/>
          </a:stretch>
        </p:blipFill>
        <p:spPr>
          <a:xfrm>
            <a:off x="8412480" y="1709928"/>
            <a:ext cx="274320" cy="274320"/>
          </a:xfrm>
          <a:prstGeom prst="rect">
            <a:avLst/>
          </a:prstGeom>
        </p:spPr>
      </p:pic>
      <p:sp>
        <p:nvSpPr>
          <p:cNvPr id="18" name="Text 13"/>
          <p:cNvSpPr txBox="1"/>
          <p:nvPr/>
        </p:nvSpPr>
        <p:spPr>
          <a:xfrm>
            <a:off x="900684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3. Report</a:t>
            </a:r>
            <a:endParaRPr lang="en-US" sz="1800" dirty="0"/>
          </a:p>
        </p:txBody>
      </p:sp>
      <p:sp>
        <p:nvSpPr>
          <p:cNvPr id="19" name="Text 14"/>
          <p:cNvSpPr txBox="1"/>
          <p:nvPr/>
        </p:nvSpPr>
        <p:spPr>
          <a:xfrm>
            <a:off x="827532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Every 4xx / 5xx or unreachable link becomes its own bug with ML severity</a:t>
            </a:r>
            <a:endParaRPr lang="en-US" sz="1300" dirty="0"/>
          </a:p>
        </p:txBody>
      </p:sp>
      <p:sp>
        <p:nvSpPr>
          <p:cNvPr id="20" name="Text 15"/>
          <p:cNvSpPr txBox="1"/>
          <p:nvPr/>
        </p:nvSpPr>
        <p:spPr>
          <a:xfrm>
            <a:off x="548640" y="31546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Broken links found in ShopEase</a:t>
            </a:r>
            <a:endParaRPr lang="en-US" sz="1800" dirty="0"/>
          </a:p>
        </p:txBody>
      </p:sp>
      <p:graphicFrame>
        <p:nvGraphicFramePr>
          <p:cNvPr id="17" name="broken links table"/>
          <p:cNvGraphicFramePr>
            <a:graphicFrameLocks noGrp="1"/>
          </p:cNvGraphicFramePr>
          <p:nvPr>
            <p:extLst>
              <p:ext uri="{D42A27DB-BD31-4B8C-83A1-F6EECF244321}">
                <p14:modId xmlns:p14="http://schemas.microsoft.com/office/powerpoint/2010/main" val="1579011935"/>
              </p:ext>
            </p:extLst>
          </p:nvPr>
        </p:nvGraphicFramePr>
        <p:xfrm>
          <a:off x="548640" y="3611880"/>
          <a:ext cx="7315200" cy="914400"/>
        </p:xfrm>
        <a:graphic>
          <a:graphicData uri="http://schemas.openxmlformats.org/drawingml/2006/table">
            <a:tbl>
              <a:tblPr/>
              <a:tblGrid>
                <a:gridCol w="3063240"/>
                <a:gridCol w="2148840"/>
                <a:gridCol w="91440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Link</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Found 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ML severity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/help</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"Help Center"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/terms.html</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"Terms and Conditions"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/downloads/laptop-pro-14-specs.pdf</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Products: "Spec sheet (PDF)"</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2" name="Text 16"/>
          <p:cNvSpPr txBox="1"/>
          <p:nvPr/>
        </p:nvSpPr>
        <p:spPr>
          <a:xfrm>
            <a:off x="548640" y="5943600"/>
            <a:ext cx="7315200" cy="320040"/>
          </a:xfrm>
          <a:prstGeom prst="rect">
            <a:avLst/>
          </a:prstGeom>
          <a:noFill/>
          <a:ln/>
        </p:spPr>
        <p:txBody>
          <a:bodyPr wrap="square" lIns="0" tIns="0" rIns="0" bIns="0" rtlCol="0" anchor="t"/>
          <a:lstStyle/>
          <a:p>
            <a:pPr indent="0" marL="0">
              <a:buNone/>
            </a:pPr>
            <a:r>
              <a:rPr lang="en-US" sz="1400" b="1" dirty="0">
                <a:solidFill>
                  <a:srgbClr val="10243F"/>
                </a:solidFill>
              </a:rPr>
              <a:t>Any website:  </a:t>
            </a:r>
            <a:pPr indent="0" marL="0">
              <a:buNone/>
            </a:pPr>
            <a:r>
              <a:rPr lang="en-US" sz="1300" dirty="0">
                <a:solidFill>
                  <a:schemeClr val="tx1"/>
                </a:solidFill>
                <a:latin typeface="Courier New" pitchFamily="34" charset="0"/>
                <a:ea typeface="Courier New" pitchFamily="34" charset="-122"/>
                <a:cs typeface="Courier New" pitchFamily="34" charset="-120"/>
              </a:rPr>
              <a:t>LINK_CHECK_START_URL=https://your-site.com npm run test:links</a:t>
            </a:r>
            <a:endParaRPr lang="en-US" sz="1400" dirty="0"/>
          </a:p>
        </p:txBody>
      </p:sp>
      <p:sp>
        <p:nvSpPr>
          <p:cNvPr id="23" name="link stat pages crawled"/>
          <p:cNvSpPr/>
          <p:nvPr/>
        </p:nvSpPr>
        <p:spPr>
          <a:xfrm>
            <a:off x="8183880" y="3154680"/>
            <a:ext cx="3456432" cy="868680"/>
          </a:xfrm>
          <a:prstGeom prst="roundRect">
            <a:avLst>
              <a:gd name="adj" fmla="val 12632"/>
            </a:avLst>
          </a:prstGeom>
          <a:solidFill>
            <a:schemeClr val="bg2"/>
          </a:solidFill>
          <a:ln/>
        </p:spPr>
      </p:sp>
      <p:sp>
        <p:nvSpPr>
          <p:cNvPr id="24" name="Text 18"/>
          <p:cNvSpPr txBox="1"/>
          <p:nvPr/>
        </p:nvSpPr>
        <p:spPr>
          <a:xfrm>
            <a:off x="8412480" y="326440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5" name="Text 19"/>
          <p:cNvSpPr txBox="1"/>
          <p:nvPr/>
        </p:nvSpPr>
        <p:spPr>
          <a:xfrm>
            <a:off x="9281160" y="3264408"/>
            <a:ext cx="2240280" cy="640080"/>
          </a:xfrm>
          <a:prstGeom prst="rect">
            <a:avLst/>
          </a:prstGeom>
          <a:noFill/>
          <a:ln/>
        </p:spPr>
        <p:txBody>
          <a:bodyPr wrap="square" lIns="0" tIns="0" rIns="0" bIns="0" rtlCol="0" anchor="ctr"/>
          <a:lstStyle/>
          <a:p>
            <a:pPr indent="0" marL="0">
              <a:buNone/>
            </a:pPr>
            <a:r>
              <a:rPr lang="en-US" sz="1500" dirty="0">
                <a:solidFill>
                  <a:schemeClr val="tx1"/>
                </a:solidFill>
              </a:rPr>
              <a:t>pages crawled</a:t>
            </a:r>
            <a:endParaRPr lang="en-US" sz="1500" dirty="0"/>
          </a:p>
        </p:txBody>
      </p:sp>
      <p:sp>
        <p:nvSpPr>
          <p:cNvPr id="26" name="link stat unique links checked"/>
          <p:cNvSpPr/>
          <p:nvPr/>
        </p:nvSpPr>
        <p:spPr>
          <a:xfrm>
            <a:off x="8183880" y="4160520"/>
            <a:ext cx="3456432" cy="868680"/>
          </a:xfrm>
          <a:prstGeom prst="roundRect">
            <a:avLst>
              <a:gd name="adj" fmla="val 12632"/>
            </a:avLst>
          </a:prstGeom>
          <a:solidFill>
            <a:schemeClr val="bg2"/>
          </a:solidFill>
          <a:ln/>
        </p:spPr>
      </p:sp>
      <p:sp>
        <p:nvSpPr>
          <p:cNvPr id="27" name="Text 21"/>
          <p:cNvSpPr txBox="1"/>
          <p:nvPr/>
        </p:nvSpPr>
        <p:spPr>
          <a:xfrm>
            <a:off x="8412480" y="427024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8" name="Text 22"/>
          <p:cNvSpPr txBox="1"/>
          <p:nvPr/>
        </p:nvSpPr>
        <p:spPr>
          <a:xfrm>
            <a:off x="9281160" y="4270248"/>
            <a:ext cx="2240280" cy="640080"/>
          </a:xfrm>
          <a:prstGeom prst="rect">
            <a:avLst/>
          </a:prstGeom>
          <a:noFill/>
          <a:ln/>
        </p:spPr>
        <p:txBody>
          <a:bodyPr wrap="square" lIns="0" tIns="0" rIns="0" bIns="0" rtlCol="0" anchor="ctr"/>
          <a:lstStyle/>
          <a:p>
            <a:pPr indent="0" marL="0">
              <a:buNone/>
            </a:pPr>
            <a:r>
              <a:rPr lang="en-US" sz="1500" dirty="0">
                <a:solidFill>
                  <a:schemeClr val="tx1"/>
                </a:solidFill>
              </a:rPr>
              <a:t>unique links checked</a:t>
            </a:r>
            <a:endParaRPr lang="en-US" sz="1500" dirty="0"/>
          </a:p>
        </p:txBody>
      </p:sp>
      <p:sp>
        <p:nvSpPr>
          <p:cNvPr id="29" name="link stat broken links reported"/>
          <p:cNvSpPr/>
          <p:nvPr/>
        </p:nvSpPr>
        <p:spPr>
          <a:xfrm>
            <a:off x="8183880" y="5166360"/>
            <a:ext cx="3456432" cy="868680"/>
          </a:xfrm>
          <a:prstGeom prst="roundRect">
            <a:avLst>
              <a:gd name="adj" fmla="val 12632"/>
            </a:avLst>
          </a:prstGeom>
          <a:solidFill>
            <a:schemeClr val="bg2"/>
          </a:solidFill>
          <a:ln/>
        </p:spPr>
      </p:sp>
      <p:sp>
        <p:nvSpPr>
          <p:cNvPr id="30" name="Text 24"/>
          <p:cNvSpPr txBox="1"/>
          <p:nvPr/>
        </p:nvSpPr>
        <p:spPr>
          <a:xfrm>
            <a:off x="8412480" y="5276088"/>
            <a:ext cx="822960" cy="64008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31" name="Text 25"/>
          <p:cNvSpPr txBox="1"/>
          <p:nvPr/>
        </p:nvSpPr>
        <p:spPr>
          <a:xfrm>
            <a:off x="9281160" y="5276088"/>
            <a:ext cx="2240280" cy="640080"/>
          </a:xfrm>
          <a:prstGeom prst="rect">
            <a:avLst/>
          </a:prstGeom>
          <a:noFill/>
          <a:ln/>
        </p:spPr>
        <p:txBody>
          <a:bodyPr wrap="square" lIns="0" tIns="0" rIns="0" bIns="0" rtlCol="0" anchor="ctr"/>
          <a:lstStyle/>
          <a:p>
            <a:pPr indent="0" marL="0">
              <a:buNone/>
            </a:pPr>
            <a:r>
              <a:rPr lang="en-US" sz="1500" dirty="0">
                <a:solidFill>
                  <a:schemeClr val="tx1"/>
                </a:solidFill>
              </a:rPr>
              <a:t>broken links reported</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8: end-to-end pipeline results</a:t>
            </a:r>
            <a:endParaRPr lang="en-US" sz="3000" dirty="0"/>
          </a:p>
        </p:txBody>
      </p:sp>
      <p:sp>
        <p:nvSpPr>
          <p:cNvPr id="3" name="result test executions in 10 runs"/>
          <p:cNvSpPr/>
          <p:nvPr/>
        </p:nvSpPr>
        <p:spPr>
          <a:xfrm>
            <a:off x="548640" y="1371600"/>
            <a:ext cx="2514600" cy="1463040"/>
          </a:xfrm>
          <a:prstGeom prst="roundRect">
            <a:avLst>
              <a:gd name="adj" fmla="val 7500"/>
            </a:avLst>
          </a:prstGeom>
          <a:solidFill>
            <a:schemeClr val="bg2"/>
          </a:solidFill>
          <a:ln/>
        </p:spPr>
      </p:sp>
      <p:sp>
        <p:nvSpPr>
          <p:cNvPr id="4" name="Text 2"/>
          <p:cNvSpPr txBox="1"/>
          <p:nvPr/>
        </p:nvSpPr>
        <p:spPr>
          <a:xfrm>
            <a:off x="77724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170</a:t>
            </a:r>
            <a:endParaRPr lang="en-US" sz="3800" dirty="0"/>
          </a:p>
        </p:txBody>
      </p:sp>
      <p:sp>
        <p:nvSpPr>
          <p:cNvPr id="5" name="Text 3"/>
          <p:cNvSpPr txBox="1"/>
          <p:nvPr/>
        </p:nvSpPr>
        <p:spPr>
          <a:xfrm>
            <a:off x="77724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test executions in 10 runs</a:t>
            </a:r>
            <a:endParaRPr lang="en-US" sz="1400" dirty="0"/>
          </a:p>
        </p:txBody>
      </p:sp>
      <p:sp>
        <p:nvSpPr>
          <p:cNvPr id="6" name="result unique bugs logged automatically"/>
          <p:cNvSpPr/>
          <p:nvPr/>
        </p:nvSpPr>
        <p:spPr>
          <a:xfrm>
            <a:off x="3246120" y="1371600"/>
            <a:ext cx="2514600" cy="1463040"/>
          </a:xfrm>
          <a:prstGeom prst="roundRect">
            <a:avLst>
              <a:gd name="adj" fmla="val 7500"/>
            </a:avLst>
          </a:prstGeom>
          <a:solidFill>
            <a:schemeClr val="bg2"/>
          </a:solidFill>
          <a:ln/>
        </p:spPr>
      </p:sp>
      <p:sp>
        <p:nvSpPr>
          <p:cNvPr id="7" name="Text 5"/>
          <p:cNvSpPr txBox="1"/>
          <p:nvPr/>
        </p:nvSpPr>
        <p:spPr>
          <a:xfrm>
            <a:off x="347472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a:t>
            </a:r>
            <a:endParaRPr lang="en-US" sz="3800" dirty="0"/>
          </a:p>
        </p:txBody>
      </p:sp>
      <p:sp>
        <p:nvSpPr>
          <p:cNvPr id="8" name="Text 6"/>
          <p:cNvSpPr txBox="1"/>
          <p:nvPr/>
        </p:nvSpPr>
        <p:spPr>
          <a:xfrm>
            <a:off x="347472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unique bugs logged automatically</a:t>
            </a:r>
            <a:endParaRPr lang="en-US" sz="1400" dirty="0"/>
          </a:p>
        </p:txBody>
      </p:sp>
      <p:sp>
        <p:nvSpPr>
          <p:cNvPr id="9" name="result manual bug reports written"/>
          <p:cNvSpPr/>
          <p:nvPr/>
        </p:nvSpPr>
        <p:spPr>
          <a:xfrm>
            <a:off x="548640" y="3017520"/>
            <a:ext cx="2514600" cy="1463040"/>
          </a:xfrm>
          <a:prstGeom prst="roundRect">
            <a:avLst>
              <a:gd name="adj" fmla="val 7500"/>
            </a:avLst>
          </a:prstGeom>
          <a:solidFill>
            <a:schemeClr val="bg2"/>
          </a:solidFill>
          <a:ln/>
        </p:spPr>
      </p:sp>
      <p:sp>
        <p:nvSpPr>
          <p:cNvPr id="10" name="Text 8"/>
          <p:cNvSpPr txBox="1"/>
          <p:nvPr/>
        </p:nvSpPr>
        <p:spPr>
          <a:xfrm>
            <a:off x="77724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0</a:t>
            </a:r>
            <a:endParaRPr lang="en-US" sz="3800" dirty="0"/>
          </a:p>
        </p:txBody>
      </p:sp>
      <p:sp>
        <p:nvSpPr>
          <p:cNvPr id="11" name="Text 9"/>
          <p:cNvSpPr txBox="1"/>
          <p:nvPr/>
        </p:nvSpPr>
        <p:spPr>
          <a:xfrm>
            <a:off x="77724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manual bug reports written</a:t>
            </a:r>
            <a:endParaRPr lang="en-US" sz="1400" dirty="0"/>
          </a:p>
        </p:txBody>
      </p:sp>
      <p:sp>
        <p:nvSpPr>
          <p:cNvPr id="12" name="result severities predicted correctly"/>
          <p:cNvSpPr/>
          <p:nvPr/>
        </p:nvSpPr>
        <p:spPr>
          <a:xfrm>
            <a:off x="3246120" y="3017520"/>
            <a:ext cx="2514600" cy="1463040"/>
          </a:xfrm>
          <a:prstGeom prst="roundRect">
            <a:avLst>
              <a:gd name="adj" fmla="val 7500"/>
            </a:avLst>
          </a:prstGeom>
          <a:solidFill>
            <a:schemeClr val="bg2"/>
          </a:solidFill>
          <a:ln/>
        </p:spPr>
      </p:sp>
      <p:sp>
        <p:nvSpPr>
          <p:cNvPr id="13" name="Text 11"/>
          <p:cNvSpPr txBox="1"/>
          <p:nvPr/>
        </p:nvSpPr>
        <p:spPr>
          <a:xfrm>
            <a:off x="347472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13/13</a:t>
            </a:r>
            <a:endParaRPr lang="en-US" sz="3800" dirty="0"/>
          </a:p>
        </p:txBody>
      </p:sp>
      <p:sp>
        <p:nvSpPr>
          <p:cNvPr id="14" name="Text 12"/>
          <p:cNvSpPr txBox="1"/>
          <p:nvPr/>
        </p:nvSpPr>
        <p:spPr>
          <a:xfrm>
            <a:off x="347472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severities predicted correctly</a:t>
            </a:r>
            <a:endParaRPr lang="en-US" sz="1400" dirty="0"/>
          </a:p>
        </p:txBody>
      </p:sp>
      <p:sp>
        <p:nvSpPr>
          <p:cNvPr id="15" name="result flaky tests detected"/>
          <p:cNvSpPr/>
          <p:nvPr/>
        </p:nvSpPr>
        <p:spPr>
          <a:xfrm>
            <a:off x="548640" y="4663440"/>
            <a:ext cx="2514600" cy="1463040"/>
          </a:xfrm>
          <a:prstGeom prst="roundRect">
            <a:avLst>
              <a:gd name="adj" fmla="val 7500"/>
            </a:avLst>
          </a:prstGeom>
          <a:solidFill>
            <a:schemeClr val="bg2"/>
          </a:solidFill>
          <a:ln/>
        </p:spPr>
      </p:sp>
      <p:sp>
        <p:nvSpPr>
          <p:cNvPr id="16" name="Text 14"/>
          <p:cNvSpPr txBox="1"/>
          <p:nvPr/>
        </p:nvSpPr>
        <p:spPr>
          <a:xfrm>
            <a:off x="77724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2</a:t>
            </a:r>
            <a:endParaRPr lang="en-US" sz="3800" dirty="0"/>
          </a:p>
        </p:txBody>
      </p:sp>
      <p:sp>
        <p:nvSpPr>
          <p:cNvPr id="17" name="Text 15"/>
          <p:cNvSpPr txBox="1"/>
          <p:nvPr/>
        </p:nvSpPr>
        <p:spPr>
          <a:xfrm>
            <a:off x="77724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flaky tests detected</a:t>
            </a:r>
            <a:endParaRPr lang="en-US" sz="1400" dirty="0"/>
          </a:p>
        </p:txBody>
      </p:sp>
      <p:sp>
        <p:nvSpPr>
          <p:cNvPr id="18" name="result Critical alerts generated"/>
          <p:cNvSpPr/>
          <p:nvPr/>
        </p:nvSpPr>
        <p:spPr>
          <a:xfrm>
            <a:off x="3246120" y="4663440"/>
            <a:ext cx="2514600" cy="1463040"/>
          </a:xfrm>
          <a:prstGeom prst="roundRect">
            <a:avLst>
              <a:gd name="adj" fmla="val 7500"/>
            </a:avLst>
          </a:prstGeom>
          <a:solidFill>
            <a:schemeClr val="bg2"/>
          </a:solidFill>
          <a:ln/>
        </p:spPr>
      </p:sp>
      <p:sp>
        <p:nvSpPr>
          <p:cNvPr id="19" name="Text 17"/>
          <p:cNvSpPr txBox="1"/>
          <p:nvPr/>
        </p:nvSpPr>
        <p:spPr>
          <a:xfrm>
            <a:off x="347472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4</a:t>
            </a:r>
            <a:endParaRPr lang="en-US" sz="3800" dirty="0"/>
          </a:p>
        </p:txBody>
      </p:sp>
      <p:sp>
        <p:nvSpPr>
          <p:cNvPr id="20" name="Text 18"/>
          <p:cNvSpPr txBox="1"/>
          <p:nvPr/>
        </p:nvSpPr>
        <p:spPr>
          <a:xfrm>
            <a:off x="347472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Critical alerts generated</a:t>
            </a:r>
            <a:endParaRPr lang="en-US" sz="1400" dirty="0"/>
          </a:p>
        </p:txBody>
      </p:sp>
      <p:graphicFrame>
        <p:nvGraphicFramePr>
          <p:cNvPr id="21" name="runs chart" descr=""/>
          <p:cNvGraphicFramePr/>
          <p:nvPr/>
        </p:nvGraphicFramePr>
        <p:xfrm>
          <a:off x="6035040" y="1371600"/>
          <a:ext cx="5605272" cy="40233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6035040" y="5532120"/>
            <a:ext cx="5605272" cy="548640"/>
          </a:xfrm>
          <a:prstGeom prst="rect">
            <a:avLst/>
          </a:prstGeom>
          <a:noFill/>
          <a:ln/>
        </p:spPr>
        <p:txBody>
          <a:bodyPr wrap="square" lIns="0" tIns="0" rIns="0" bIns="0" rtlCol="0" anchor="t"/>
          <a:lstStyle/>
          <a:p>
            <a:pPr indent="0" marL="0">
              <a:buNone/>
            </a:pPr>
            <a:r>
              <a:rPr lang="en-US" sz="1400" i="1" dirty="0">
                <a:solidFill>
                  <a:srgbClr val="5B6472"/>
                </a:solidFill>
              </a:rPr>
              <a:t>Failures vary between 9 and 10 per run only because of the 2 flaky tests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Conclusion and future scope</a:t>
            </a:r>
            <a:endParaRPr lang="en-US" sz="3000" dirty="0"/>
          </a:p>
        </p:txBody>
      </p:sp>
      <p:sp>
        <p:nvSpPr>
          <p:cNvPr id="3" name="conclusion card"/>
          <p:cNvSpPr/>
          <p:nvPr/>
        </p:nvSpPr>
        <p:spPr>
          <a:xfrm>
            <a:off x="548640" y="1371600"/>
            <a:ext cx="5394960" cy="4480560"/>
          </a:xfrm>
          <a:prstGeom prst="roundRect">
            <a:avLst>
              <a:gd name="adj" fmla="val 2449"/>
            </a:avLst>
          </a:prstGeom>
          <a:solidFill>
            <a:schemeClr val="bg2"/>
          </a:solidFill>
          <a:ln/>
        </p:spPr>
      </p:sp>
      <p:sp>
        <p:nvSpPr>
          <p:cNvPr id="4" name="icon circle"/>
          <p:cNvSpPr/>
          <p:nvPr/>
        </p:nvSpPr>
        <p:spPr>
          <a:xfrm>
            <a:off x="822960" y="1600200"/>
            <a:ext cx="548640" cy="548640"/>
          </a:xfrm>
          <a:prstGeom prst="ellipse">
            <a:avLst/>
          </a:prstGeom>
          <a:solidFill>
            <a:srgbClr val="1B8E4E"/>
          </a:solidFill>
          <a:ln/>
        </p:spPr>
      </p:sp>
      <p:pic>
        <p:nvPicPr>
          <p:cNvPr id="5" name="FaCheckCircle icon" descr="preencoded.png">    </p:cNvPr>
          <p:cNvPicPr>
            <a:picLocks noChangeAspect="1"/>
          </p:cNvPicPr>
          <p:nvPr/>
        </p:nvPicPr>
        <p:blipFill>
          <a:blip r:embed="rId1"/>
          <a:stretch>
            <a:fillRect/>
          </a:stretch>
        </p:blipFill>
        <p:spPr>
          <a:xfrm>
            <a:off x="960120" y="1737360"/>
            <a:ext cx="274320" cy="274320"/>
          </a:xfrm>
          <a:prstGeom prst="rect">
            <a:avLst/>
          </a:prstGeom>
        </p:spPr>
      </p:pic>
      <p:sp>
        <p:nvSpPr>
          <p:cNvPr id="6" name="Text 3"/>
          <p:cNvSpPr txBox="1"/>
          <p:nvPr/>
        </p:nvSpPr>
        <p:spPr>
          <a:xfrm>
            <a:off x="1554480" y="1673352"/>
            <a:ext cx="4114800" cy="411480"/>
          </a:xfrm>
          <a:prstGeom prst="rect">
            <a:avLst/>
          </a:prstGeom>
          <a:noFill/>
          <a:ln/>
        </p:spPr>
        <p:txBody>
          <a:bodyPr wrap="square" lIns="0" tIns="0" rIns="0" bIns="0" rtlCol="0" anchor="t"/>
          <a:lstStyle/>
          <a:p>
            <a:pPr indent="0" marL="0">
              <a:buNone/>
            </a:pPr>
            <a:r>
              <a:rPr lang="en-US" sz="2000" b="1" dirty="0">
                <a:solidFill>
                  <a:schemeClr val="tx2"/>
                </a:solidFill>
              </a:rPr>
              <a:t>Conclusion</a:t>
            </a:r>
            <a:endParaRPr lang="en-US" sz="2000" dirty="0"/>
          </a:p>
        </p:txBody>
      </p:sp>
      <p:sp>
        <p:nvSpPr>
          <p:cNvPr id="7" name="Text 4"/>
          <p:cNvSpPr txBox="1"/>
          <p:nvPr/>
        </p:nvSpPr>
        <p:spPr>
          <a:xfrm>
            <a:off x="822960" y="2423160"/>
            <a:ext cx="4846320" cy="32918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All 8 objectives implemented and verified</a:t>
            </a:r>
            <a:endParaRPr lang="en-US" sz="1800" dirty="0"/>
          </a:p>
          <a:p>
            <a:pPr marL="342900" indent="-342900">
              <a:spcAft>
                <a:spcPts val="1200"/>
              </a:spcAft>
              <a:buSzPct val="100000"/>
              <a:buChar char="•"/>
            </a:pPr>
            <a:r>
              <a:rPr lang="en-US" sz="1800" dirty="0">
                <a:solidFill>
                  <a:schemeClr val="tx1"/>
                </a:solidFill>
              </a:rPr>
              <a:t>Bug reporting fully automated: zero manual effort</a:t>
            </a:r>
            <a:endParaRPr lang="en-US" sz="1800" dirty="0"/>
          </a:p>
          <a:p>
            <a:pPr marL="342900" indent="-342900">
              <a:spcAft>
                <a:spcPts val="1200"/>
              </a:spcAft>
              <a:buSzPct val="100000"/>
              <a:buChar char="•"/>
            </a:pPr>
            <a:r>
              <a:rPr lang="en-US" sz="1800" dirty="0">
                <a:solidFill>
                  <a:schemeClr val="tx1"/>
                </a:solidFill>
              </a:rPr>
              <a:t>ML severity: 87.2% cross-validated accuracy</a:t>
            </a:r>
            <a:endParaRPr lang="en-US" sz="1800" dirty="0"/>
          </a:p>
          <a:p>
            <a:pPr marL="342900" indent="-342900">
              <a:spcAft>
                <a:spcPts val="1200"/>
              </a:spcAft>
              <a:buSzPct val="100000"/>
              <a:buChar char="•"/>
            </a:pPr>
            <a:r>
              <a:rPr lang="en-US" sz="1800" dirty="0">
                <a:solidFill>
                  <a:schemeClr val="tx1"/>
                </a:solidFill>
              </a:rPr>
              <a:t>Flaky tests separated from real defects</a:t>
            </a:r>
            <a:endParaRPr lang="en-US" sz="1800" dirty="0"/>
          </a:p>
          <a:p>
            <a:pPr marL="342900" indent="-342900">
              <a:spcAft>
                <a:spcPts val="1200"/>
              </a:spcAft>
              <a:buSzPct val="100000"/>
              <a:buChar char="•"/>
            </a:pPr>
            <a:r>
              <a:rPr lang="en-US" sz="1800" dirty="0">
                <a:solidFill>
                  <a:schemeClr val="tx1"/>
                </a:solidFill>
              </a:rPr>
              <a:t>Broken links found across the whole website</a:t>
            </a:r>
            <a:endParaRPr lang="en-US" sz="1800" dirty="0"/>
          </a:p>
          <a:p>
            <a:pPr marL="342900" indent="-342900">
              <a:spcAft>
                <a:spcPts val="1200"/>
              </a:spcAft>
              <a:buSzPct val="100000"/>
              <a:buChar char="•"/>
            </a:pPr>
            <a:r>
              <a:rPr lang="en-US" sz="1800" dirty="0">
                <a:solidFill>
                  <a:schemeClr val="tx1"/>
                </a:solidFill>
              </a:rPr>
              <a:t>Every bug traceable from test to resolution</a:t>
            </a:r>
            <a:endParaRPr lang="en-US" sz="1800" dirty="0"/>
          </a:p>
        </p:txBody>
      </p:sp>
      <p:sp>
        <p:nvSpPr>
          <p:cNvPr id="8" name="future scope card"/>
          <p:cNvSpPr/>
          <p:nvPr/>
        </p:nvSpPr>
        <p:spPr>
          <a:xfrm>
            <a:off x="6245352" y="1371600"/>
            <a:ext cx="5394960" cy="4480560"/>
          </a:xfrm>
          <a:prstGeom prst="roundRect">
            <a:avLst>
              <a:gd name="adj" fmla="val 2449"/>
            </a:avLst>
          </a:prstGeom>
          <a:solidFill>
            <a:srgbClr val="10243F"/>
          </a:solidFill>
          <a:ln/>
        </p:spPr>
      </p:sp>
      <p:sp>
        <p:nvSpPr>
          <p:cNvPr id="9" name="icon circle"/>
          <p:cNvSpPr/>
          <p:nvPr/>
        </p:nvSpPr>
        <p:spPr>
          <a:xfrm>
            <a:off x="6519672" y="1600200"/>
            <a:ext cx="548640" cy="548640"/>
          </a:xfrm>
          <a:prstGeom prst="ellipse">
            <a:avLst/>
          </a:prstGeom>
          <a:solidFill>
            <a:srgbClr val="D03B3B"/>
          </a:solidFill>
          <a:ln/>
        </p:spPr>
      </p:sp>
      <p:pic>
        <p:nvPicPr>
          <p:cNvPr id="10" name="FaRocket icon" descr="preencoded.png">    </p:cNvPr>
          <p:cNvPicPr>
            <a:picLocks noChangeAspect="1"/>
          </p:cNvPicPr>
          <p:nvPr/>
        </p:nvPicPr>
        <p:blipFill>
          <a:blip r:embed="rId2"/>
          <a:stretch>
            <a:fillRect/>
          </a:stretch>
        </p:blipFill>
        <p:spPr>
          <a:xfrm>
            <a:off x="6656832" y="1737360"/>
            <a:ext cx="274320" cy="274320"/>
          </a:xfrm>
          <a:prstGeom prst="rect">
            <a:avLst/>
          </a:prstGeom>
        </p:spPr>
      </p:pic>
      <p:sp>
        <p:nvSpPr>
          <p:cNvPr id="11" name="Text 7"/>
          <p:cNvSpPr txBox="1"/>
          <p:nvPr/>
        </p:nvSpPr>
        <p:spPr>
          <a:xfrm>
            <a:off x="7251192" y="1673352"/>
            <a:ext cx="4114800" cy="411480"/>
          </a:xfrm>
          <a:prstGeom prst="rect">
            <a:avLst/>
          </a:prstGeom>
          <a:noFill/>
          <a:ln/>
        </p:spPr>
        <p:txBody>
          <a:bodyPr wrap="square" lIns="0" tIns="0" rIns="0" bIns="0" rtlCol="0" anchor="t"/>
          <a:lstStyle/>
          <a:p>
            <a:pPr indent="0" marL="0">
              <a:buNone/>
            </a:pPr>
            <a:r>
              <a:rPr lang="en-US" sz="2000" b="1" dirty="0">
                <a:solidFill>
                  <a:schemeClr val="bg1"/>
                </a:solidFill>
              </a:rPr>
              <a:t>Future scope</a:t>
            </a:r>
            <a:endParaRPr lang="en-US" sz="2000" dirty="0"/>
          </a:p>
        </p:txBody>
      </p:sp>
      <p:sp>
        <p:nvSpPr>
          <p:cNvPr id="12" name="Text 8"/>
          <p:cNvSpPr txBox="1"/>
          <p:nvPr/>
        </p:nvSpPr>
        <p:spPr>
          <a:xfrm>
            <a:off x="6519672" y="2423160"/>
            <a:ext cx="484632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bg1"/>
                </a:solidFill>
              </a:rPr>
              <a:t>Larger real-world dataset; compare SVM, logistic regression, transformers</a:t>
            </a:r>
            <a:endParaRPr lang="en-US" sz="1800" dirty="0"/>
          </a:p>
          <a:p>
            <a:pPr marL="342900" indent="-342900">
              <a:spcAft>
                <a:spcPts val="1600"/>
              </a:spcAft>
              <a:buSzPct val="100000"/>
              <a:buChar char="•"/>
            </a:pPr>
            <a:r>
              <a:rPr lang="en-US" sz="1800" dirty="0">
                <a:solidFill>
                  <a:schemeClr val="bg1"/>
                </a:solidFill>
              </a:rPr>
              <a:t>Automatic Jira / GitHub Issues tickets</a:t>
            </a:r>
            <a:endParaRPr lang="en-US" sz="1800" dirty="0"/>
          </a:p>
          <a:p>
            <a:pPr marL="342900" indent="-342900">
              <a:spcAft>
                <a:spcPts val="1600"/>
              </a:spcAft>
              <a:buSzPct val="100000"/>
              <a:buChar char="•"/>
            </a:pPr>
            <a:r>
              <a:rPr lang="en-US" sz="1800" dirty="0">
                <a:solidFill>
                  <a:schemeClr val="bg1"/>
                </a:solidFill>
              </a:rPr>
              <a:t>Slack / Teams notifications</a:t>
            </a:r>
            <a:endParaRPr lang="en-US" sz="1800" dirty="0"/>
          </a:p>
          <a:p>
            <a:pPr marL="342900" indent="-342900">
              <a:spcAft>
                <a:spcPts val="1600"/>
              </a:spcAft>
              <a:buSzPct val="100000"/>
              <a:buChar char="•"/>
            </a:pPr>
            <a:r>
              <a:rPr lang="en-US" sz="1800" dirty="0">
                <a:solidFill>
                  <a:schemeClr val="bg1"/>
                </a:solidFill>
              </a:rPr>
              <a:t>CI/CD integration (GitHub Actions)</a:t>
            </a:r>
            <a:endParaRPr lang="en-US" sz="1800" dirty="0"/>
          </a:p>
          <a:p>
            <a:pPr marL="342900" indent="-342900">
              <a:spcAft>
                <a:spcPts val="1600"/>
              </a:spcAft>
              <a:buSzPct val="100000"/>
              <a:buChar char="•"/>
            </a:pPr>
            <a:r>
              <a:rPr lang="en-US" sz="1800" dirty="0">
                <a:solidFill>
                  <a:schemeClr val="bg1"/>
                </a:solidFill>
              </a:rPr>
              <a:t>Clustering similar failures for root cause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Thank you</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Questions?</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Live demo:  npm run pipeline   →   npm run dashboard</a:t>
            </a:r>
            <a:endParaRPr lang="en-US" sz="1600" dirty="0"/>
          </a:p>
          <a:p>
            <a:pPr algn="l" indent="0" marL="0">
              <a:buNone/>
            </a:pPr>
            <a:r>
              <a:rPr lang="en-US" sz="1600" dirty="0">
                <a:solidFill>
                  <a:schemeClr val="bg1"/>
                </a:solidFill>
              </a:rPr>
              <a:t>Source code: github.com/AngshumanRay/playwright-ml-bug-reporter</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Test Runner: one click for manual testers</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Choose a suite</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Smoke, Sanity, Regression, Broken links</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Enter email ID(s)</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Emailed when a Critical bug is found</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Press Run</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Headed browser, live progress, report</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No VS Code needed</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Run</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Report</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Email</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Double-click "Start Test Runner" to begin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Test Runner: the run report</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Pass rate and totals</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Ring chart, passed, failed, bugs found</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Results by module</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Pass/fail bars, bugs by severity</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Every failure</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Error, screenshot, one-click Re-run</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Share and keep</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Download</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Email</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History</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Each run is named with its date first</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Bug Intelligence">
  <a:themeElements>
    <a:clrScheme name="Bug Intelligence">
      <a:dk1>
        <a:srgbClr val="1F2328"/>
      </a:dk1>
      <a:lt1>
        <a:srgbClr val="FFFFFF"/>
      </a:lt1>
      <a:dk2>
        <a:srgbClr val="10243F"/>
      </a:dk2>
      <a:lt2>
        <a:srgbClr val="F1F4F8"/>
      </a:lt2>
      <a:accent1>
        <a:srgbClr val="D03B3B"/>
      </a:accent1>
      <a:accent2>
        <a:srgbClr val="EC835A"/>
      </a:accent2>
      <a:accent3>
        <a:srgbClr val="F2A900"/>
      </a:accent3>
      <a:accent4>
        <a:srgbClr val="2A78D6"/>
      </a:accent4>
      <a:accent5>
        <a:srgbClr val="1B8E4E"/>
      </a:accent5>
      <a:accent6>
        <a:srgbClr val="6250D6"/>
      </a:accent6>
      <a:hlink>
        <a:srgbClr val="2A78D6"/>
      </a:hlink>
      <a:folHlink>
        <a:srgbClr val="6250D6"/>
      </a:folHlink>
    </a:clrScheme>
    <a:fontScheme name="Bug Intellig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Bug Reporting and Severity Classification Using Machine Learning and Playwright Test Automation</dc:title>
  <dc:subject>M.Tech final year project</dc:subject>
  <dc:creator>PptxGenJS</dc:creator>
  <cp:lastModifiedBy>PptxGenJS</cp:lastModifiedBy>
  <cp:revision>1</cp:revision>
  <dcterms:created xsi:type="dcterms:W3CDTF">2026-10-21T12:30:29Z</dcterms:created>
  <dcterms:modified xsi:type="dcterms:W3CDTF">2026-10-21T12:30:29Z</dcterms:modified>
</cp:coreProperties>
</file>