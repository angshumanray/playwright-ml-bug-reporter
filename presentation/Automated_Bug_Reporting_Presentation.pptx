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d87324b-1b32-4cef-2c54-af70c02c5c7c}">
          <p14:sldIdLst>
            <p14:sldId id="256"/>
            <p14:sldId id="257"/>
            <p14:sldId id="258"/>
            <p14:sldId id="259"/>
          </p14:sldIdLst>
        </p14:section>
        <p14:section name="System Design" id="{b40e1627-22d7-75d4-b465-ac63a5f49285}">
          <p14:sldIdLst>
            <p14:sldId id="260"/>
            <p14:sldId id="261"/>
            <p14:sldId id="262"/>
          </p14:sldIdLst>
        </p14:section>
        <p14:section name="Implementation" id="{04b82b32-d956-e19f-e814-c2f616e7cd1a}">
          <p14:sldIdLst>
            <p14:sldId id="263"/>
            <p14:sldId id="264"/>
            <p14:sldId id="265"/>
            <p14:sldId id="266"/>
            <p14:sldId id="267"/>
            <p14:sldId id="268"/>
            <p14:sldId id="269"/>
            <p14:sldId id="270"/>
          </p14:sldIdLst>
        </p14:section>
        <p14:section name="Results" id="{17931ba3-01c2-8ca0-4f1a-7b2acac72429}">
          <p14:sldIdLst>
            <p14:sldId id="271"/>
          </p14:sldIdLst>
        </p14:section>
        <p14:section name="Conclusion" id="{5d13e761-8a94-9edf-1610-eb6024acd669}">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43F"/>
                </a:solidFill>
                <a:latin typeface="+mn-lt"/>
              </a:defRPr>
            </a:pPr>
            <a:r>
              <a:rPr sz="1400" b="0" i="0" u="none" strike="noStrike">
                <a:solidFill>
                  <a:srgbClr val="10243F"/>
                </a:solidFill>
                <a:latin typeface="+mn-lt"/>
              </a:rPr>
              <a:t>Training data: 179 labelled error messages</a:t>
            </a:r>
          </a:p>
        </c:rich>
      </c:tx>
      <c:layout/>
      <c:overlay val="0"/>
    </c:title>
    <c:autoTitleDeleted val="0"/>
    <c:plotArea>
      <c:layout/>
      <c:barChart>
        <c:barDir val="col"/>
        <c:grouping val="clustered"/>
        <c:varyColors val="0"/>
        <c:ser>
          <c:idx val="0"/>
          <c:order val="0"/>
          <c:tx>
            <c:strRef>
              <c:f>Sheet1!$B$1</c:f>
              <c:strCache>
                <c:ptCount val="1"/>
                <c:pt idx="0">
                  <c:v>Labelled messages</c:v>
                </c:pt>
              </c:strCache>
            </c:strRef>
          </c:tx>
          <c:spPr>
            <a:solidFill>
              <a:srgbClr val="D03B3B"/>
            </a:solidFill>
            <a:effectLst/>
          </c:spPr>
          <c:invertIfNegative val="0"/>
          <c:dLbls>
            <c:numFmt formatCode="#,##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D03B3B"/>
              </a:solidFill>
              <a:effectLst/>
            </c:spPr>
          </c:dPt>
          <c:dPt>
            <c:idx val="1"/>
            <c:invertIfNegative val="0"/>
            <c:bubble3D val="0"/>
            <c:spPr>
              <a:solidFill>
                <a:srgbClr val="EC835A"/>
              </a:solidFill>
              <a:effectLst/>
            </c:spPr>
          </c:dPt>
          <c:dPt>
            <c:idx val="2"/>
            <c:invertIfNegative val="0"/>
            <c:bubble3D val="0"/>
            <c:spPr>
              <a:solidFill>
                <a:srgbClr val="F2A900"/>
              </a:solidFill>
              <a:effectLst/>
            </c:spPr>
          </c:dPt>
          <c:cat>
            <c:multiLvlStrRef>
              <c:f>Sheet1!$A$2:$A$4</c:f>
              <c:multiLvlStrCache>
                <c:ptCount val="3"/>
                <c:lvl>
                  <c:pt idx="0">
                    <c:v>Critical</c:v>
                  </c:pt>
                  <c:pt idx="1">
                    <c:v>Major</c:v>
                  </c:pt>
                  <c:pt idx="2">
                    <c:v>Minor</c:v>
                  </c:pt>
                </c:lvl>
              </c:multiLvlStrCache>
            </c:multiLvlStrRef>
          </c:cat>
          <c:val>
            <c:numRef>
              <c:f>Sheet1!$B$2:$B$4</c:f>
              <c:numCache>
                <c:formatCode>General</c:formatCode>
                <c:ptCount val="3"/>
                <c:pt idx="0">
                  <c:v>65</c:v>
                </c:pt>
                <c:pt idx="1">
                  <c:v>60</c:v>
                </c:pt>
                <c:pt idx="2">
                  <c:v>54</c:v>
                </c:pt>
              </c:numCache>
            </c:numRef>
          </c:val>
        </c:ser>
        <c:dLbls>
          <c:numFmt formatCode="#,##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3E7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43F"/>
                </a:solidFill>
                <a:latin typeface="+mn-lt"/>
              </a:defRPr>
            </a:pPr>
            <a:r>
              <a:rPr sz="1400" b="0" i="0" u="none" strike="noStrike">
                <a:solidFill>
                  <a:srgbClr val="10243F"/>
                </a:solidFill>
                <a:latin typeface="+mn-lt"/>
              </a:rPr>
              <a:t>Per-class metrics on hold-out set (%)</a:t>
            </a:r>
          </a:p>
        </c:rich>
      </c:tx>
      <c:layout/>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10243F"/>
            </a:solidFill>
            <a:effectLst/>
          </c:spPr>
          <c:invertIfNegative val="0"/>
          <c:dLbls>
            <c:numFmt formatCode="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Critical</c:v>
                  </c:pt>
                  <c:pt idx="1">
                    <c:v>Major</c:v>
                  </c:pt>
                  <c:pt idx="2">
                    <c:v>Minor</c:v>
                  </c:pt>
                </c:lvl>
              </c:multiLvlStrCache>
            </c:multiLvlStrRef>
          </c:cat>
          <c:val>
            <c:numRef>
              <c:f>Sheet1!$B$2:$B$4</c:f>
              <c:numCache>
                <c:formatCode>General</c:formatCode>
                <c:ptCount val="3"/>
                <c:pt idx="0">
                  <c:v>100</c:v>
                </c:pt>
                <c:pt idx="1">
                  <c:v>70.6</c:v>
                </c:pt>
                <c:pt idx="2">
                  <c:v>100</c:v>
                </c:pt>
              </c:numCache>
            </c:numRef>
          </c:val>
        </c:ser>
        <c:ser>
          <c:idx val="1"/>
          <c:order val="1"/>
          <c:tx>
            <c:strRef>
              <c:f>Sheet1!$C$1</c:f>
              <c:strCache>
                <c:ptCount val="1"/>
                <c:pt idx="0">
                  <c:v>Recall</c:v>
                </c:pt>
              </c:strCache>
            </c:strRef>
          </c:tx>
          <c:spPr>
            <a:solidFill>
              <a:srgbClr val="2A78D6"/>
            </a:solidFill>
            <a:effectLst/>
          </c:spPr>
          <c:invertIfNegative val="0"/>
          <c:dLbls>
            <c:numFmt formatCode="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Critical</c:v>
                  </c:pt>
                  <c:pt idx="1">
                    <c:v>Major</c:v>
                  </c:pt>
                  <c:pt idx="2">
                    <c:v>Minor</c:v>
                  </c:pt>
                </c:lvl>
              </c:multiLvlStrCache>
            </c:multiLvlStrRef>
          </c:cat>
          <c:val>
            <c:numRef>
              <c:f>Sheet1!$C$2:$C$4</c:f>
              <c:numCache>
                <c:formatCode>General</c:formatCode>
                <c:ptCount val="3"/>
                <c:pt idx="0">
                  <c:v>84.6</c:v>
                </c:pt>
                <c:pt idx="1">
                  <c:v>100</c:v>
                </c:pt>
                <c:pt idx="2">
                  <c:v>72.7</c:v>
                </c:pt>
              </c:numCache>
            </c:numRef>
          </c:val>
        </c:ser>
        <c:ser>
          <c:idx val="2"/>
          <c:order val="2"/>
          <c:tx>
            <c:strRef>
              <c:f>Sheet1!$D$1</c:f>
              <c:strCache>
                <c:ptCount val="1"/>
                <c:pt idx="0">
                  <c:v>F1-score</c:v>
                </c:pt>
              </c:strCache>
            </c:strRef>
          </c:tx>
          <c:spPr>
            <a:solidFill>
              <a:srgbClr val="8DB8EC"/>
            </a:solidFill>
            <a:effectLst/>
          </c:spPr>
          <c:invertIfNegative val="0"/>
          <c:dLbls>
            <c:numFmt formatCode="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Critical</c:v>
                  </c:pt>
                  <c:pt idx="1">
                    <c:v>Major</c:v>
                  </c:pt>
                  <c:pt idx="2">
                    <c:v>Minor</c:v>
                  </c:pt>
                </c:lvl>
              </c:multiLvlStrCache>
            </c:multiLvlStrRef>
          </c:cat>
          <c:val>
            <c:numRef>
              <c:f>Sheet1!$D$2:$D$4</c:f>
              <c:numCache>
                <c:formatCode>General</c:formatCode>
                <c:ptCount val="3"/>
                <c:pt idx="0">
                  <c:v>91.7</c:v>
                </c:pt>
                <c:pt idx="1">
                  <c:v>82.8</c:v>
                </c:pt>
                <c:pt idx="2">
                  <c:v>84.2</c:v>
                </c:pt>
              </c:numCache>
            </c:numRef>
          </c:val>
        </c:ser>
        <c:dLbls>
          <c:numFmt formatCode="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majorGridlines>
          <c:spPr>
            <a:ln w="9525" cap="flat">
              <a:solidFill>
                <a:srgbClr val="E3E7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5B647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43F"/>
                </a:solidFill>
                <a:latin typeface="+mn-lt"/>
              </a:defRPr>
            </a:pPr>
            <a:r>
              <a:rPr sz="1400" b="0" i="0" u="none" strike="noStrike">
                <a:solidFill>
                  <a:srgbClr val="10243F"/>
                </a:solidFill>
                <a:latin typeface="+mn-lt"/>
              </a:rPr>
              <a:t>Bugs per module</a:t>
            </a:r>
          </a:p>
        </c:rich>
      </c:tx>
      <c:layout/>
      <c:overlay val="0"/>
    </c:title>
    <c:autoTitleDeleted val="0"/>
    <c:plotArea>
      <c:layout/>
      <c:barChart>
        <c:barDir val="col"/>
        <c:grouping val="clustered"/>
        <c:varyColors val="0"/>
        <c:ser>
          <c:idx val="0"/>
          <c:order val="0"/>
          <c:tx>
            <c:strRef>
              <c:f>Sheet1!$B$1</c:f>
              <c:strCache>
                <c:ptCount val="1"/>
                <c:pt idx="0">
                  <c:v>Bugs</c:v>
                </c:pt>
              </c:strCache>
            </c:strRef>
          </c:tx>
          <c:spPr>
            <a:solidFill>
              <a:srgbClr val="2A78D6"/>
            </a:solidFill>
            <a:effectLst/>
          </c:spPr>
          <c:invertIfNegative val="0"/>
          <c:dLbls>
            <c:numFmt formatCode="#,##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cat>
            <c:multiLvlStrRef>
              <c:f>Sheet1!$A$2:$A$6</c:f>
              <c:multiLvlStrCache>
                <c:ptCount val="5"/>
                <c:lvl>
                  <c:pt idx="0">
                    <c:v>Profile</c:v>
                  </c:pt>
                  <c:pt idx="1">
                    <c:v>Search</c:v>
                  </c:pt>
                  <c:pt idx="2">
                    <c:v>Cart</c:v>
                  </c:pt>
                  <c:pt idx="3">
                    <c:v>Login</c:v>
                  </c:pt>
                  <c:pt idx="4">
                    <c:v>Checkout</c:v>
                  </c:pt>
                </c:lvl>
              </c:multiLvlStrCache>
            </c:multiLvlStrRef>
          </c:cat>
          <c:val>
            <c:numRef>
              <c:f>Sheet1!$B$2:$B$6</c:f>
              <c:numCache>
                <c:formatCode>General</c:formatCode>
                <c:ptCount val="5"/>
                <c:pt idx="0">
                  <c:v>4</c:v>
                </c:pt>
                <c:pt idx="1">
                  <c:v>2</c:v>
                </c:pt>
                <c:pt idx="2">
                  <c:v>2</c:v>
                </c:pt>
                <c:pt idx="3">
                  <c:v>1</c:v>
                </c:pt>
                <c:pt idx="4">
                  <c:v>1</c:v>
                </c:pt>
              </c:numCache>
            </c:numRef>
          </c:val>
        </c:ser>
        <c:dLbls>
          <c:numFmt formatCode="#,##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E3E7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43F"/>
                </a:solidFill>
                <a:latin typeface="+mn-lt"/>
              </a:defRPr>
            </a:pPr>
            <a:r>
              <a:rPr sz="1400" b="0" i="0" u="none" strike="noStrike">
                <a:solidFill>
                  <a:srgbClr val="10243F"/>
                </a:solidFill>
                <a:latin typeface="+mn-lt"/>
              </a:rPr>
              <a:t>Severity distribution (ML predicted)</a:t>
            </a:r>
          </a:p>
        </c:rich>
      </c:tx>
      <c:layout/>
      <c:overlay val="0"/>
    </c:title>
    <c:autoTitleDeleted val="0"/>
    <c:plotArea>
      <c:layout/>
      <c:barChart>
        <c:barDir val="bar"/>
        <c:grouping val="clustered"/>
        <c:varyColors val="0"/>
        <c:ser>
          <c:idx val="0"/>
          <c:order val="0"/>
          <c:tx>
            <c:strRef>
              <c:f>Sheet1!$B$1</c:f>
              <c:strCache>
                <c:ptCount val="1"/>
                <c:pt idx="0">
                  <c:v>Bugs</c:v>
                </c:pt>
              </c:strCache>
            </c:strRef>
          </c:tx>
          <c:spPr>
            <a:solidFill>
              <a:srgbClr val="D03B3B"/>
            </a:solidFill>
            <a:effectLst/>
          </c:spPr>
          <c:invertIfNegative val="0"/>
          <c:dLbls>
            <c:numFmt formatCode="#,##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D03B3B"/>
              </a:solidFill>
              <a:effectLst/>
            </c:spPr>
          </c:dPt>
          <c:dPt>
            <c:idx val="1"/>
            <c:invertIfNegative val="0"/>
            <c:bubble3D val="0"/>
            <c:spPr>
              <a:solidFill>
                <a:srgbClr val="EC835A"/>
              </a:solidFill>
              <a:effectLst/>
            </c:spPr>
          </c:dPt>
          <c:dPt>
            <c:idx val="2"/>
            <c:invertIfNegative val="0"/>
            <c:bubble3D val="0"/>
            <c:spPr>
              <a:solidFill>
                <a:srgbClr val="F2A900"/>
              </a:solidFill>
              <a:effectLst/>
            </c:spPr>
          </c:dPt>
          <c:cat>
            <c:multiLvlStrRef>
              <c:f>Sheet1!$A$2:$A$4</c:f>
              <c:multiLvlStrCache>
                <c:ptCount val="3"/>
                <c:lvl>
                  <c:pt idx="0">
                    <c:v>Critical</c:v>
                  </c:pt>
                  <c:pt idx="1">
                    <c:v>Major</c:v>
                  </c:pt>
                  <c:pt idx="2">
                    <c:v>Minor</c:v>
                  </c:pt>
                </c:lvl>
              </c:multiLvlStrCache>
            </c:multiLvlStrRef>
          </c:cat>
          <c:val>
            <c:numRef>
              <c:f>Sheet1!$B$2:$B$4</c:f>
              <c:numCache>
                <c:formatCode>General</c:formatCode>
                <c:ptCount val="3"/>
                <c:pt idx="0">
                  <c:v>3</c:v>
                </c:pt>
                <c:pt idx="1">
                  <c:v>4</c:v>
                </c:pt>
                <c:pt idx="2">
                  <c:v>3</c:v>
                </c:pt>
              </c:numCache>
            </c:numRef>
          </c:val>
        </c:ser>
        <c:dLbls>
          <c:numFmt formatCode="#,##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9525" cap="flat">
              <a:solidFill>
                <a:srgbClr val="E3E7ED"/>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43F"/>
                </a:solidFill>
                <a:latin typeface="+mn-lt"/>
              </a:defRPr>
            </a:pPr>
            <a:r>
              <a:rPr sz="1400" b="0" i="0" u="none" strike="noStrike">
                <a:solidFill>
                  <a:srgbClr val="10243F"/>
                </a:solidFill>
                <a:latin typeface="+mn-lt"/>
              </a:rPr>
              <a:t>14-day bug trend (new bugs per day)</a:t>
            </a:r>
          </a:p>
        </c:rich>
      </c:tx>
      <c:layout/>
      <c:overlay val="0"/>
    </c:title>
    <c:autoTitleDeleted val="0"/>
    <c:plotArea>
      <c:layout/>
      <c:barChart>
        <c:barDir val="col"/>
        <c:grouping val="stacked"/>
        <c:varyColors val="0"/>
        <c:ser>
          <c:idx val="0"/>
          <c:order val="0"/>
          <c:tx>
            <c:strRef>
              <c:f>Sheet1!$B$1</c:f>
              <c:strCache>
                <c:ptCount val="1"/>
                <c:pt idx="0">
                  <c:v>Critical</c:v>
                </c:pt>
              </c:strCache>
            </c:strRef>
          </c:tx>
          <c:spPr>
            <a:solidFill>
              <a:srgbClr val="D03B3B"/>
            </a:solidFill>
            <a:effectLst/>
          </c:spPr>
          <c:invertIfNegative val="0"/>
          <c:dLbls>
            <c:numFmt formatCode="#,##0" sourceLinked="0"/>
            <c:txPr>
              <a:bodyPr/>
              <a:lstStyle/>
              <a:p>
                <a:pPr>
                  <a:defRPr b="0" i="0" strike="noStrike" sz="1200" u="none">
                    <a:solidFill>
                      <a:srgbClr val="1F2328"/>
                    </a:solidFill>
                    <a:latin typeface="+mn-lt"/>
                  </a:defRPr>
                </a:pPr>
              </a:p>
            </c:txPr>
            <c:showLegendKey val="0"/>
            <c:showVal val="0"/>
            <c:showCatName val="0"/>
            <c:showSerName val="0"/>
            <c:showPercent val="0"/>
            <c:showBubbleSize val="0"/>
            <c:showLeaderLines val="0"/>
          </c:dLbls>
          <c:cat>
            <c:multiLvlStrRef>
              <c:f>Sheet1!$A$2:$A$15</c:f>
              <c:multiLvlStrCache>
                <c:ptCount val="14"/>
                <c:lvl>
                  <c:pt idx="0">
                    <c:v>08-Oct</c:v>
                  </c:pt>
                  <c:pt idx="1">
                    <c:v>09-Oct</c:v>
                  </c:pt>
                  <c:pt idx="2">
                    <c:v>10-Oct</c:v>
                  </c:pt>
                  <c:pt idx="3">
                    <c:v>11-Oct</c:v>
                  </c:pt>
                  <c:pt idx="4">
                    <c:v>12-Oct</c:v>
                  </c:pt>
                  <c:pt idx="5">
                    <c:v>13-Oct</c:v>
                  </c:pt>
                  <c:pt idx="6">
                    <c:v>14-Oct</c:v>
                  </c:pt>
                  <c:pt idx="7">
                    <c:v>15-Oct</c:v>
                  </c:pt>
                  <c:pt idx="8">
                    <c:v>16-Oct</c:v>
                  </c:pt>
                  <c:pt idx="9">
                    <c:v>17-Oct</c:v>
                  </c:pt>
                  <c:pt idx="10">
                    <c:v>18-Oct</c:v>
                  </c:pt>
                  <c:pt idx="11">
                    <c:v>19-Oct</c:v>
                  </c:pt>
                  <c:pt idx="12">
                    <c:v>20-Oct</c:v>
                  </c:pt>
                  <c:pt idx="13">
                    <c:v>21-Oct</c:v>
                  </c:pt>
                </c:lvl>
              </c:multiLvlStrCache>
            </c:multiLvlStrRef>
          </c:cat>
          <c:val>
            <c:numRef>
              <c:f>Sheet1!$B$2:$B$15</c:f>
              <c:numCache>
                <c:formatCode>General</c:formatCode>
                <c:ptCount val="14"/>
                <c:pt idx="0">
                  <c:v>0</c:v>
                </c:pt>
                <c:pt idx="1">
                  <c:v>0</c:v>
                </c:pt>
                <c:pt idx="2">
                  <c:v>0</c:v>
                </c:pt>
                <c:pt idx="3">
                  <c:v>0</c:v>
                </c:pt>
                <c:pt idx="4">
                  <c:v>0</c:v>
                </c:pt>
                <c:pt idx="5">
                  <c:v>0</c:v>
                </c:pt>
                <c:pt idx="6">
                  <c:v>0</c:v>
                </c:pt>
                <c:pt idx="7">
                  <c:v>0</c:v>
                </c:pt>
                <c:pt idx="8">
                  <c:v>0</c:v>
                </c:pt>
                <c:pt idx="9">
                  <c:v>0</c:v>
                </c:pt>
                <c:pt idx="10">
                  <c:v>0</c:v>
                </c:pt>
                <c:pt idx="11">
                  <c:v>0</c:v>
                </c:pt>
                <c:pt idx="12">
                  <c:v>0</c:v>
                </c:pt>
                <c:pt idx="13">
                  <c:v>3</c:v>
                </c:pt>
              </c:numCache>
            </c:numRef>
          </c:val>
        </c:ser>
        <c:ser>
          <c:idx val="1"/>
          <c:order val="1"/>
          <c:tx>
            <c:strRef>
              <c:f>Sheet1!$C$1</c:f>
              <c:strCache>
                <c:ptCount val="1"/>
                <c:pt idx="0">
                  <c:v>Major</c:v>
                </c:pt>
              </c:strCache>
            </c:strRef>
          </c:tx>
          <c:spPr>
            <a:solidFill>
              <a:srgbClr val="EC835A"/>
            </a:solidFill>
            <a:effectLst/>
          </c:spPr>
          <c:invertIfNegative val="0"/>
          <c:dLbls>
            <c:numFmt formatCode="#,##0" sourceLinked="0"/>
            <c:txPr>
              <a:bodyPr/>
              <a:lstStyle/>
              <a:p>
                <a:pPr>
                  <a:defRPr b="0" i="0" strike="noStrike" sz="1200" u="none">
                    <a:solidFill>
                      <a:srgbClr val="1F2328"/>
                    </a:solidFill>
                    <a:latin typeface="+mn-lt"/>
                  </a:defRPr>
                </a:pPr>
              </a:p>
            </c:txPr>
            <c:showLegendKey val="0"/>
            <c:showVal val="0"/>
            <c:showCatName val="0"/>
            <c:showSerName val="0"/>
            <c:showPercent val="0"/>
            <c:showBubbleSize val="0"/>
            <c:showLeaderLines val="0"/>
          </c:dLbls>
          <c:cat>
            <c:multiLvlStrRef>
              <c:f>Sheet1!$A$2:$A$15</c:f>
              <c:multiLvlStrCache>
                <c:ptCount val="14"/>
                <c:lvl>
                  <c:pt idx="0">
                    <c:v>08-Oct</c:v>
                  </c:pt>
                  <c:pt idx="1">
                    <c:v>09-Oct</c:v>
                  </c:pt>
                  <c:pt idx="2">
                    <c:v>10-Oct</c:v>
                  </c:pt>
                  <c:pt idx="3">
                    <c:v>11-Oct</c:v>
                  </c:pt>
                  <c:pt idx="4">
                    <c:v>12-Oct</c:v>
                  </c:pt>
                  <c:pt idx="5">
                    <c:v>13-Oct</c:v>
                  </c:pt>
                  <c:pt idx="6">
                    <c:v>14-Oct</c:v>
                  </c:pt>
                  <c:pt idx="7">
                    <c:v>15-Oct</c:v>
                  </c:pt>
                  <c:pt idx="8">
                    <c:v>16-Oct</c:v>
                  </c:pt>
                  <c:pt idx="9">
                    <c:v>17-Oct</c:v>
                  </c:pt>
                  <c:pt idx="10">
                    <c:v>18-Oct</c:v>
                  </c:pt>
                  <c:pt idx="11">
                    <c:v>19-Oct</c:v>
                  </c:pt>
                  <c:pt idx="12">
                    <c:v>20-Oct</c:v>
                  </c:pt>
                  <c:pt idx="13">
                    <c:v>21-Oct</c:v>
                  </c:pt>
                </c:lvl>
              </c:multiLvlStrCache>
            </c:multiLvlStrRef>
          </c:cat>
          <c:val>
            <c:numRef>
              <c:f>Sheet1!$C$2:$C$15</c:f>
              <c:numCache>
                <c:formatCode>General</c:formatCode>
                <c:ptCount val="14"/>
                <c:pt idx="0">
                  <c:v>0</c:v>
                </c:pt>
                <c:pt idx="1">
                  <c:v>0</c:v>
                </c:pt>
                <c:pt idx="2">
                  <c:v>0</c:v>
                </c:pt>
                <c:pt idx="3">
                  <c:v>0</c:v>
                </c:pt>
                <c:pt idx="4">
                  <c:v>0</c:v>
                </c:pt>
                <c:pt idx="5">
                  <c:v>0</c:v>
                </c:pt>
                <c:pt idx="6">
                  <c:v>0</c:v>
                </c:pt>
                <c:pt idx="7">
                  <c:v>0</c:v>
                </c:pt>
                <c:pt idx="8">
                  <c:v>0</c:v>
                </c:pt>
                <c:pt idx="9">
                  <c:v>0</c:v>
                </c:pt>
                <c:pt idx="10">
                  <c:v>0</c:v>
                </c:pt>
                <c:pt idx="11">
                  <c:v>0</c:v>
                </c:pt>
                <c:pt idx="12">
                  <c:v>0</c:v>
                </c:pt>
                <c:pt idx="13">
                  <c:v>4</c:v>
                </c:pt>
              </c:numCache>
            </c:numRef>
          </c:val>
        </c:ser>
        <c:ser>
          <c:idx val="2"/>
          <c:order val="2"/>
          <c:tx>
            <c:strRef>
              <c:f>Sheet1!$D$1</c:f>
              <c:strCache>
                <c:ptCount val="1"/>
                <c:pt idx="0">
                  <c:v>Minor</c:v>
                </c:pt>
              </c:strCache>
            </c:strRef>
          </c:tx>
          <c:spPr>
            <a:solidFill>
              <a:srgbClr val="F2A900"/>
            </a:solidFill>
            <a:effectLst/>
          </c:spPr>
          <c:invertIfNegative val="0"/>
          <c:dLbls>
            <c:numFmt formatCode="#,##0" sourceLinked="0"/>
            <c:txPr>
              <a:bodyPr/>
              <a:lstStyle/>
              <a:p>
                <a:pPr>
                  <a:defRPr b="0" i="0" strike="noStrike" sz="1200" u="none">
                    <a:solidFill>
                      <a:srgbClr val="1F2328"/>
                    </a:solidFill>
                    <a:latin typeface="+mn-lt"/>
                  </a:defRPr>
                </a:pPr>
              </a:p>
            </c:txPr>
            <c:showLegendKey val="0"/>
            <c:showVal val="0"/>
            <c:showCatName val="0"/>
            <c:showSerName val="0"/>
            <c:showPercent val="0"/>
            <c:showBubbleSize val="0"/>
            <c:showLeaderLines val="0"/>
          </c:dLbls>
          <c:cat>
            <c:multiLvlStrRef>
              <c:f>Sheet1!$A$2:$A$15</c:f>
              <c:multiLvlStrCache>
                <c:ptCount val="14"/>
                <c:lvl>
                  <c:pt idx="0">
                    <c:v>08-Oct</c:v>
                  </c:pt>
                  <c:pt idx="1">
                    <c:v>09-Oct</c:v>
                  </c:pt>
                  <c:pt idx="2">
                    <c:v>10-Oct</c:v>
                  </c:pt>
                  <c:pt idx="3">
                    <c:v>11-Oct</c:v>
                  </c:pt>
                  <c:pt idx="4">
                    <c:v>12-Oct</c:v>
                  </c:pt>
                  <c:pt idx="5">
                    <c:v>13-Oct</c:v>
                  </c:pt>
                  <c:pt idx="6">
                    <c:v>14-Oct</c:v>
                  </c:pt>
                  <c:pt idx="7">
                    <c:v>15-Oct</c:v>
                  </c:pt>
                  <c:pt idx="8">
                    <c:v>16-Oct</c:v>
                  </c:pt>
                  <c:pt idx="9">
                    <c:v>17-Oct</c:v>
                  </c:pt>
                  <c:pt idx="10">
                    <c:v>18-Oct</c:v>
                  </c:pt>
                  <c:pt idx="11">
                    <c:v>19-Oct</c:v>
                  </c:pt>
                  <c:pt idx="12">
                    <c:v>20-Oct</c:v>
                  </c:pt>
                  <c:pt idx="13">
                    <c:v>21-Oct</c:v>
                  </c:pt>
                </c:lvl>
              </c:multiLvlStrCache>
            </c:multiLvlStrRef>
          </c:cat>
          <c:val>
            <c:numRef>
              <c:f>Sheet1!$D$2:$D$15</c:f>
              <c:numCache>
                <c:formatCode>General</c:formatCode>
                <c:ptCount val="14"/>
                <c:pt idx="0">
                  <c:v>0</c:v>
                </c:pt>
                <c:pt idx="1">
                  <c:v>0</c:v>
                </c:pt>
                <c:pt idx="2">
                  <c:v>0</c:v>
                </c:pt>
                <c:pt idx="3">
                  <c:v>0</c:v>
                </c:pt>
                <c:pt idx="4">
                  <c:v>0</c:v>
                </c:pt>
                <c:pt idx="5">
                  <c:v>0</c:v>
                </c:pt>
                <c:pt idx="6">
                  <c:v>0</c:v>
                </c:pt>
                <c:pt idx="7">
                  <c:v>0</c:v>
                </c:pt>
                <c:pt idx="8">
                  <c:v>0</c:v>
                </c:pt>
                <c:pt idx="9">
                  <c:v>0</c:v>
                </c:pt>
                <c:pt idx="10">
                  <c:v>0</c:v>
                </c:pt>
                <c:pt idx="11">
                  <c:v>0</c:v>
                </c:pt>
                <c:pt idx="12">
                  <c:v>0</c:v>
                </c:pt>
                <c:pt idx="13">
                  <c:v>3</c:v>
                </c:pt>
              </c:numCache>
            </c:numRef>
          </c:val>
        </c:ser>
        <c:dLbls>
          <c:numFmt formatCode="#,##0" sourceLinked="0"/>
          <c:txPr>
            <a:bodyPr/>
            <a:lstStyle/>
            <a:p>
              <a:pPr>
                <a:defRPr b="0" i="0" strike="noStrike" sz="1200" u="none">
                  <a:solidFill>
                    <a:srgbClr val="1F2328"/>
                  </a:solidFill>
                  <a:latin typeface="+mn-lt"/>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E3E7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majorUnit val="5"/>
      </c:valAx>
      <c:spPr>
        <a:noFill/>
        <a:ln>
          <a:noFill/>
        </a:ln>
        <a:effectLst/>
      </c:spPr>
    </c:plotArea>
    <c:legend>
      <c:legendPos val="r"/>
      <c:overlay val="0"/>
      <c:txPr>
        <a:bodyPr/>
        <a:lstStyle/>
        <a:p>
          <a:pPr>
            <a:defRPr sz="1200">
              <a:solidFill>
                <a:srgbClr val="5B647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43F"/>
                </a:solidFill>
                <a:latin typeface="+mn-lt"/>
              </a:defRPr>
            </a:pPr>
            <a:r>
              <a:rPr sz="1400" b="0" i="0" u="none" strike="noStrike">
                <a:solidFill>
                  <a:srgbClr val="10243F"/>
                </a:solidFill>
                <a:latin typeface="+mn-lt"/>
              </a:rPr>
              <a:t>Passed vs failed tests per run (16 tests)</a:t>
            </a:r>
          </a:p>
        </c:rich>
      </c:tx>
      <c:layout/>
      <c:overlay val="0"/>
    </c:title>
    <c:autoTitleDeleted val="0"/>
    <c:plotArea>
      <c:layout/>
      <c:barChart>
        <c:barDir val="col"/>
        <c:grouping val="stacked"/>
        <c:varyColors val="0"/>
        <c:ser>
          <c:idx val="0"/>
          <c:order val="0"/>
          <c:tx>
            <c:strRef>
              <c:f>Sheet1!$B$1</c:f>
              <c:strCache>
                <c:ptCount val="1"/>
                <c:pt idx="0">
                  <c:v>Passed</c:v>
                </c:pt>
              </c:strCache>
            </c:strRef>
          </c:tx>
          <c:spPr>
            <a:solidFill>
              <a:srgbClr val="1B8E4E"/>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Run 1</c:v>
                  </c:pt>
                  <c:pt idx="1">
                    <c:v>Run 2</c:v>
                  </c:pt>
                  <c:pt idx="2">
                    <c:v>Run 3</c:v>
                  </c:pt>
                  <c:pt idx="3">
                    <c:v>Run 4</c:v>
                  </c:pt>
                  <c:pt idx="4">
                    <c:v>Run 5</c:v>
                  </c:pt>
                  <c:pt idx="5">
                    <c:v>Run 6</c:v>
                  </c:pt>
                </c:lvl>
              </c:multiLvlStrCache>
            </c:multiLvlStrRef>
          </c:cat>
          <c:val>
            <c:numRef>
              <c:f>Sheet1!$B$2:$B$7</c:f>
              <c:numCache>
                <c:formatCode>General</c:formatCode>
                <c:ptCount val="6"/>
                <c:pt idx="0">
                  <c:v>8</c:v>
                </c:pt>
                <c:pt idx="1">
                  <c:v>6</c:v>
                </c:pt>
                <c:pt idx="2">
                  <c:v>8</c:v>
                </c:pt>
                <c:pt idx="3">
                  <c:v>7</c:v>
                </c:pt>
                <c:pt idx="4">
                  <c:v>8</c:v>
                </c:pt>
                <c:pt idx="5">
                  <c:v>8</c:v>
                </c:pt>
              </c:numCache>
            </c:numRef>
          </c:val>
        </c:ser>
        <c:ser>
          <c:idx val="1"/>
          <c:order val="1"/>
          <c:tx>
            <c:strRef>
              <c:f>Sheet1!$C$1</c:f>
              <c:strCache>
                <c:ptCount val="1"/>
                <c:pt idx="0">
                  <c:v>Failed</c:v>
                </c:pt>
              </c:strCache>
            </c:strRef>
          </c:tx>
          <c:spPr>
            <a:solidFill>
              <a:srgbClr val="D03B3B"/>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Run 1</c:v>
                  </c:pt>
                  <c:pt idx="1">
                    <c:v>Run 2</c:v>
                  </c:pt>
                  <c:pt idx="2">
                    <c:v>Run 3</c:v>
                  </c:pt>
                  <c:pt idx="3">
                    <c:v>Run 4</c:v>
                  </c:pt>
                  <c:pt idx="4">
                    <c:v>Run 5</c:v>
                  </c:pt>
                  <c:pt idx="5">
                    <c:v>Run 6</c:v>
                  </c:pt>
                </c:lvl>
              </c:multiLvlStrCache>
            </c:multiLvlStrRef>
          </c:cat>
          <c:val>
            <c:numRef>
              <c:f>Sheet1!$C$2:$C$7</c:f>
              <c:numCache>
                <c:formatCode>General</c:formatCode>
                <c:ptCount val="6"/>
                <c:pt idx="0">
                  <c:v>8</c:v>
                </c:pt>
                <c:pt idx="1">
                  <c:v>10</c:v>
                </c:pt>
                <c:pt idx="2">
                  <c:v>8</c:v>
                </c:pt>
                <c:pt idx="3">
                  <c:v>9</c:v>
                </c:pt>
                <c:pt idx="4">
                  <c:v>8</c:v>
                </c:pt>
                <c:pt idx="5">
                  <c:v>8</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E3E7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majorUnit val="4"/>
      </c:valAx>
      <c:spPr>
        <a:noFill/>
        <a:ln>
          <a:noFill/>
        </a:ln>
        <a:effectLst/>
      </c:spPr>
    </c:plotArea>
    <c:legend>
      <c:legendPos val="b"/>
      <c:overlay val="0"/>
      <c:txPr>
        <a:bodyPr/>
        <a:lstStyle/>
        <a:p>
          <a:pPr>
            <a:defRPr sz="1200">
              <a:solidFill>
                <a:srgbClr val="5B647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about automating the most repetitive part of software testing: turning a failing test into a bug report. The system runs Playwright browser tests, captures every failure automatically, predicts its severity with a machine learning model, stores it in a database, and shows everything on a web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of the presentation: the problem, the objectives, how the system is designed, how each part is implemented, and finally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manual testing, every failure means reading the error, taking a screenshot, writing a report, deciding severity and logging it in a tracker. Severity is subjective, information is scattered, and flaky tests make people doubt real failures. The idea of this project is to let the test framework do all of this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objectives of the project. Each one is implemented as a separate module, and the last objective connects all of them into one automated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Playwright runs the tests. A custom reporter plugged into Playwright receives every result and captures failures. The ML classifier predicts severity. Everything is stored in SQLite, and the dashboard reads from the database. Three side outputs: an email for Critical bugs, flaky detection from the run history, and an HTML results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is written in TypeScript. Playwright 1.64.1, the latest version, runs the browser tests. The Naive Bayes model is written from scratch so every step can be explained. SQLite stores the data, Express and Chart.js power the dashboard, and Nodemailer sends email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have realistic failures, I built a demo shop called ShopEase with five modules. I seeded defects of different severities: a SQL error on login and a payment crash are Critical, wrong calculations are Major, typos and colours are Minor. Two APIs have random delays to create flaky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Playwright lets us plug in our own reporter. onBegin creates a run. onTestEnd stores every result, and for a failure it captures the error message, the screenshot, the timestamp and the module, which comes from the test tag. onEnd saves the summary and sends alerts. A fingerprint of test name plus error text prevents duplicate bugs across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is predicted from the error text. First the message is cleaned: colour codes and the Locator and Timeout lines that appear in every Playwright failure are removed. Then it is lower-cased, HTTP codes become tokens like http500, and words plus word pairs become features. A Multinomial Naive Bayes model, written from scratch, picks the most probable class. The training set has 179 labelled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was evaluated two ways: a stratified 80/20 split gives 86.1% accuracy and 5-fold cross-validation gives 87.2%. Critical has 100% precision, so when the model says Critical it is always right. Most mistakes push Minor or Critical messages into Major, the middle class. On the ten real failures from the demo app, all ten severities were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stored in one SQLite file with four tables. test_runs holds run summaries, test_results holds every result of every run, which is needed for flaky detection, bugs holds unique defects with severity and confidence, and bug_history records every status change for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The bug list can be filtered by severity, status and module, and searched by ID, test name or error text. Each bug has a details page with the error, screenshot, ML confidence and history. Bugs move from Open to In Progress to Resolved, and every change is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overview page has three charts. Bugs per module shows that Profile has the most defects. Severity distribution shows the ML predictions. The 14-day trend shows new bugs per day; in this run all ten bugs were found on the first day of testing, so the trend has one bar. On a real project the chart fills up as tests run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flaky test passes and fails on the same code. The detector reads the stored results of the last ten runs. If a test has both passes and failures, it is flaky. Failure rate and flip rate describe how unstable it is. Playwright retries are disabled on purpose, because retries would hide flakiness. Both seeded flaky tests were detected, and the consistently failing tests were correctly classified as real defects.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model predicts Critical for a new bug, Nodemailer sends an email over SMTP with the bug details, a link to the dashboard and the screenshot attached. Repeat failures of the same bug do not send new emails. Without SMTP settings, the same email is saved as an HTML preview so the feature can still be demonstrated.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complete pipeline: 6 runs and 96 test executions. Ten unique bugs were logged with zero manual reports, all ten severities were correct, both flaky tests were found, and three Critical alerts were generated. The chart shows passed and failed tests per run; the number of failures changes only because of the two flaky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all eight objectives were implemented and verified end to end. Bug reporting needs no manual effort, severity is predicted consistently, and flaky tests are separated from real defects. In future, the model can be trained on a larger real dataset and compared with other algorithms, and the system can create tickets in Jira, notify Slack and run in CI on every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answer questions, and I can show a live demo: the pipeline runs the tests, and the dashboard shows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024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731520" y="3931920"/>
            <a:ext cx="10698480" cy="548640"/>
          </a:xfrm>
          <a:prstGeom prst="rect">
            <a:avLst/>
          </a:prstGeom>
          <a:noFill/>
          <a:ln/>
        </p:spPr>
        <p:txBody>
          <a:bodyPr wrap="square" rtlCol="0"/>
          <a:lstStyle>
            <a:lvl1pPr algn="l" indent="0" marL="0">
              <a:buNone/>
              <a:defRPr lang="en-US" sz="2000" dirty="0">
                <a:solidFill>
                  <a:srgbClr val="CADCFC"/>
                </a:solidFill>
              </a:defRPr>
            </a:lvl1pPr>
          </a:lstStyle>
          <a:p>
            <a:pPr algn="l" indent="0" marL="0">
              <a:buNone/>
            </a:pPr>
            <a:endParaRPr lang="en-US" sz="2000" dirty="0"/>
          </a:p>
        </p:txBody>
      </p:sp>
      <p:sp>
        <p:nvSpPr>
          <p:cNvPr id="4" name="Text 0"/>
          <p:cNvSpPr/>
          <p:nvPr>
            <p:ph idx="102" type="body" hasCustomPrompt="1"/>
          </p:nvPr>
        </p:nvSpPr>
        <p:spPr>
          <a:xfrm>
            <a:off x="731520" y="5120640"/>
            <a:ext cx="10698480" cy="1005840"/>
          </a:xfrm>
          <a:prstGeom prst="rect">
            <a:avLst/>
          </a:prstGeom>
          <a:noFill/>
          <a:ln/>
        </p:spPr>
        <p:txBody>
          <a:bodyPr wrap="square" rtlCol="0"/>
          <a:lstStyle>
            <a:lvl1pPr algn="l" indent="0" marL="0">
              <a:buNone/>
              <a:defRPr lang="en-US" sz="1600" dirty="0">
                <a:solidFill>
                  <a:schemeClr val="bg1"/>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472"/>
                </a:solidFill>
              </a:rPr>
              <a:t>Automated Bug Reporting and Severity Classification  ·  M.Tech Project</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2011680"/>
          </a:xfrm>
          <a:prstGeom prst="rect">
            <a:avLst/>
          </a:prstGeom>
          <a:noFill/>
          <a:ln/>
        </p:spPr>
        <p:txBody>
          <a:bodyPr wrap="square" lIns="0" tIns="0" rIns="0" bIns="0" rtlCol="0" anchor="b"/>
          <a:lstStyle/>
          <a:p>
            <a:pPr algn="l" indent="0" marL="0">
              <a:buNone/>
            </a:pPr>
            <a:r>
              <a:rPr lang="en-US" sz="3600" b="1" dirty="0">
                <a:solidFill>
                  <a:schemeClr val="bg1"/>
                </a:solidFill>
              </a:rPr>
              <a:t>Automated Bug Reporting and Severity Classification Using Machine Learning and Playwright Test Automation</a:t>
            </a:r>
            <a:endParaRPr lang="en-US" sz="3600" dirty="0"/>
          </a:p>
        </p:txBody>
      </p:sp>
      <p:sp>
        <p:nvSpPr>
          <p:cNvPr id="3" name="Text 0"/>
          <p:cNvSpPr/>
          <p:nvPr>
            <p:ph idx="101" type="body" hasCustomPrompt="1"/>
          </p:nvPr>
        </p:nvSpPr>
        <p:spPr>
          <a:xfrm>
            <a:off x="731520" y="3931920"/>
            <a:ext cx="10698480" cy="548640"/>
          </a:xfrm>
          <a:prstGeom prst="rect">
            <a:avLst/>
          </a:prstGeom>
          <a:noFill/>
          <a:ln/>
        </p:spPr>
        <p:txBody>
          <a:bodyPr wrap="square" lIns="0" tIns="0" rIns="0" bIns="0" rtlCol="0" anchor="t"/>
          <a:lstStyle/>
          <a:p>
            <a:pPr algn="l" indent="0" marL="0">
              <a:buNone/>
            </a:pPr>
            <a:r>
              <a:rPr lang="en-US" sz="2000" dirty="0">
                <a:solidFill>
                  <a:srgbClr val="CADCFC"/>
                </a:solidFill>
              </a:rPr>
              <a:t>M.Tech Final Year Project</a:t>
            </a:r>
            <a:endParaRPr lang="en-US" sz="2000" dirty="0"/>
          </a:p>
        </p:txBody>
      </p:sp>
      <p:sp>
        <p:nvSpPr>
          <p:cNvPr id="4" name="Text 0"/>
          <p:cNvSpPr/>
          <p:nvPr>
            <p:ph idx="102" type="body" hasCustomPrompt="1"/>
          </p:nvPr>
        </p:nvSpPr>
        <p:spPr>
          <a:xfrm>
            <a:off x="731520" y="5120640"/>
            <a:ext cx="10698480" cy="1005840"/>
          </a:xfrm>
          <a:prstGeom prst="rect">
            <a:avLst/>
          </a:prstGeom>
          <a:noFill/>
          <a:ln/>
        </p:spPr>
        <p:txBody>
          <a:bodyPr wrap="square" lIns="0" tIns="0" rIns="0" bIns="0" rtlCol="0" anchor="t"/>
          <a:lstStyle/>
          <a:p>
            <a:pPr algn="l" indent="0" marL="0">
              <a:buNone/>
            </a:pPr>
            <a:r>
              <a:rPr lang="en-US" sz="1600" dirty="0">
                <a:solidFill>
                  <a:schemeClr val="bg1"/>
                </a:solidFill>
              </a:rPr>
              <a:t>Presented by: Student Name (Roll No.)</a:t>
            </a:r>
            <a:endParaRPr lang="en-US" sz="1600" dirty="0"/>
          </a:p>
          <a:p>
            <a:pPr algn="l" indent="0" marL="0">
              <a:buNone/>
            </a:pPr>
            <a:r>
              <a:rPr lang="en-US" sz="1600" dirty="0">
                <a:solidFill>
                  <a:schemeClr val="bg1"/>
                </a:solidFill>
              </a:rPr>
              <a:t>Guide: Guide Name  ·  Department, College Name</a:t>
            </a:r>
            <a:endParaRPr lang="en-US" sz="1600" dirty="0"/>
          </a:p>
        </p:txBody>
      </p:sp>
      <p:sp>
        <p:nvSpPr>
          <p:cNvPr id="5" name="icon circle"/>
          <p:cNvSpPr/>
          <p:nvPr/>
        </p:nvSpPr>
        <p:spPr>
          <a:xfrm>
            <a:off x="731520" y="731520"/>
            <a:ext cx="822960" cy="822960"/>
          </a:xfrm>
          <a:prstGeom prst="ellipse">
            <a:avLst/>
          </a:prstGeom>
          <a:solidFill>
            <a:srgbClr val="D03B3B"/>
          </a:solidFill>
          <a:ln/>
        </p:spPr>
      </p:sp>
      <p:pic>
        <p:nvPicPr>
          <p:cNvPr id="6" name="FaBug icon" descr="preencoded.png">    </p:cNvPr>
          <p:cNvPicPr>
            <a:picLocks noChangeAspect="1"/>
          </p:cNvPicPr>
          <p:nvPr/>
        </p:nvPicPr>
        <p:blipFill>
          <a:blip r:embed="rId1"/>
          <a:stretch>
            <a:fillRect/>
          </a:stretch>
        </p:blipFill>
        <p:spPr>
          <a:xfrm>
            <a:off x="937260" y="937260"/>
            <a:ext cx="411480" cy="411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Agenda</a:t>
            </a:r>
            <a:endParaRPr lang="en-US" sz="3000" dirty="0"/>
          </a:p>
        </p:txBody>
      </p:sp>
      <p:sp>
        <p:nvSpPr>
          <p:cNvPr id="3" name="agenda number"/>
          <p:cNvSpPr/>
          <p:nvPr/>
        </p:nvSpPr>
        <p:spPr>
          <a:xfrm>
            <a:off x="731520" y="1463040"/>
            <a:ext cx="548640" cy="548640"/>
          </a:xfrm>
          <a:prstGeom prst="ellipse">
            <a:avLst/>
          </a:prstGeom>
          <a:solidFill>
            <a:srgbClr val="10243F"/>
          </a:solid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4" name="Text 2"/>
          <p:cNvSpPr txBox="1"/>
          <p:nvPr/>
        </p:nvSpPr>
        <p:spPr>
          <a:xfrm>
            <a:off x="1508760" y="1536192"/>
            <a:ext cx="4389120" cy="411480"/>
          </a:xfrm>
          <a:prstGeom prst="rect">
            <a:avLst/>
          </a:prstGeom>
          <a:noFill/>
          <a:ln/>
        </p:spPr>
        <p:txBody>
          <a:bodyPr wrap="square" lIns="0" tIns="0" rIns="0" bIns="0" rtlCol="0" anchor="ctr"/>
          <a:lstStyle/>
          <a:p>
            <a:pPr indent="0" marL="0">
              <a:buNone/>
            </a:pPr>
            <a:r>
              <a:rPr lang="en-US" sz="2000" dirty="0">
                <a:solidFill>
                  <a:schemeClr val="tx2"/>
                </a:solidFill>
              </a:rPr>
              <a:t>Problem statement</a:t>
            </a:r>
            <a:endParaRPr lang="en-US" sz="2000" dirty="0"/>
          </a:p>
        </p:txBody>
      </p:sp>
      <p:sp>
        <p:nvSpPr>
          <p:cNvPr id="5" name="agenda number"/>
          <p:cNvSpPr/>
          <p:nvPr/>
        </p:nvSpPr>
        <p:spPr>
          <a:xfrm>
            <a:off x="731520" y="2377440"/>
            <a:ext cx="548640" cy="548640"/>
          </a:xfrm>
          <a:prstGeom prst="ellipse">
            <a:avLst/>
          </a:prstGeom>
          <a:solidFill>
            <a:srgbClr val="10243F"/>
          </a:solid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6" name="Text 4"/>
          <p:cNvSpPr txBox="1"/>
          <p:nvPr/>
        </p:nvSpPr>
        <p:spPr>
          <a:xfrm>
            <a:off x="1508760" y="2450592"/>
            <a:ext cx="4389120" cy="411480"/>
          </a:xfrm>
          <a:prstGeom prst="rect">
            <a:avLst/>
          </a:prstGeom>
          <a:noFill/>
          <a:ln/>
        </p:spPr>
        <p:txBody>
          <a:bodyPr wrap="square" lIns="0" tIns="0" rIns="0" bIns="0" rtlCol="0" anchor="ctr"/>
          <a:lstStyle/>
          <a:p>
            <a:pPr indent="0" marL="0">
              <a:buNone/>
            </a:pPr>
            <a:r>
              <a:rPr lang="en-US" sz="2000" dirty="0">
                <a:solidFill>
                  <a:schemeClr val="tx2"/>
                </a:solidFill>
              </a:rPr>
              <a:t>Objectives</a:t>
            </a:r>
            <a:endParaRPr lang="en-US" sz="2000" dirty="0"/>
          </a:p>
        </p:txBody>
      </p:sp>
      <p:sp>
        <p:nvSpPr>
          <p:cNvPr id="7" name="agenda number"/>
          <p:cNvSpPr/>
          <p:nvPr/>
        </p:nvSpPr>
        <p:spPr>
          <a:xfrm>
            <a:off x="731520" y="3291840"/>
            <a:ext cx="548640" cy="548640"/>
          </a:xfrm>
          <a:prstGeom prst="ellipse">
            <a:avLst/>
          </a:prstGeom>
          <a:solidFill>
            <a:srgbClr val="10243F"/>
          </a:solid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8" name="Text 6"/>
          <p:cNvSpPr txBox="1"/>
          <p:nvPr/>
        </p:nvSpPr>
        <p:spPr>
          <a:xfrm>
            <a:off x="1508760" y="3364992"/>
            <a:ext cx="4389120" cy="411480"/>
          </a:xfrm>
          <a:prstGeom prst="rect">
            <a:avLst/>
          </a:prstGeom>
          <a:noFill/>
          <a:ln/>
        </p:spPr>
        <p:txBody>
          <a:bodyPr wrap="square" lIns="0" tIns="0" rIns="0" bIns="0" rtlCol="0" anchor="ctr"/>
          <a:lstStyle/>
          <a:p>
            <a:pPr indent="0" marL="0">
              <a:buNone/>
            </a:pPr>
            <a:r>
              <a:rPr lang="en-US" sz="2000" dirty="0">
                <a:solidFill>
                  <a:schemeClr val="tx2"/>
                </a:solidFill>
              </a:rPr>
              <a:t>System architecture</a:t>
            </a:r>
            <a:endParaRPr lang="en-US" sz="2000" dirty="0"/>
          </a:p>
        </p:txBody>
      </p:sp>
      <p:sp>
        <p:nvSpPr>
          <p:cNvPr id="9" name="agenda number"/>
          <p:cNvSpPr/>
          <p:nvPr/>
        </p:nvSpPr>
        <p:spPr>
          <a:xfrm>
            <a:off x="731520" y="4206240"/>
            <a:ext cx="548640" cy="548640"/>
          </a:xfrm>
          <a:prstGeom prst="ellipse">
            <a:avLst/>
          </a:prstGeom>
          <a:solidFill>
            <a:srgbClr val="10243F"/>
          </a:solid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10" name="Text 8"/>
          <p:cNvSpPr txBox="1"/>
          <p:nvPr/>
        </p:nvSpPr>
        <p:spPr>
          <a:xfrm>
            <a:off x="1508760" y="4279392"/>
            <a:ext cx="4389120" cy="411480"/>
          </a:xfrm>
          <a:prstGeom prst="rect">
            <a:avLst/>
          </a:prstGeom>
          <a:noFill/>
          <a:ln/>
        </p:spPr>
        <p:txBody>
          <a:bodyPr wrap="square" lIns="0" tIns="0" rIns="0" bIns="0" rtlCol="0" anchor="ctr"/>
          <a:lstStyle/>
          <a:p>
            <a:pPr indent="0" marL="0">
              <a:buNone/>
            </a:pPr>
            <a:r>
              <a:rPr lang="en-US" sz="2000" dirty="0">
                <a:solidFill>
                  <a:schemeClr val="tx2"/>
                </a:solidFill>
              </a:rPr>
              <a:t>Technology stack</a:t>
            </a:r>
            <a:endParaRPr lang="en-US" sz="2000" dirty="0"/>
          </a:p>
        </p:txBody>
      </p:sp>
      <p:sp>
        <p:nvSpPr>
          <p:cNvPr id="11" name="agenda number"/>
          <p:cNvSpPr/>
          <p:nvPr/>
        </p:nvSpPr>
        <p:spPr>
          <a:xfrm>
            <a:off x="731520" y="5120640"/>
            <a:ext cx="548640" cy="548640"/>
          </a:xfrm>
          <a:prstGeom prst="ellipse">
            <a:avLst/>
          </a:prstGeom>
          <a:solidFill>
            <a:srgbClr val="10243F"/>
          </a:solidFill>
          <a:ln/>
        </p:spPr>
        <p:txBody>
          <a:bodyPr wrap="square" lIns="0" tIns="0" rIns="0" bIns="0" rtlCol="0" anchor="ctr"/>
          <a:lstStyle/>
          <a:p>
            <a:pPr algn="ctr" indent="0" marL="0">
              <a:buNone/>
            </a:pPr>
            <a:r>
              <a:rPr lang="en-US" sz="1400" b="1" dirty="0">
                <a:solidFill>
                  <a:schemeClr val="bg1"/>
                </a:solidFill>
              </a:rPr>
              <a:t>05</a:t>
            </a:r>
            <a:endParaRPr lang="en-US" sz="1400" dirty="0"/>
          </a:p>
        </p:txBody>
      </p:sp>
      <p:sp>
        <p:nvSpPr>
          <p:cNvPr id="12" name="Text 10"/>
          <p:cNvSpPr txBox="1"/>
          <p:nvPr/>
        </p:nvSpPr>
        <p:spPr>
          <a:xfrm>
            <a:off x="1508760" y="5193792"/>
            <a:ext cx="4389120" cy="411480"/>
          </a:xfrm>
          <a:prstGeom prst="rect">
            <a:avLst/>
          </a:prstGeom>
          <a:noFill/>
          <a:ln/>
        </p:spPr>
        <p:txBody>
          <a:bodyPr wrap="square" lIns="0" tIns="0" rIns="0" bIns="0" rtlCol="0" anchor="ctr"/>
          <a:lstStyle/>
          <a:p>
            <a:pPr indent="0" marL="0">
              <a:buNone/>
            </a:pPr>
            <a:r>
              <a:rPr lang="en-US" sz="2000" dirty="0">
                <a:solidFill>
                  <a:schemeClr val="tx2"/>
                </a:solidFill>
              </a:rPr>
              <a:t>Application under test</a:t>
            </a:r>
            <a:endParaRPr lang="en-US" sz="2000" dirty="0"/>
          </a:p>
        </p:txBody>
      </p:sp>
      <p:sp>
        <p:nvSpPr>
          <p:cNvPr id="13" name="agenda number"/>
          <p:cNvSpPr/>
          <p:nvPr/>
        </p:nvSpPr>
        <p:spPr>
          <a:xfrm>
            <a:off x="6309360" y="1463040"/>
            <a:ext cx="548640" cy="548640"/>
          </a:xfrm>
          <a:prstGeom prst="ellipse">
            <a:avLst/>
          </a:prstGeom>
          <a:solidFill>
            <a:srgbClr val="10243F"/>
          </a:solidFill>
          <a:ln/>
        </p:spPr>
        <p:txBody>
          <a:bodyPr wrap="square" lIns="0" tIns="0" rIns="0" bIns="0" rtlCol="0" anchor="ctr"/>
          <a:lstStyle/>
          <a:p>
            <a:pPr algn="ctr" indent="0" marL="0">
              <a:buNone/>
            </a:pPr>
            <a:r>
              <a:rPr lang="en-US" sz="1400" b="1" dirty="0">
                <a:solidFill>
                  <a:schemeClr val="bg1"/>
                </a:solidFill>
              </a:rPr>
              <a:t>06</a:t>
            </a:r>
            <a:endParaRPr lang="en-US" sz="1400" dirty="0"/>
          </a:p>
        </p:txBody>
      </p:sp>
      <p:sp>
        <p:nvSpPr>
          <p:cNvPr id="14" name="Text 12"/>
          <p:cNvSpPr txBox="1"/>
          <p:nvPr/>
        </p:nvSpPr>
        <p:spPr>
          <a:xfrm>
            <a:off x="7086600" y="1536192"/>
            <a:ext cx="4389120" cy="411480"/>
          </a:xfrm>
          <a:prstGeom prst="rect">
            <a:avLst/>
          </a:prstGeom>
          <a:noFill/>
          <a:ln/>
        </p:spPr>
        <p:txBody>
          <a:bodyPr wrap="square" lIns="0" tIns="0" rIns="0" bIns="0" rtlCol="0" anchor="ctr"/>
          <a:lstStyle/>
          <a:p>
            <a:pPr indent="0" marL="0">
              <a:buNone/>
            </a:pPr>
            <a:r>
              <a:rPr lang="en-US" sz="2000" dirty="0">
                <a:solidFill>
                  <a:schemeClr val="tx2"/>
                </a:solidFill>
              </a:rPr>
              <a:t>Automated bug capture</a:t>
            </a:r>
            <a:endParaRPr lang="en-US" sz="2000" dirty="0"/>
          </a:p>
        </p:txBody>
      </p:sp>
      <p:sp>
        <p:nvSpPr>
          <p:cNvPr id="15" name="agenda number"/>
          <p:cNvSpPr/>
          <p:nvPr/>
        </p:nvSpPr>
        <p:spPr>
          <a:xfrm>
            <a:off x="6309360" y="2377440"/>
            <a:ext cx="548640" cy="548640"/>
          </a:xfrm>
          <a:prstGeom prst="ellipse">
            <a:avLst/>
          </a:prstGeom>
          <a:solidFill>
            <a:srgbClr val="10243F"/>
          </a:solidFill>
          <a:ln/>
        </p:spPr>
        <p:txBody>
          <a:bodyPr wrap="square" lIns="0" tIns="0" rIns="0" bIns="0" rtlCol="0" anchor="ctr"/>
          <a:lstStyle/>
          <a:p>
            <a:pPr algn="ctr" indent="0" marL="0">
              <a:buNone/>
            </a:pPr>
            <a:r>
              <a:rPr lang="en-US" sz="1400" b="1" dirty="0">
                <a:solidFill>
                  <a:schemeClr val="bg1"/>
                </a:solidFill>
              </a:rPr>
              <a:t>07</a:t>
            </a:r>
            <a:endParaRPr lang="en-US" sz="1400" dirty="0"/>
          </a:p>
        </p:txBody>
      </p:sp>
      <p:sp>
        <p:nvSpPr>
          <p:cNvPr id="16" name="Text 14"/>
          <p:cNvSpPr txBox="1"/>
          <p:nvPr/>
        </p:nvSpPr>
        <p:spPr>
          <a:xfrm>
            <a:off x="7086600" y="2450592"/>
            <a:ext cx="4389120" cy="411480"/>
          </a:xfrm>
          <a:prstGeom prst="rect">
            <a:avLst/>
          </a:prstGeom>
          <a:noFill/>
          <a:ln/>
        </p:spPr>
        <p:txBody>
          <a:bodyPr wrap="square" lIns="0" tIns="0" rIns="0" bIns="0" rtlCol="0" anchor="ctr"/>
          <a:lstStyle/>
          <a:p>
            <a:pPr indent="0" marL="0">
              <a:buNone/>
            </a:pPr>
            <a:r>
              <a:rPr lang="en-US" sz="2000" dirty="0">
                <a:solidFill>
                  <a:schemeClr val="tx2"/>
                </a:solidFill>
              </a:rPr>
              <a:t>ML severity classification</a:t>
            </a:r>
            <a:endParaRPr lang="en-US" sz="2000" dirty="0"/>
          </a:p>
        </p:txBody>
      </p:sp>
      <p:sp>
        <p:nvSpPr>
          <p:cNvPr id="17" name="agenda number"/>
          <p:cNvSpPr/>
          <p:nvPr/>
        </p:nvSpPr>
        <p:spPr>
          <a:xfrm>
            <a:off x="6309360" y="3291840"/>
            <a:ext cx="548640" cy="548640"/>
          </a:xfrm>
          <a:prstGeom prst="ellipse">
            <a:avLst/>
          </a:prstGeom>
          <a:solidFill>
            <a:srgbClr val="10243F"/>
          </a:solidFill>
          <a:ln/>
        </p:spPr>
        <p:txBody>
          <a:bodyPr wrap="square" lIns="0" tIns="0" rIns="0" bIns="0" rtlCol="0" anchor="ctr"/>
          <a:lstStyle/>
          <a:p>
            <a:pPr algn="ctr" indent="0" marL="0">
              <a:buNone/>
            </a:pPr>
            <a:r>
              <a:rPr lang="en-US" sz="1400" b="1" dirty="0">
                <a:solidFill>
                  <a:schemeClr val="bg1"/>
                </a:solidFill>
              </a:rPr>
              <a:t>08</a:t>
            </a:r>
            <a:endParaRPr lang="en-US" sz="1400" dirty="0"/>
          </a:p>
        </p:txBody>
      </p:sp>
      <p:sp>
        <p:nvSpPr>
          <p:cNvPr id="18" name="Text 16"/>
          <p:cNvSpPr txBox="1"/>
          <p:nvPr/>
        </p:nvSpPr>
        <p:spPr>
          <a:xfrm>
            <a:off x="7086600" y="3364992"/>
            <a:ext cx="4389120" cy="411480"/>
          </a:xfrm>
          <a:prstGeom prst="rect">
            <a:avLst/>
          </a:prstGeom>
          <a:noFill/>
          <a:ln/>
        </p:spPr>
        <p:txBody>
          <a:bodyPr wrap="square" lIns="0" tIns="0" rIns="0" bIns="0" rtlCol="0" anchor="ctr"/>
          <a:lstStyle/>
          <a:p>
            <a:pPr indent="0" marL="0">
              <a:buNone/>
            </a:pPr>
            <a:r>
              <a:rPr lang="en-US" sz="2000" dirty="0">
                <a:solidFill>
                  <a:schemeClr val="tx2"/>
                </a:solidFill>
              </a:rPr>
              <a:t>Storage and dashboard</a:t>
            </a:r>
            <a:endParaRPr lang="en-US" sz="2000" dirty="0"/>
          </a:p>
        </p:txBody>
      </p:sp>
      <p:sp>
        <p:nvSpPr>
          <p:cNvPr id="19" name="agenda number"/>
          <p:cNvSpPr/>
          <p:nvPr/>
        </p:nvSpPr>
        <p:spPr>
          <a:xfrm>
            <a:off x="6309360" y="4206240"/>
            <a:ext cx="548640" cy="548640"/>
          </a:xfrm>
          <a:prstGeom prst="ellipse">
            <a:avLst/>
          </a:prstGeom>
          <a:solidFill>
            <a:srgbClr val="10243F"/>
          </a:solidFill>
          <a:ln/>
        </p:spPr>
        <p:txBody>
          <a:bodyPr wrap="square" lIns="0" tIns="0" rIns="0" bIns="0" rtlCol="0" anchor="ctr"/>
          <a:lstStyle/>
          <a:p>
            <a:pPr algn="ctr" indent="0" marL="0">
              <a:buNone/>
            </a:pPr>
            <a:r>
              <a:rPr lang="en-US" sz="1400" b="1" dirty="0">
                <a:solidFill>
                  <a:schemeClr val="bg1"/>
                </a:solidFill>
              </a:rPr>
              <a:t>09</a:t>
            </a:r>
            <a:endParaRPr lang="en-US" sz="1400" dirty="0"/>
          </a:p>
        </p:txBody>
      </p:sp>
      <p:sp>
        <p:nvSpPr>
          <p:cNvPr id="20" name="Text 18"/>
          <p:cNvSpPr txBox="1"/>
          <p:nvPr/>
        </p:nvSpPr>
        <p:spPr>
          <a:xfrm>
            <a:off x="7086600" y="4279392"/>
            <a:ext cx="4389120" cy="411480"/>
          </a:xfrm>
          <a:prstGeom prst="rect">
            <a:avLst/>
          </a:prstGeom>
          <a:noFill/>
          <a:ln/>
        </p:spPr>
        <p:txBody>
          <a:bodyPr wrap="square" lIns="0" tIns="0" rIns="0" bIns="0" rtlCol="0" anchor="ctr"/>
          <a:lstStyle/>
          <a:p>
            <a:pPr indent="0" marL="0">
              <a:buNone/>
            </a:pPr>
            <a:r>
              <a:rPr lang="en-US" sz="2000" dirty="0">
                <a:solidFill>
                  <a:schemeClr val="tx2"/>
                </a:solidFill>
              </a:rPr>
              <a:t>Flaky tests and email alerts</a:t>
            </a:r>
            <a:endParaRPr lang="en-US" sz="2000" dirty="0"/>
          </a:p>
        </p:txBody>
      </p:sp>
      <p:sp>
        <p:nvSpPr>
          <p:cNvPr id="21" name="agenda number"/>
          <p:cNvSpPr/>
          <p:nvPr/>
        </p:nvSpPr>
        <p:spPr>
          <a:xfrm>
            <a:off x="6309360" y="5120640"/>
            <a:ext cx="548640" cy="548640"/>
          </a:xfrm>
          <a:prstGeom prst="ellipse">
            <a:avLst/>
          </a:prstGeom>
          <a:solidFill>
            <a:srgbClr val="D03B3B"/>
          </a:solid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22" name="Text 20"/>
          <p:cNvSpPr txBox="1"/>
          <p:nvPr/>
        </p:nvSpPr>
        <p:spPr>
          <a:xfrm>
            <a:off x="7086600" y="5193792"/>
            <a:ext cx="4389120" cy="411480"/>
          </a:xfrm>
          <a:prstGeom prst="rect">
            <a:avLst/>
          </a:prstGeom>
          <a:noFill/>
          <a:ln/>
        </p:spPr>
        <p:txBody>
          <a:bodyPr wrap="square" lIns="0" tIns="0" rIns="0" bIns="0" rtlCol="0" anchor="ctr"/>
          <a:lstStyle/>
          <a:p>
            <a:pPr indent="0" marL="0">
              <a:buNone/>
            </a:pPr>
            <a:r>
              <a:rPr lang="en-US" sz="2000" dirty="0">
                <a:solidFill>
                  <a:schemeClr val="tx2"/>
                </a:solidFill>
              </a:rPr>
              <a:t>Results and conclusion</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Manual bug reporting is slow and inconsistent</a:t>
            </a:r>
            <a:endParaRPr lang="en-US" sz="3000" dirty="0"/>
          </a:p>
        </p:txBody>
      </p:sp>
      <p:sp>
        <p:nvSpPr>
          <p:cNvPr id="3" name="icon circle"/>
          <p:cNvSpPr/>
          <p:nvPr/>
        </p:nvSpPr>
        <p:spPr>
          <a:xfrm>
            <a:off x="548640" y="1417320"/>
            <a:ext cx="685800" cy="685800"/>
          </a:xfrm>
          <a:prstGeom prst="ellipse">
            <a:avLst/>
          </a:prstGeom>
          <a:solidFill>
            <a:srgbClr val="D03B3B"/>
          </a:solidFill>
          <a:ln/>
        </p:spPr>
      </p:sp>
      <p:pic>
        <p:nvPicPr>
          <p:cNvPr id="4" name="FaUserClock icon" descr="preencoded.png">    </p:cNvPr>
          <p:cNvPicPr>
            <a:picLocks noChangeAspect="1"/>
          </p:cNvPicPr>
          <p:nvPr/>
        </p:nvPicPr>
        <p:blipFill>
          <a:blip r:embed="rId1"/>
          <a:stretch>
            <a:fillRect/>
          </a:stretch>
        </p:blipFill>
        <p:spPr>
          <a:xfrm>
            <a:off x="720090" y="1588770"/>
            <a:ext cx="342900" cy="342900"/>
          </a:xfrm>
          <a:prstGeom prst="rect">
            <a:avLst/>
          </a:prstGeom>
        </p:spPr>
      </p:pic>
      <p:sp>
        <p:nvSpPr>
          <p:cNvPr id="5" name="Text 2"/>
          <p:cNvSpPr txBox="1"/>
          <p:nvPr/>
        </p:nvSpPr>
        <p:spPr>
          <a:xfrm>
            <a:off x="1463040" y="1399032"/>
            <a:ext cx="5486400" cy="365760"/>
          </a:xfrm>
          <a:prstGeom prst="rect">
            <a:avLst/>
          </a:prstGeom>
          <a:noFill/>
          <a:ln/>
        </p:spPr>
        <p:txBody>
          <a:bodyPr wrap="square" lIns="0" tIns="0" rIns="0" bIns="0" rtlCol="0" anchor="t"/>
          <a:lstStyle/>
          <a:p>
            <a:pPr indent="0" marL="0">
              <a:buNone/>
            </a:pPr>
            <a:r>
              <a:rPr lang="en-US" sz="2000" b="1" dirty="0">
                <a:solidFill>
                  <a:schemeClr val="tx2"/>
                </a:solidFill>
              </a:rPr>
              <a:t>Repetitive manual effort</a:t>
            </a:r>
            <a:endParaRPr lang="en-US" sz="2000" dirty="0"/>
          </a:p>
        </p:txBody>
      </p:sp>
      <p:sp>
        <p:nvSpPr>
          <p:cNvPr id="6" name="Text 3"/>
          <p:cNvSpPr txBox="1"/>
          <p:nvPr/>
        </p:nvSpPr>
        <p:spPr>
          <a:xfrm>
            <a:off x="1463040" y="1801368"/>
            <a:ext cx="5486400" cy="457200"/>
          </a:xfrm>
          <a:prstGeom prst="rect">
            <a:avLst/>
          </a:prstGeom>
          <a:noFill/>
          <a:ln/>
        </p:spPr>
        <p:txBody>
          <a:bodyPr wrap="square" lIns="0" tIns="0" rIns="0" bIns="0" rtlCol="0" anchor="t"/>
          <a:lstStyle/>
          <a:p>
            <a:pPr indent="0" marL="0">
              <a:buNone/>
            </a:pPr>
            <a:r>
              <a:rPr lang="en-US" sz="1500" dirty="0">
                <a:solidFill>
                  <a:schemeClr val="tx1"/>
                </a:solidFill>
              </a:rPr>
              <a:t>Testers copy errors, take screenshots and write every report by hand</a:t>
            </a:r>
            <a:endParaRPr lang="en-US" sz="1500" dirty="0"/>
          </a:p>
        </p:txBody>
      </p:sp>
      <p:sp>
        <p:nvSpPr>
          <p:cNvPr id="7" name="icon circle"/>
          <p:cNvSpPr/>
          <p:nvPr/>
        </p:nvSpPr>
        <p:spPr>
          <a:xfrm>
            <a:off x="548640" y="2606040"/>
            <a:ext cx="685800" cy="685800"/>
          </a:xfrm>
          <a:prstGeom prst="ellipse">
            <a:avLst/>
          </a:prstGeom>
          <a:solidFill>
            <a:srgbClr val="D03B3B"/>
          </a:solidFill>
          <a:ln/>
        </p:spPr>
      </p:sp>
      <p:pic>
        <p:nvPicPr>
          <p:cNvPr id="8" name="FaBalanceScale icon" descr="preencoded.png">    </p:cNvPr>
          <p:cNvPicPr>
            <a:picLocks noChangeAspect="1"/>
          </p:cNvPicPr>
          <p:nvPr/>
        </p:nvPicPr>
        <p:blipFill>
          <a:blip r:embed="rId2"/>
          <a:stretch>
            <a:fillRect/>
          </a:stretch>
        </p:blipFill>
        <p:spPr>
          <a:xfrm>
            <a:off x="720090" y="2777490"/>
            <a:ext cx="342900" cy="342900"/>
          </a:xfrm>
          <a:prstGeom prst="rect">
            <a:avLst/>
          </a:prstGeom>
        </p:spPr>
      </p:pic>
      <p:sp>
        <p:nvSpPr>
          <p:cNvPr id="9" name="Text 5"/>
          <p:cNvSpPr txBox="1"/>
          <p:nvPr/>
        </p:nvSpPr>
        <p:spPr>
          <a:xfrm>
            <a:off x="1463040" y="2587752"/>
            <a:ext cx="5486400" cy="365760"/>
          </a:xfrm>
          <a:prstGeom prst="rect">
            <a:avLst/>
          </a:prstGeom>
          <a:noFill/>
          <a:ln/>
        </p:spPr>
        <p:txBody>
          <a:bodyPr wrap="square" lIns="0" tIns="0" rIns="0" bIns="0" rtlCol="0" anchor="t"/>
          <a:lstStyle/>
          <a:p>
            <a:pPr indent="0" marL="0">
              <a:buNone/>
            </a:pPr>
            <a:r>
              <a:rPr lang="en-US" sz="2000" b="1" dirty="0">
                <a:solidFill>
                  <a:schemeClr val="tx2"/>
                </a:solidFill>
              </a:rPr>
              <a:t>Subjective severity</a:t>
            </a:r>
            <a:endParaRPr lang="en-US" sz="2000" dirty="0"/>
          </a:p>
        </p:txBody>
      </p:sp>
      <p:sp>
        <p:nvSpPr>
          <p:cNvPr id="10" name="Text 6"/>
          <p:cNvSpPr txBox="1"/>
          <p:nvPr/>
        </p:nvSpPr>
        <p:spPr>
          <a:xfrm>
            <a:off x="1463040" y="2990088"/>
            <a:ext cx="5486400" cy="457200"/>
          </a:xfrm>
          <a:prstGeom prst="rect">
            <a:avLst/>
          </a:prstGeom>
          <a:noFill/>
          <a:ln/>
        </p:spPr>
        <p:txBody>
          <a:bodyPr wrap="square" lIns="0" tIns="0" rIns="0" bIns="0" rtlCol="0" anchor="t"/>
          <a:lstStyle/>
          <a:p>
            <a:pPr indent="0" marL="0">
              <a:buNone/>
            </a:pPr>
            <a:r>
              <a:rPr lang="en-US" sz="1500" dirty="0">
                <a:solidFill>
                  <a:schemeClr val="tx1"/>
                </a:solidFill>
              </a:rPr>
              <a:t>Critical vs Major vs Minor depends on who reads the failure</a:t>
            </a:r>
            <a:endParaRPr lang="en-US" sz="1500" dirty="0"/>
          </a:p>
        </p:txBody>
      </p:sp>
      <p:sp>
        <p:nvSpPr>
          <p:cNvPr id="11" name="icon circle"/>
          <p:cNvSpPr/>
          <p:nvPr/>
        </p:nvSpPr>
        <p:spPr>
          <a:xfrm>
            <a:off x="548640" y="3794760"/>
            <a:ext cx="685800" cy="685800"/>
          </a:xfrm>
          <a:prstGeom prst="ellipse">
            <a:avLst/>
          </a:prstGeom>
          <a:solidFill>
            <a:srgbClr val="D03B3B"/>
          </a:solidFill>
          <a:ln/>
        </p:spPr>
      </p:sp>
      <p:pic>
        <p:nvPicPr>
          <p:cNvPr id="12" name="FaFolderOpen icon" descr="preencoded.png">    </p:cNvPr>
          <p:cNvPicPr>
            <a:picLocks noChangeAspect="1"/>
          </p:cNvPicPr>
          <p:nvPr/>
        </p:nvPicPr>
        <p:blipFill>
          <a:blip r:embed="rId3"/>
          <a:stretch>
            <a:fillRect/>
          </a:stretch>
        </p:blipFill>
        <p:spPr>
          <a:xfrm>
            <a:off x="720090" y="3966210"/>
            <a:ext cx="342900" cy="342900"/>
          </a:xfrm>
          <a:prstGeom prst="rect">
            <a:avLst/>
          </a:prstGeom>
        </p:spPr>
      </p:pic>
      <p:sp>
        <p:nvSpPr>
          <p:cNvPr id="13" name="Text 8"/>
          <p:cNvSpPr txBox="1"/>
          <p:nvPr/>
        </p:nvSpPr>
        <p:spPr>
          <a:xfrm>
            <a:off x="1463040" y="3776472"/>
            <a:ext cx="5486400" cy="365760"/>
          </a:xfrm>
          <a:prstGeom prst="rect">
            <a:avLst/>
          </a:prstGeom>
          <a:noFill/>
          <a:ln/>
        </p:spPr>
        <p:txBody>
          <a:bodyPr wrap="square" lIns="0" tIns="0" rIns="0" bIns="0" rtlCol="0" anchor="t"/>
          <a:lstStyle/>
          <a:p>
            <a:pPr indent="0" marL="0">
              <a:buNone/>
            </a:pPr>
            <a:r>
              <a:rPr lang="en-US" sz="2000" b="1" dirty="0">
                <a:solidFill>
                  <a:schemeClr val="tx2"/>
                </a:solidFill>
              </a:rPr>
              <a:t>Scattered information</a:t>
            </a:r>
            <a:endParaRPr lang="en-US" sz="2000" dirty="0"/>
          </a:p>
        </p:txBody>
      </p:sp>
      <p:sp>
        <p:nvSpPr>
          <p:cNvPr id="14" name="Text 9"/>
          <p:cNvSpPr txBox="1"/>
          <p:nvPr/>
        </p:nvSpPr>
        <p:spPr>
          <a:xfrm>
            <a:off x="1463040" y="4178808"/>
            <a:ext cx="5486400" cy="457200"/>
          </a:xfrm>
          <a:prstGeom prst="rect">
            <a:avLst/>
          </a:prstGeom>
          <a:noFill/>
          <a:ln/>
        </p:spPr>
        <p:txBody>
          <a:bodyPr wrap="square" lIns="0" tIns="0" rIns="0" bIns="0" rtlCol="0" anchor="t"/>
          <a:lstStyle/>
          <a:p>
            <a:pPr indent="0" marL="0">
              <a:buNone/>
            </a:pPr>
            <a:r>
              <a:rPr lang="en-US" sz="1500" dirty="0">
                <a:solidFill>
                  <a:schemeClr val="tx1"/>
                </a:solidFill>
              </a:rPr>
              <a:t>Failures live in logs and chats, with no history or traceability</a:t>
            </a:r>
            <a:endParaRPr lang="en-US" sz="1500" dirty="0"/>
          </a:p>
        </p:txBody>
      </p:sp>
      <p:sp>
        <p:nvSpPr>
          <p:cNvPr id="15" name="icon circle"/>
          <p:cNvSpPr/>
          <p:nvPr/>
        </p:nvSpPr>
        <p:spPr>
          <a:xfrm>
            <a:off x="548640" y="4983480"/>
            <a:ext cx="685800" cy="685800"/>
          </a:xfrm>
          <a:prstGeom prst="ellipse">
            <a:avLst/>
          </a:prstGeom>
          <a:solidFill>
            <a:srgbClr val="D03B3B"/>
          </a:solidFill>
          <a:ln/>
        </p:spPr>
      </p:sp>
      <p:pic>
        <p:nvPicPr>
          <p:cNvPr id="16" name="FaRandom icon" descr="preencoded.png">    </p:cNvPr>
          <p:cNvPicPr>
            <a:picLocks noChangeAspect="1"/>
          </p:cNvPicPr>
          <p:nvPr/>
        </p:nvPicPr>
        <p:blipFill>
          <a:blip r:embed="rId4"/>
          <a:stretch>
            <a:fillRect/>
          </a:stretch>
        </p:blipFill>
        <p:spPr>
          <a:xfrm>
            <a:off x="720090" y="5154930"/>
            <a:ext cx="342900" cy="342900"/>
          </a:xfrm>
          <a:prstGeom prst="rect">
            <a:avLst/>
          </a:prstGeom>
        </p:spPr>
      </p:pic>
      <p:sp>
        <p:nvSpPr>
          <p:cNvPr id="17" name="Text 11"/>
          <p:cNvSpPr txBox="1"/>
          <p:nvPr/>
        </p:nvSpPr>
        <p:spPr>
          <a:xfrm>
            <a:off x="1463040" y="4965192"/>
            <a:ext cx="5486400" cy="365760"/>
          </a:xfrm>
          <a:prstGeom prst="rect">
            <a:avLst/>
          </a:prstGeom>
          <a:noFill/>
          <a:ln/>
        </p:spPr>
        <p:txBody>
          <a:bodyPr wrap="square" lIns="0" tIns="0" rIns="0" bIns="0" rtlCol="0" anchor="t"/>
          <a:lstStyle/>
          <a:p>
            <a:pPr indent="0" marL="0">
              <a:buNone/>
            </a:pPr>
            <a:r>
              <a:rPr lang="en-US" sz="2000" b="1" dirty="0">
                <a:solidFill>
                  <a:schemeClr val="tx2"/>
                </a:solidFill>
              </a:rPr>
              <a:t>Flaky tests waste time</a:t>
            </a:r>
            <a:endParaRPr lang="en-US" sz="2000" dirty="0"/>
          </a:p>
        </p:txBody>
      </p:sp>
      <p:sp>
        <p:nvSpPr>
          <p:cNvPr id="18" name="Text 12"/>
          <p:cNvSpPr txBox="1"/>
          <p:nvPr/>
        </p:nvSpPr>
        <p:spPr>
          <a:xfrm>
            <a:off x="1463040" y="5367528"/>
            <a:ext cx="5486400" cy="457200"/>
          </a:xfrm>
          <a:prstGeom prst="rect">
            <a:avLst/>
          </a:prstGeom>
          <a:noFill/>
          <a:ln/>
        </p:spPr>
        <p:txBody>
          <a:bodyPr wrap="square" lIns="0" tIns="0" rIns="0" bIns="0" rtlCol="0" anchor="t"/>
          <a:lstStyle/>
          <a:p>
            <a:pPr indent="0" marL="0">
              <a:buNone/>
            </a:pPr>
            <a:r>
              <a:rPr lang="en-US" sz="1500" dirty="0">
                <a:solidFill>
                  <a:schemeClr val="tx1"/>
                </a:solidFill>
              </a:rPr>
              <a:t>Tests that pass and fail at random hide real defects</a:t>
            </a:r>
            <a:endParaRPr lang="en-US" sz="1500" dirty="0"/>
          </a:p>
        </p:txBody>
      </p:sp>
      <p:sp>
        <p:nvSpPr>
          <p:cNvPr id="19" name="idea panel"/>
          <p:cNvSpPr/>
          <p:nvPr/>
        </p:nvSpPr>
        <p:spPr>
          <a:xfrm>
            <a:off x="7498080" y="1417320"/>
            <a:ext cx="4142232" cy="4617720"/>
          </a:xfrm>
          <a:prstGeom prst="roundRect">
            <a:avLst>
              <a:gd name="adj" fmla="val 2649"/>
            </a:avLst>
          </a:prstGeom>
          <a:solidFill>
            <a:srgbClr val="10243F"/>
          </a:solidFill>
          <a:ln/>
        </p:spPr>
      </p:sp>
      <p:sp>
        <p:nvSpPr>
          <p:cNvPr id="20" name="Text 14"/>
          <p:cNvSpPr txBox="1"/>
          <p:nvPr/>
        </p:nvSpPr>
        <p:spPr>
          <a:xfrm>
            <a:off x="7863840" y="1737360"/>
            <a:ext cx="3474720" cy="274320"/>
          </a:xfrm>
          <a:prstGeom prst="rect">
            <a:avLst/>
          </a:prstGeom>
          <a:noFill/>
          <a:ln/>
        </p:spPr>
        <p:txBody>
          <a:bodyPr wrap="square" lIns="0" tIns="0" rIns="0" bIns="0" rtlCol="0" anchor="t"/>
          <a:lstStyle/>
          <a:p>
            <a:pPr indent="0" marL="0">
              <a:buNone/>
            </a:pPr>
            <a:r>
              <a:rPr lang="en-US" sz="1300" b="1" spc="200" kern="0" dirty="0">
                <a:solidFill>
                  <a:srgbClr val="CADCFC"/>
                </a:solidFill>
              </a:rPr>
              <a:t>THE IDEA</a:t>
            </a:r>
            <a:endParaRPr lang="en-US" sz="1300" dirty="0"/>
          </a:p>
        </p:txBody>
      </p:sp>
      <p:sp>
        <p:nvSpPr>
          <p:cNvPr id="21" name="Text 15"/>
          <p:cNvSpPr txBox="1"/>
          <p:nvPr/>
        </p:nvSpPr>
        <p:spPr>
          <a:xfrm>
            <a:off x="7863840" y="2148840"/>
            <a:ext cx="3474720" cy="1920240"/>
          </a:xfrm>
          <a:prstGeom prst="rect">
            <a:avLst/>
          </a:prstGeom>
          <a:noFill/>
          <a:ln/>
        </p:spPr>
        <p:txBody>
          <a:bodyPr wrap="square" lIns="0" tIns="0" rIns="0" bIns="0" rtlCol="0" anchor="t"/>
          <a:lstStyle/>
          <a:p>
            <a:pPr indent="0" marL="0">
              <a:buNone/>
            </a:pPr>
            <a:r>
              <a:rPr lang="en-US" sz="2400" b="1" dirty="0">
                <a:solidFill>
                  <a:schemeClr val="bg1"/>
                </a:solidFill>
                <a:latin typeface="Arial" pitchFamily="34" charset="0"/>
                <a:ea typeface="Arial" pitchFamily="34" charset="-122"/>
                <a:cs typeface="Arial" pitchFamily="34" charset="-120"/>
              </a:rPr>
              <a:t>Let the test framework report, classify and track its own failures automatically</a:t>
            </a:r>
            <a:endParaRPr lang="en-US" sz="2400" dirty="0"/>
          </a:p>
        </p:txBody>
      </p:sp>
      <p:sp>
        <p:nvSpPr>
          <p:cNvPr id="22" name="Text 16"/>
          <p:cNvSpPr txBox="1"/>
          <p:nvPr/>
        </p:nvSpPr>
        <p:spPr>
          <a:xfrm>
            <a:off x="7863840" y="4343400"/>
            <a:ext cx="347472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No manual bug reports</a:t>
            </a:r>
            <a:endParaRPr lang="en-US" sz="1600" dirty="0"/>
          </a:p>
          <a:p>
            <a:pPr marL="342900" indent="-342900">
              <a:spcAft>
                <a:spcPts val="600"/>
              </a:spcAft>
              <a:buSzPct val="100000"/>
              <a:buChar char="•"/>
            </a:pPr>
            <a:r>
              <a:rPr lang="en-US" sz="1600" dirty="0">
                <a:solidFill>
                  <a:schemeClr val="bg1"/>
                </a:solidFill>
              </a:rPr>
              <a:t>Consistent ML-based severity</a:t>
            </a:r>
            <a:endParaRPr lang="en-US" sz="1600" dirty="0"/>
          </a:p>
          <a:p>
            <a:pPr marL="342900" indent="-342900">
              <a:spcAft>
                <a:spcPts val="600"/>
              </a:spcAft>
              <a:buSzPct val="100000"/>
              <a:buChar char="•"/>
            </a:pPr>
            <a:r>
              <a:rPr lang="en-US" sz="1600" dirty="0">
                <a:solidFill>
                  <a:schemeClr val="bg1"/>
                </a:solidFill>
              </a:rPr>
              <a:t>One traceable database</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Project objectives</a:t>
            </a:r>
            <a:endParaRPr lang="en-US" sz="3000" dirty="0"/>
          </a:p>
        </p:txBody>
      </p:sp>
      <p:sp>
        <p:nvSpPr>
          <p:cNvPr id="3" name="objective 1"/>
          <p:cNvSpPr/>
          <p:nvPr/>
        </p:nvSpPr>
        <p:spPr>
          <a:xfrm>
            <a:off x="548640" y="1371600"/>
            <a:ext cx="2606040" cy="2240280"/>
          </a:xfrm>
          <a:prstGeom prst="roundRect">
            <a:avLst>
              <a:gd name="adj" fmla="val 4898"/>
            </a:avLst>
          </a:prstGeom>
          <a:solidFill>
            <a:schemeClr val="bg2"/>
          </a:solidFill>
          <a:ln/>
        </p:spPr>
      </p:sp>
      <p:sp>
        <p:nvSpPr>
          <p:cNvPr id="4" name="icon circle"/>
          <p:cNvSpPr/>
          <p:nvPr/>
        </p:nvSpPr>
        <p:spPr>
          <a:xfrm>
            <a:off x="777240" y="1600200"/>
            <a:ext cx="594360" cy="594360"/>
          </a:xfrm>
          <a:prstGeom prst="ellipse">
            <a:avLst/>
          </a:prstGeom>
          <a:solidFill>
            <a:srgbClr val="10243F"/>
          </a:solidFill>
          <a:ln/>
        </p:spPr>
      </p:sp>
      <p:pic>
        <p:nvPicPr>
          <p:cNvPr id="5" name="FaCamera icon" descr="preencoded.png">    </p:cNvPr>
          <p:cNvPicPr>
            <a:picLocks noChangeAspect="1"/>
          </p:cNvPicPr>
          <p:nvPr/>
        </p:nvPicPr>
        <p:blipFill>
          <a:blip r:embed="rId1"/>
          <a:stretch>
            <a:fillRect/>
          </a:stretch>
        </p:blipFill>
        <p:spPr>
          <a:xfrm>
            <a:off x="925830" y="1748790"/>
            <a:ext cx="297180" cy="297180"/>
          </a:xfrm>
          <a:prstGeom prst="rect">
            <a:avLst/>
          </a:prstGeom>
        </p:spPr>
      </p:pic>
      <p:sp>
        <p:nvSpPr>
          <p:cNvPr id="6" name="Text 3"/>
          <p:cNvSpPr txBox="1"/>
          <p:nvPr/>
        </p:nvSpPr>
        <p:spPr>
          <a:xfrm>
            <a:off x="2377440" y="1645920"/>
            <a:ext cx="548640" cy="365760"/>
          </a:xfrm>
          <a:prstGeom prst="rect">
            <a:avLst/>
          </a:prstGeom>
          <a:noFill/>
          <a:ln/>
        </p:spPr>
        <p:txBody>
          <a:bodyPr wrap="square" lIns="0" tIns="0" rIns="0" bIns="0" rtlCol="0" anchor="t"/>
          <a:lstStyle/>
          <a:p>
            <a:pPr algn="r" indent="0" marL="0">
              <a:buNone/>
            </a:pPr>
            <a:r>
              <a:rPr lang="en-US" sz="1800" b="1" dirty="0">
                <a:solidFill>
                  <a:schemeClr val="accent1"/>
                </a:solidFill>
              </a:rPr>
              <a:t>01</a:t>
            </a:r>
            <a:endParaRPr lang="en-US" sz="1800" dirty="0"/>
          </a:p>
        </p:txBody>
      </p:sp>
      <p:sp>
        <p:nvSpPr>
          <p:cNvPr id="7" name="Text 4"/>
          <p:cNvSpPr txBox="1"/>
          <p:nvPr/>
        </p:nvSpPr>
        <p:spPr>
          <a:xfrm>
            <a:off x="777240" y="23317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Automated bug logging</a:t>
            </a:r>
            <a:endParaRPr lang="en-US" sz="1600" dirty="0"/>
          </a:p>
        </p:txBody>
      </p:sp>
      <p:sp>
        <p:nvSpPr>
          <p:cNvPr id="8" name="Text 5"/>
          <p:cNvSpPr txBox="1"/>
          <p:nvPr/>
        </p:nvSpPr>
        <p:spPr>
          <a:xfrm>
            <a:off x="777240" y="2743200"/>
            <a:ext cx="2194560" cy="777240"/>
          </a:xfrm>
          <a:prstGeom prst="rect">
            <a:avLst/>
          </a:prstGeom>
          <a:noFill/>
          <a:ln/>
        </p:spPr>
        <p:txBody>
          <a:bodyPr wrap="square" lIns="0" tIns="0" rIns="0" bIns="0" rtlCol="0" anchor="t"/>
          <a:lstStyle/>
          <a:p>
            <a:pPr indent="0" marL="0">
              <a:buNone/>
            </a:pPr>
            <a:r>
              <a:rPr lang="en-US" sz="1400" dirty="0">
                <a:solidFill>
                  <a:schemeClr val="tx1"/>
                </a:solidFill>
              </a:rPr>
              <a:t>Error, screenshot, timestamp and module from each failure</a:t>
            </a:r>
            <a:endParaRPr lang="en-US" sz="1400" dirty="0"/>
          </a:p>
        </p:txBody>
      </p:sp>
      <p:sp>
        <p:nvSpPr>
          <p:cNvPr id="9" name="objective 2"/>
          <p:cNvSpPr/>
          <p:nvPr/>
        </p:nvSpPr>
        <p:spPr>
          <a:xfrm>
            <a:off x="3383280" y="1371600"/>
            <a:ext cx="2606040" cy="2240280"/>
          </a:xfrm>
          <a:prstGeom prst="roundRect">
            <a:avLst>
              <a:gd name="adj" fmla="val 4898"/>
            </a:avLst>
          </a:prstGeom>
          <a:solidFill>
            <a:schemeClr val="bg2"/>
          </a:solidFill>
          <a:ln/>
        </p:spPr>
      </p:sp>
      <p:sp>
        <p:nvSpPr>
          <p:cNvPr id="10" name="icon circle"/>
          <p:cNvSpPr/>
          <p:nvPr/>
        </p:nvSpPr>
        <p:spPr>
          <a:xfrm>
            <a:off x="3611880" y="1600200"/>
            <a:ext cx="594360" cy="594360"/>
          </a:xfrm>
          <a:prstGeom prst="ellipse">
            <a:avLst/>
          </a:prstGeom>
          <a:solidFill>
            <a:srgbClr val="10243F"/>
          </a:solidFill>
          <a:ln/>
        </p:spPr>
      </p:sp>
      <p:pic>
        <p:nvPicPr>
          <p:cNvPr id="11" name="FaBrain icon" descr="preencoded.png">    </p:cNvPr>
          <p:cNvPicPr>
            <a:picLocks noChangeAspect="1"/>
          </p:cNvPicPr>
          <p:nvPr/>
        </p:nvPicPr>
        <p:blipFill>
          <a:blip r:embed="rId2"/>
          <a:stretch>
            <a:fillRect/>
          </a:stretch>
        </p:blipFill>
        <p:spPr>
          <a:xfrm>
            <a:off x="3760470" y="1748790"/>
            <a:ext cx="297180" cy="297180"/>
          </a:xfrm>
          <a:prstGeom prst="rect">
            <a:avLst/>
          </a:prstGeom>
        </p:spPr>
      </p:pic>
      <p:sp>
        <p:nvSpPr>
          <p:cNvPr id="12" name="Text 8"/>
          <p:cNvSpPr txBox="1"/>
          <p:nvPr/>
        </p:nvSpPr>
        <p:spPr>
          <a:xfrm>
            <a:off x="5212080" y="1645920"/>
            <a:ext cx="548640" cy="365760"/>
          </a:xfrm>
          <a:prstGeom prst="rect">
            <a:avLst/>
          </a:prstGeom>
          <a:noFill/>
          <a:ln/>
        </p:spPr>
        <p:txBody>
          <a:bodyPr wrap="square" lIns="0" tIns="0" rIns="0" bIns="0" rtlCol="0" anchor="t"/>
          <a:lstStyle/>
          <a:p>
            <a:pPr algn="r" indent="0" marL="0">
              <a:buNone/>
            </a:pPr>
            <a:r>
              <a:rPr lang="en-US" sz="1800" b="1" dirty="0">
                <a:solidFill>
                  <a:schemeClr val="accent1"/>
                </a:solidFill>
              </a:rPr>
              <a:t>02</a:t>
            </a:r>
            <a:endParaRPr lang="en-US" sz="1800" dirty="0"/>
          </a:p>
        </p:txBody>
      </p:sp>
      <p:sp>
        <p:nvSpPr>
          <p:cNvPr id="13" name="Text 9"/>
          <p:cNvSpPr txBox="1"/>
          <p:nvPr/>
        </p:nvSpPr>
        <p:spPr>
          <a:xfrm>
            <a:off x="3611880" y="23317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ML severity classification</a:t>
            </a:r>
            <a:endParaRPr lang="en-US" sz="1600" dirty="0"/>
          </a:p>
        </p:txBody>
      </p:sp>
      <p:sp>
        <p:nvSpPr>
          <p:cNvPr id="14" name="Text 10"/>
          <p:cNvSpPr txBox="1"/>
          <p:nvPr/>
        </p:nvSpPr>
        <p:spPr>
          <a:xfrm>
            <a:off x="3611880" y="2743200"/>
            <a:ext cx="2194560" cy="777240"/>
          </a:xfrm>
          <a:prstGeom prst="rect">
            <a:avLst/>
          </a:prstGeom>
          <a:noFill/>
          <a:ln/>
        </p:spPr>
        <p:txBody>
          <a:bodyPr wrap="square" lIns="0" tIns="0" rIns="0" bIns="0" rtlCol="0" anchor="t"/>
          <a:lstStyle/>
          <a:p>
            <a:pPr indent="0" marL="0">
              <a:buNone/>
            </a:pPr>
            <a:r>
              <a:rPr lang="en-US" sz="1400" dirty="0">
                <a:solidFill>
                  <a:schemeClr val="tx1"/>
                </a:solidFill>
              </a:rPr>
              <a:t>Critical / Major / Minor from labelled error messages</a:t>
            </a:r>
            <a:endParaRPr lang="en-US" sz="1400" dirty="0"/>
          </a:p>
        </p:txBody>
      </p:sp>
      <p:sp>
        <p:nvSpPr>
          <p:cNvPr id="15" name="objective 3"/>
          <p:cNvSpPr/>
          <p:nvPr/>
        </p:nvSpPr>
        <p:spPr>
          <a:xfrm>
            <a:off x="6217920" y="1371600"/>
            <a:ext cx="2606040" cy="2240280"/>
          </a:xfrm>
          <a:prstGeom prst="roundRect">
            <a:avLst>
              <a:gd name="adj" fmla="val 4898"/>
            </a:avLst>
          </a:prstGeom>
          <a:solidFill>
            <a:schemeClr val="bg2"/>
          </a:solidFill>
          <a:ln/>
        </p:spPr>
      </p:sp>
      <p:sp>
        <p:nvSpPr>
          <p:cNvPr id="16" name="icon circle"/>
          <p:cNvSpPr/>
          <p:nvPr/>
        </p:nvSpPr>
        <p:spPr>
          <a:xfrm>
            <a:off x="6446520" y="1600200"/>
            <a:ext cx="594360" cy="594360"/>
          </a:xfrm>
          <a:prstGeom prst="ellipse">
            <a:avLst/>
          </a:prstGeom>
          <a:solidFill>
            <a:srgbClr val="10243F"/>
          </a:solidFill>
          <a:ln/>
        </p:spPr>
      </p:sp>
      <p:pic>
        <p:nvPicPr>
          <p:cNvPr id="17" name="FaDatabase icon" descr="preencoded.png">    </p:cNvPr>
          <p:cNvPicPr>
            <a:picLocks noChangeAspect="1"/>
          </p:cNvPicPr>
          <p:nvPr/>
        </p:nvPicPr>
        <p:blipFill>
          <a:blip r:embed="rId3"/>
          <a:stretch>
            <a:fillRect/>
          </a:stretch>
        </p:blipFill>
        <p:spPr>
          <a:xfrm>
            <a:off x="6595110" y="1748790"/>
            <a:ext cx="297180" cy="297180"/>
          </a:xfrm>
          <a:prstGeom prst="rect">
            <a:avLst/>
          </a:prstGeom>
        </p:spPr>
      </p:pic>
      <p:sp>
        <p:nvSpPr>
          <p:cNvPr id="18" name="Text 13"/>
          <p:cNvSpPr txBox="1"/>
          <p:nvPr/>
        </p:nvSpPr>
        <p:spPr>
          <a:xfrm>
            <a:off x="8046720" y="1645920"/>
            <a:ext cx="548640" cy="365760"/>
          </a:xfrm>
          <a:prstGeom prst="rect">
            <a:avLst/>
          </a:prstGeom>
          <a:noFill/>
          <a:ln/>
        </p:spPr>
        <p:txBody>
          <a:bodyPr wrap="square" lIns="0" tIns="0" rIns="0" bIns="0" rtlCol="0" anchor="t"/>
          <a:lstStyle/>
          <a:p>
            <a:pPr algn="r" indent="0" marL="0">
              <a:buNone/>
            </a:pPr>
            <a:r>
              <a:rPr lang="en-US" sz="1800" b="1" dirty="0">
                <a:solidFill>
                  <a:schemeClr val="accent1"/>
                </a:solidFill>
              </a:rPr>
              <a:t>03</a:t>
            </a:r>
            <a:endParaRPr lang="en-US" sz="1800" dirty="0"/>
          </a:p>
        </p:txBody>
      </p:sp>
      <p:sp>
        <p:nvSpPr>
          <p:cNvPr id="19" name="Text 14"/>
          <p:cNvSpPr txBox="1"/>
          <p:nvPr/>
        </p:nvSpPr>
        <p:spPr>
          <a:xfrm>
            <a:off x="6446520" y="23317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Central SQLite storage</a:t>
            </a:r>
            <a:endParaRPr lang="en-US" sz="1600" dirty="0"/>
          </a:p>
        </p:txBody>
      </p:sp>
      <p:sp>
        <p:nvSpPr>
          <p:cNvPr id="20" name="Text 15"/>
          <p:cNvSpPr txBox="1"/>
          <p:nvPr/>
        </p:nvSpPr>
        <p:spPr>
          <a:xfrm>
            <a:off x="6446520" y="2743200"/>
            <a:ext cx="2194560" cy="777240"/>
          </a:xfrm>
          <a:prstGeom prst="rect">
            <a:avLst/>
          </a:prstGeom>
          <a:noFill/>
          <a:ln/>
        </p:spPr>
        <p:txBody>
          <a:bodyPr wrap="square" lIns="0" tIns="0" rIns="0" bIns="0" rtlCol="0" anchor="t"/>
          <a:lstStyle/>
          <a:p>
            <a:pPr indent="0" marL="0">
              <a:buNone/>
            </a:pPr>
            <a:r>
              <a:rPr lang="en-US" sz="1400" dirty="0">
                <a:solidFill>
                  <a:schemeClr val="tx1"/>
                </a:solidFill>
              </a:rPr>
              <a:t>All defects and test-run summaries, fully traceable</a:t>
            </a:r>
            <a:endParaRPr lang="en-US" sz="1400" dirty="0"/>
          </a:p>
        </p:txBody>
      </p:sp>
      <p:sp>
        <p:nvSpPr>
          <p:cNvPr id="21" name="objective 4"/>
          <p:cNvSpPr/>
          <p:nvPr/>
        </p:nvSpPr>
        <p:spPr>
          <a:xfrm>
            <a:off x="9052560" y="1371600"/>
            <a:ext cx="2606040" cy="2240280"/>
          </a:xfrm>
          <a:prstGeom prst="roundRect">
            <a:avLst>
              <a:gd name="adj" fmla="val 4898"/>
            </a:avLst>
          </a:prstGeom>
          <a:solidFill>
            <a:schemeClr val="bg2"/>
          </a:solidFill>
          <a:ln/>
        </p:spPr>
      </p:sp>
      <p:sp>
        <p:nvSpPr>
          <p:cNvPr id="22" name="icon circle"/>
          <p:cNvSpPr/>
          <p:nvPr/>
        </p:nvSpPr>
        <p:spPr>
          <a:xfrm>
            <a:off x="9281160" y="1600200"/>
            <a:ext cx="594360" cy="594360"/>
          </a:xfrm>
          <a:prstGeom prst="ellipse">
            <a:avLst/>
          </a:prstGeom>
          <a:solidFill>
            <a:srgbClr val="10243F"/>
          </a:solidFill>
          <a:ln/>
        </p:spPr>
      </p:sp>
      <p:pic>
        <p:nvPicPr>
          <p:cNvPr id="23" name="FaDesktop icon" descr="preencoded.png">    </p:cNvPr>
          <p:cNvPicPr>
            <a:picLocks noChangeAspect="1"/>
          </p:cNvPicPr>
          <p:nvPr/>
        </p:nvPicPr>
        <p:blipFill>
          <a:blip r:embed="rId4"/>
          <a:stretch>
            <a:fillRect/>
          </a:stretch>
        </p:blipFill>
        <p:spPr>
          <a:xfrm>
            <a:off x="9429750" y="1748790"/>
            <a:ext cx="297180" cy="297180"/>
          </a:xfrm>
          <a:prstGeom prst="rect">
            <a:avLst/>
          </a:prstGeom>
        </p:spPr>
      </p:pic>
      <p:sp>
        <p:nvSpPr>
          <p:cNvPr id="24" name="Text 18"/>
          <p:cNvSpPr txBox="1"/>
          <p:nvPr/>
        </p:nvSpPr>
        <p:spPr>
          <a:xfrm>
            <a:off x="10881360" y="1645920"/>
            <a:ext cx="548640" cy="365760"/>
          </a:xfrm>
          <a:prstGeom prst="rect">
            <a:avLst/>
          </a:prstGeom>
          <a:noFill/>
          <a:ln/>
        </p:spPr>
        <p:txBody>
          <a:bodyPr wrap="square" lIns="0" tIns="0" rIns="0" bIns="0" rtlCol="0" anchor="t"/>
          <a:lstStyle/>
          <a:p>
            <a:pPr algn="r" indent="0" marL="0">
              <a:buNone/>
            </a:pPr>
            <a:r>
              <a:rPr lang="en-US" sz="1800" b="1" dirty="0">
                <a:solidFill>
                  <a:schemeClr val="accent1"/>
                </a:solidFill>
              </a:rPr>
              <a:t>04</a:t>
            </a:r>
            <a:endParaRPr lang="en-US" sz="1800" dirty="0"/>
          </a:p>
        </p:txBody>
      </p:sp>
      <p:sp>
        <p:nvSpPr>
          <p:cNvPr id="25" name="Text 19"/>
          <p:cNvSpPr txBox="1"/>
          <p:nvPr/>
        </p:nvSpPr>
        <p:spPr>
          <a:xfrm>
            <a:off x="9281160" y="23317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Web dashboard</a:t>
            </a:r>
            <a:endParaRPr lang="en-US" sz="1600" dirty="0"/>
          </a:p>
        </p:txBody>
      </p:sp>
      <p:sp>
        <p:nvSpPr>
          <p:cNvPr id="26" name="Text 20"/>
          <p:cNvSpPr txBox="1"/>
          <p:nvPr/>
        </p:nvSpPr>
        <p:spPr>
          <a:xfrm>
            <a:off x="9281160" y="2743200"/>
            <a:ext cx="2194560" cy="777240"/>
          </a:xfrm>
          <a:prstGeom prst="rect">
            <a:avLst/>
          </a:prstGeom>
          <a:noFill/>
          <a:ln/>
        </p:spPr>
        <p:txBody>
          <a:bodyPr wrap="square" lIns="0" tIns="0" rIns="0" bIns="0" rtlCol="0" anchor="t"/>
          <a:lstStyle/>
          <a:p>
            <a:pPr indent="0" marL="0">
              <a:buNone/>
            </a:pPr>
            <a:r>
              <a:rPr lang="en-US" sz="1400" dirty="0">
                <a:solidFill>
                  <a:schemeClr val="tx1"/>
                </a:solidFill>
              </a:rPr>
              <a:t>View, filter, search and update bug status</a:t>
            </a:r>
            <a:endParaRPr lang="en-US" sz="1400" dirty="0"/>
          </a:p>
        </p:txBody>
      </p:sp>
      <p:sp>
        <p:nvSpPr>
          <p:cNvPr id="27" name="objective 5"/>
          <p:cNvSpPr/>
          <p:nvPr/>
        </p:nvSpPr>
        <p:spPr>
          <a:xfrm>
            <a:off x="548640" y="3840480"/>
            <a:ext cx="2606040" cy="2240280"/>
          </a:xfrm>
          <a:prstGeom prst="roundRect">
            <a:avLst>
              <a:gd name="adj" fmla="val 4898"/>
            </a:avLst>
          </a:prstGeom>
          <a:solidFill>
            <a:schemeClr val="bg2"/>
          </a:solidFill>
          <a:ln/>
        </p:spPr>
      </p:sp>
      <p:sp>
        <p:nvSpPr>
          <p:cNvPr id="28" name="icon circle"/>
          <p:cNvSpPr/>
          <p:nvPr/>
        </p:nvSpPr>
        <p:spPr>
          <a:xfrm>
            <a:off x="777240" y="4069080"/>
            <a:ext cx="594360" cy="594360"/>
          </a:xfrm>
          <a:prstGeom prst="ellipse">
            <a:avLst/>
          </a:prstGeom>
          <a:solidFill>
            <a:srgbClr val="10243F"/>
          </a:solidFill>
          <a:ln/>
        </p:spPr>
      </p:sp>
      <p:pic>
        <p:nvPicPr>
          <p:cNvPr id="29" name="FaChartBar icon" descr="preencoded.png">    </p:cNvPr>
          <p:cNvPicPr>
            <a:picLocks noChangeAspect="1"/>
          </p:cNvPicPr>
          <p:nvPr/>
        </p:nvPicPr>
        <p:blipFill>
          <a:blip r:embed="rId5"/>
          <a:stretch>
            <a:fillRect/>
          </a:stretch>
        </p:blipFill>
        <p:spPr>
          <a:xfrm>
            <a:off x="925830" y="4217670"/>
            <a:ext cx="297180" cy="297180"/>
          </a:xfrm>
          <a:prstGeom prst="rect">
            <a:avLst/>
          </a:prstGeom>
        </p:spPr>
      </p:pic>
      <p:sp>
        <p:nvSpPr>
          <p:cNvPr id="30" name="Text 23"/>
          <p:cNvSpPr txBox="1"/>
          <p:nvPr/>
        </p:nvSpPr>
        <p:spPr>
          <a:xfrm>
            <a:off x="2377440" y="4114800"/>
            <a:ext cx="548640" cy="365760"/>
          </a:xfrm>
          <a:prstGeom prst="rect">
            <a:avLst/>
          </a:prstGeom>
          <a:noFill/>
          <a:ln/>
        </p:spPr>
        <p:txBody>
          <a:bodyPr wrap="square" lIns="0" tIns="0" rIns="0" bIns="0" rtlCol="0" anchor="t"/>
          <a:lstStyle/>
          <a:p>
            <a:pPr algn="r" indent="0" marL="0">
              <a:buNone/>
            </a:pPr>
            <a:r>
              <a:rPr lang="en-US" sz="1800" b="1" dirty="0">
                <a:solidFill>
                  <a:schemeClr val="accent1"/>
                </a:solidFill>
              </a:rPr>
              <a:t>05</a:t>
            </a:r>
            <a:endParaRPr lang="en-US" sz="1800" dirty="0"/>
          </a:p>
        </p:txBody>
      </p:sp>
      <p:sp>
        <p:nvSpPr>
          <p:cNvPr id="31" name="Text 24"/>
          <p:cNvSpPr txBox="1"/>
          <p:nvPr/>
        </p:nvSpPr>
        <p:spPr>
          <a:xfrm>
            <a:off x="777240" y="4800600"/>
            <a:ext cx="2194560" cy="365760"/>
          </a:xfrm>
          <a:prstGeom prst="rect">
            <a:avLst/>
          </a:prstGeom>
          <a:noFill/>
          <a:ln/>
        </p:spPr>
        <p:txBody>
          <a:bodyPr wrap="square" lIns="0" tIns="0" rIns="0" bIns="0" rtlCol="0" anchor="t"/>
          <a:lstStyle/>
          <a:p>
            <a:pPr indent="0" marL="0">
              <a:buNone/>
            </a:pPr>
            <a:r>
              <a:rPr lang="en-US" sz="1600" b="1" dirty="0">
                <a:solidFill>
                  <a:schemeClr val="tx2"/>
                </a:solidFill>
              </a:rPr>
              <a:t>Defect analytics</a:t>
            </a:r>
            <a:endParaRPr lang="en-US" sz="1600" dirty="0"/>
          </a:p>
        </p:txBody>
      </p:sp>
      <p:sp>
        <p:nvSpPr>
          <p:cNvPr id="32" name="Text 25"/>
          <p:cNvSpPr txBox="1"/>
          <p:nvPr/>
        </p:nvSpPr>
        <p:spPr>
          <a:xfrm>
            <a:off x="777240" y="5212080"/>
            <a:ext cx="2194560" cy="777240"/>
          </a:xfrm>
          <a:prstGeom prst="rect">
            <a:avLst/>
          </a:prstGeom>
          <a:noFill/>
          <a:ln/>
        </p:spPr>
        <p:txBody>
          <a:bodyPr wrap="square" lIns="0" tIns="0" rIns="0" bIns="0" rtlCol="0" anchor="t"/>
          <a:lstStyle/>
          <a:p>
            <a:pPr indent="0" marL="0">
              <a:buNone/>
            </a:pPr>
            <a:r>
              <a:rPr lang="en-US" sz="1400" dirty="0">
                <a:solidFill>
                  <a:schemeClr val="tx1"/>
                </a:solidFill>
              </a:rPr>
              <a:t>Bugs per module, severity mix, 14-day trend</a:t>
            </a:r>
            <a:endParaRPr lang="en-US" sz="1400" dirty="0"/>
          </a:p>
        </p:txBody>
      </p:sp>
      <p:sp>
        <p:nvSpPr>
          <p:cNvPr id="33" name="objective 6"/>
          <p:cNvSpPr/>
          <p:nvPr/>
        </p:nvSpPr>
        <p:spPr>
          <a:xfrm>
            <a:off x="3383280" y="3840480"/>
            <a:ext cx="2606040" cy="2240280"/>
          </a:xfrm>
          <a:prstGeom prst="roundRect">
            <a:avLst>
              <a:gd name="adj" fmla="val 4898"/>
            </a:avLst>
          </a:prstGeom>
          <a:solidFill>
            <a:schemeClr val="bg2"/>
          </a:solidFill>
          <a:ln/>
        </p:spPr>
      </p:sp>
      <p:sp>
        <p:nvSpPr>
          <p:cNvPr id="34" name="icon circle"/>
          <p:cNvSpPr/>
          <p:nvPr/>
        </p:nvSpPr>
        <p:spPr>
          <a:xfrm>
            <a:off x="3611880" y="4069080"/>
            <a:ext cx="594360" cy="594360"/>
          </a:xfrm>
          <a:prstGeom prst="ellipse">
            <a:avLst/>
          </a:prstGeom>
          <a:solidFill>
            <a:srgbClr val="10243F"/>
          </a:solidFill>
          <a:ln/>
        </p:spPr>
      </p:sp>
      <p:pic>
        <p:nvPicPr>
          <p:cNvPr id="35" name="FaRandom icon" descr="preencoded.png">    </p:cNvPr>
          <p:cNvPicPr>
            <a:picLocks noChangeAspect="1"/>
          </p:cNvPicPr>
          <p:nvPr/>
        </p:nvPicPr>
        <p:blipFill>
          <a:blip r:embed="rId6"/>
          <a:stretch>
            <a:fillRect/>
          </a:stretch>
        </p:blipFill>
        <p:spPr>
          <a:xfrm>
            <a:off x="3760470" y="4217670"/>
            <a:ext cx="297180" cy="297180"/>
          </a:xfrm>
          <a:prstGeom prst="rect">
            <a:avLst/>
          </a:prstGeom>
        </p:spPr>
      </p:pic>
      <p:sp>
        <p:nvSpPr>
          <p:cNvPr id="36" name="Text 28"/>
          <p:cNvSpPr txBox="1"/>
          <p:nvPr/>
        </p:nvSpPr>
        <p:spPr>
          <a:xfrm>
            <a:off x="5212080" y="4114800"/>
            <a:ext cx="548640" cy="365760"/>
          </a:xfrm>
          <a:prstGeom prst="rect">
            <a:avLst/>
          </a:prstGeom>
          <a:noFill/>
          <a:ln/>
        </p:spPr>
        <p:txBody>
          <a:bodyPr wrap="square" lIns="0" tIns="0" rIns="0" bIns="0" rtlCol="0" anchor="t"/>
          <a:lstStyle/>
          <a:p>
            <a:pPr algn="r" indent="0" marL="0">
              <a:buNone/>
            </a:pPr>
            <a:r>
              <a:rPr lang="en-US" sz="1800" b="1" dirty="0">
                <a:solidFill>
                  <a:schemeClr val="accent1"/>
                </a:solidFill>
              </a:rPr>
              <a:t>06</a:t>
            </a:r>
            <a:endParaRPr lang="en-US" sz="1800" dirty="0"/>
          </a:p>
        </p:txBody>
      </p:sp>
      <p:sp>
        <p:nvSpPr>
          <p:cNvPr id="37" name="Text 29"/>
          <p:cNvSpPr txBox="1"/>
          <p:nvPr/>
        </p:nvSpPr>
        <p:spPr>
          <a:xfrm>
            <a:off x="3611880" y="4800600"/>
            <a:ext cx="2194560" cy="365760"/>
          </a:xfrm>
          <a:prstGeom prst="rect">
            <a:avLst/>
          </a:prstGeom>
          <a:noFill/>
          <a:ln/>
        </p:spPr>
        <p:txBody>
          <a:bodyPr wrap="square" lIns="0" tIns="0" rIns="0" bIns="0" rtlCol="0" anchor="t"/>
          <a:lstStyle/>
          <a:p>
            <a:pPr indent="0" marL="0">
              <a:buNone/>
            </a:pPr>
            <a:r>
              <a:rPr lang="en-US" sz="1600" b="1" dirty="0">
                <a:solidFill>
                  <a:schemeClr val="tx2"/>
                </a:solidFill>
              </a:rPr>
              <a:t>Flaky test detection</a:t>
            </a:r>
            <a:endParaRPr lang="en-US" sz="1600" dirty="0"/>
          </a:p>
        </p:txBody>
      </p:sp>
      <p:sp>
        <p:nvSpPr>
          <p:cNvPr id="38" name="Text 30"/>
          <p:cNvSpPr txBox="1"/>
          <p:nvPr/>
        </p:nvSpPr>
        <p:spPr>
          <a:xfrm>
            <a:off x="3611880" y="5212080"/>
            <a:ext cx="2194560" cy="777240"/>
          </a:xfrm>
          <a:prstGeom prst="rect">
            <a:avLst/>
          </a:prstGeom>
          <a:noFill/>
          <a:ln/>
        </p:spPr>
        <p:txBody>
          <a:bodyPr wrap="square" lIns="0" tIns="0" rIns="0" bIns="0" rtlCol="0" anchor="t"/>
          <a:lstStyle/>
          <a:p>
            <a:pPr indent="0" marL="0">
              <a:buNone/>
            </a:pPr>
            <a:r>
              <a:rPr lang="en-US" sz="1400" dirty="0">
                <a:solidFill>
                  <a:schemeClr val="tx1"/>
                </a:solidFill>
              </a:rPr>
              <a:t>Tests that pass and fail across multiple runs</a:t>
            </a:r>
            <a:endParaRPr lang="en-US" sz="1400" dirty="0"/>
          </a:p>
        </p:txBody>
      </p:sp>
      <p:sp>
        <p:nvSpPr>
          <p:cNvPr id="39" name="objective 7"/>
          <p:cNvSpPr/>
          <p:nvPr/>
        </p:nvSpPr>
        <p:spPr>
          <a:xfrm>
            <a:off x="6217920" y="3840480"/>
            <a:ext cx="2606040" cy="2240280"/>
          </a:xfrm>
          <a:prstGeom prst="roundRect">
            <a:avLst>
              <a:gd name="adj" fmla="val 4898"/>
            </a:avLst>
          </a:prstGeom>
          <a:solidFill>
            <a:schemeClr val="bg2"/>
          </a:solidFill>
          <a:ln/>
        </p:spPr>
      </p:sp>
      <p:sp>
        <p:nvSpPr>
          <p:cNvPr id="40" name="icon circle"/>
          <p:cNvSpPr/>
          <p:nvPr/>
        </p:nvSpPr>
        <p:spPr>
          <a:xfrm>
            <a:off x="6446520" y="4069080"/>
            <a:ext cx="594360" cy="594360"/>
          </a:xfrm>
          <a:prstGeom prst="ellipse">
            <a:avLst/>
          </a:prstGeom>
          <a:solidFill>
            <a:srgbClr val="10243F"/>
          </a:solidFill>
          <a:ln/>
        </p:spPr>
      </p:sp>
      <p:pic>
        <p:nvPicPr>
          <p:cNvPr id="41" name="FaEnvelope icon" descr="preencoded.png">    </p:cNvPr>
          <p:cNvPicPr>
            <a:picLocks noChangeAspect="1"/>
          </p:cNvPicPr>
          <p:nvPr/>
        </p:nvPicPr>
        <p:blipFill>
          <a:blip r:embed="rId7"/>
          <a:stretch>
            <a:fillRect/>
          </a:stretch>
        </p:blipFill>
        <p:spPr>
          <a:xfrm>
            <a:off x="6595110" y="4217670"/>
            <a:ext cx="297180" cy="297180"/>
          </a:xfrm>
          <a:prstGeom prst="rect">
            <a:avLst/>
          </a:prstGeom>
        </p:spPr>
      </p:pic>
      <p:sp>
        <p:nvSpPr>
          <p:cNvPr id="42" name="Text 33"/>
          <p:cNvSpPr txBox="1"/>
          <p:nvPr/>
        </p:nvSpPr>
        <p:spPr>
          <a:xfrm>
            <a:off x="8046720" y="4114800"/>
            <a:ext cx="548640" cy="365760"/>
          </a:xfrm>
          <a:prstGeom prst="rect">
            <a:avLst/>
          </a:prstGeom>
          <a:noFill/>
          <a:ln/>
        </p:spPr>
        <p:txBody>
          <a:bodyPr wrap="square" lIns="0" tIns="0" rIns="0" bIns="0" rtlCol="0" anchor="t"/>
          <a:lstStyle/>
          <a:p>
            <a:pPr algn="r" indent="0" marL="0">
              <a:buNone/>
            </a:pPr>
            <a:r>
              <a:rPr lang="en-US" sz="1800" b="1" dirty="0">
                <a:solidFill>
                  <a:schemeClr val="accent1"/>
                </a:solidFill>
              </a:rPr>
              <a:t>07</a:t>
            </a:r>
            <a:endParaRPr lang="en-US" sz="1800" dirty="0"/>
          </a:p>
        </p:txBody>
      </p:sp>
      <p:sp>
        <p:nvSpPr>
          <p:cNvPr id="43" name="Text 34"/>
          <p:cNvSpPr txBox="1"/>
          <p:nvPr/>
        </p:nvSpPr>
        <p:spPr>
          <a:xfrm>
            <a:off x="6446520" y="4800600"/>
            <a:ext cx="2194560" cy="365760"/>
          </a:xfrm>
          <a:prstGeom prst="rect">
            <a:avLst/>
          </a:prstGeom>
          <a:noFill/>
          <a:ln/>
        </p:spPr>
        <p:txBody>
          <a:bodyPr wrap="square" lIns="0" tIns="0" rIns="0" bIns="0" rtlCol="0" anchor="t"/>
          <a:lstStyle/>
          <a:p>
            <a:pPr indent="0" marL="0">
              <a:buNone/>
            </a:pPr>
            <a:r>
              <a:rPr lang="en-US" sz="1600" b="1" dirty="0">
                <a:solidFill>
                  <a:schemeClr val="tx2"/>
                </a:solidFill>
              </a:rPr>
              <a:t>Critical email alerts</a:t>
            </a:r>
            <a:endParaRPr lang="en-US" sz="1600" dirty="0"/>
          </a:p>
        </p:txBody>
      </p:sp>
      <p:sp>
        <p:nvSpPr>
          <p:cNvPr id="44" name="Text 35"/>
          <p:cNvSpPr txBox="1"/>
          <p:nvPr/>
        </p:nvSpPr>
        <p:spPr>
          <a:xfrm>
            <a:off x="6446520" y="5212080"/>
            <a:ext cx="2194560" cy="777240"/>
          </a:xfrm>
          <a:prstGeom prst="rect">
            <a:avLst/>
          </a:prstGeom>
          <a:noFill/>
          <a:ln/>
        </p:spPr>
        <p:txBody>
          <a:bodyPr wrap="square" lIns="0" tIns="0" rIns="0" bIns="0" rtlCol="0" anchor="t"/>
          <a:lstStyle/>
          <a:p>
            <a:pPr indent="0" marL="0">
              <a:buNone/>
            </a:pPr>
            <a:r>
              <a:rPr lang="en-US" sz="1400" dirty="0">
                <a:solidFill>
                  <a:schemeClr val="tx1"/>
                </a:solidFill>
              </a:rPr>
              <a:t>Automatic notification for every Critical bug</a:t>
            </a:r>
            <a:endParaRPr lang="en-US" sz="1400" dirty="0"/>
          </a:p>
        </p:txBody>
      </p:sp>
      <p:sp>
        <p:nvSpPr>
          <p:cNvPr id="45" name="objective 8"/>
          <p:cNvSpPr/>
          <p:nvPr/>
        </p:nvSpPr>
        <p:spPr>
          <a:xfrm>
            <a:off x="9052560" y="3840480"/>
            <a:ext cx="2606040" cy="2240280"/>
          </a:xfrm>
          <a:prstGeom prst="roundRect">
            <a:avLst>
              <a:gd name="adj" fmla="val 4898"/>
            </a:avLst>
          </a:prstGeom>
          <a:solidFill>
            <a:schemeClr val="bg2"/>
          </a:solidFill>
          <a:ln/>
        </p:spPr>
      </p:sp>
      <p:sp>
        <p:nvSpPr>
          <p:cNvPr id="46" name="icon circle"/>
          <p:cNvSpPr/>
          <p:nvPr/>
        </p:nvSpPr>
        <p:spPr>
          <a:xfrm>
            <a:off x="9281160" y="4069080"/>
            <a:ext cx="594360" cy="594360"/>
          </a:xfrm>
          <a:prstGeom prst="ellipse">
            <a:avLst/>
          </a:prstGeom>
          <a:solidFill>
            <a:srgbClr val="10243F"/>
          </a:solidFill>
          <a:ln/>
        </p:spPr>
      </p:sp>
      <p:pic>
        <p:nvPicPr>
          <p:cNvPr id="47" name="FaProjectDiagram icon" descr="preencoded.png">    </p:cNvPr>
          <p:cNvPicPr>
            <a:picLocks noChangeAspect="1"/>
          </p:cNvPicPr>
          <p:nvPr/>
        </p:nvPicPr>
        <p:blipFill>
          <a:blip r:embed="rId8"/>
          <a:stretch>
            <a:fillRect/>
          </a:stretch>
        </p:blipFill>
        <p:spPr>
          <a:xfrm>
            <a:off x="9429750" y="4217670"/>
            <a:ext cx="297180" cy="297180"/>
          </a:xfrm>
          <a:prstGeom prst="rect">
            <a:avLst/>
          </a:prstGeom>
        </p:spPr>
      </p:pic>
      <p:sp>
        <p:nvSpPr>
          <p:cNvPr id="48" name="Text 38"/>
          <p:cNvSpPr txBox="1"/>
          <p:nvPr/>
        </p:nvSpPr>
        <p:spPr>
          <a:xfrm>
            <a:off x="10881360" y="4114800"/>
            <a:ext cx="548640" cy="365760"/>
          </a:xfrm>
          <a:prstGeom prst="rect">
            <a:avLst/>
          </a:prstGeom>
          <a:noFill/>
          <a:ln/>
        </p:spPr>
        <p:txBody>
          <a:bodyPr wrap="square" lIns="0" tIns="0" rIns="0" bIns="0" rtlCol="0" anchor="t"/>
          <a:lstStyle/>
          <a:p>
            <a:pPr algn="r" indent="0" marL="0">
              <a:buNone/>
            </a:pPr>
            <a:r>
              <a:rPr lang="en-US" sz="1800" b="1" dirty="0">
                <a:solidFill>
                  <a:schemeClr val="accent1"/>
                </a:solidFill>
              </a:rPr>
              <a:t>08</a:t>
            </a:r>
            <a:endParaRPr lang="en-US" sz="1800" dirty="0"/>
          </a:p>
        </p:txBody>
      </p:sp>
      <p:sp>
        <p:nvSpPr>
          <p:cNvPr id="49" name="Text 39"/>
          <p:cNvSpPr txBox="1"/>
          <p:nvPr/>
        </p:nvSpPr>
        <p:spPr>
          <a:xfrm>
            <a:off x="9281160" y="4800600"/>
            <a:ext cx="2194560" cy="365760"/>
          </a:xfrm>
          <a:prstGeom prst="rect">
            <a:avLst/>
          </a:prstGeom>
          <a:noFill/>
          <a:ln/>
        </p:spPr>
        <p:txBody>
          <a:bodyPr wrap="square" lIns="0" tIns="0" rIns="0" bIns="0" rtlCol="0" anchor="t"/>
          <a:lstStyle/>
          <a:p>
            <a:pPr indent="0" marL="0">
              <a:buNone/>
            </a:pPr>
            <a:r>
              <a:rPr lang="en-US" sz="1600" b="1" dirty="0">
                <a:solidFill>
                  <a:schemeClr val="tx2"/>
                </a:solidFill>
              </a:rPr>
              <a:t>End-to-end pipeline</a:t>
            </a:r>
            <a:endParaRPr lang="en-US" sz="1600" dirty="0"/>
          </a:p>
        </p:txBody>
      </p:sp>
      <p:sp>
        <p:nvSpPr>
          <p:cNvPr id="50" name="Text 40"/>
          <p:cNvSpPr txBox="1"/>
          <p:nvPr/>
        </p:nvSpPr>
        <p:spPr>
          <a:xfrm>
            <a:off x="9281160" y="5212080"/>
            <a:ext cx="2194560" cy="777240"/>
          </a:xfrm>
          <a:prstGeom prst="rect">
            <a:avLst/>
          </a:prstGeom>
          <a:noFill/>
          <a:ln/>
        </p:spPr>
        <p:txBody>
          <a:bodyPr wrap="square" lIns="0" tIns="0" rIns="0" bIns="0" rtlCol="0" anchor="t"/>
          <a:lstStyle/>
          <a:p>
            <a:pPr indent="0" marL="0">
              <a:buNone/>
            </a:pPr>
            <a:r>
              <a:rPr lang="en-US" sz="1400" dirty="0">
                <a:solidFill>
                  <a:schemeClr val="tx1"/>
                </a:solidFill>
              </a:rPr>
              <a:t>Test → detection → ML → storage → dashboard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System architecture</a:t>
            </a:r>
            <a:endParaRPr lang="en-US" sz="3000" dirty="0"/>
          </a:p>
        </p:txBody>
      </p:sp>
      <p:sp>
        <p:nvSpPr>
          <p:cNvPr id="3" name="stage Playwright tests"/>
          <p:cNvSpPr/>
          <p:nvPr/>
        </p:nvSpPr>
        <p:spPr>
          <a:xfrm>
            <a:off x="548640" y="1645920"/>
            <a:ext cx="1920240" cy="1325880"/>
          </a:xfrm>
          <a:prstGeom prst="roundRect">
            <a:avLst>
              <a:gd name="adj" fmla="val 8276"/>
            </a:avLst>
          </a:prstGeom>
          <a:solidFill>
            <a:srgbClr val="10243F"/>
          </a:solidFill>
          <a:ln/>
        </p:spPr>
        <p:txBody>
          <a:bodyPr wrap="square" lIns="76200" tIns="76200" rIns="76200" bIns="76200" rtlCol="0" anchor="ctr"/>
          <a:lstStyle/>
          <a:p>
            <a:pPr algn="ctr" indent="0" marL="0">
              <a:buNone/>
            </a:pPr>
            <a:r>
              <a:rPr lang="en-US" sz="1700" b="1" dirty="0">
                <a:solidFill>
                  <a:schemeClr val="bg1"/>
                </a:solidFill>
              </a:rPr>
              <a:t>Playwright tests</a:t>
            </a:r>
            <a:endParaRPr lang="en-US" sz="1700" dirty="0"/>
          </a:p>
          <a:p>
            <a:pPr algn="ctr" indent="0" marL="0">
              <a:buNone/>
            </a:pPr>
            <a:r>
              <a:rPr lang="en-US" sz="1300" dirty="0">
                <a:solidFill>
                  <a:srgbClr val="CADCFC"/>
                </a:solidFill>
              </a:rPr>
              <a:t>16 tests · 5 modules</a:t>
            </a:r>
            <a:endParaRPr lang="en-US" sz="1700" dirty="0"/>
          </a:p>
        </p:txBody>
      </p:sp>
      <p:sp>
        <p:nvSpPr>
          <p:cNvPr id="4" name="arrow"/>
          <p:cNvSpPr/>
          <p:nvPr/>
        </p:nvSpPr>
        <p:spPr>
          <a:xfrm>
            <a:off x="2514600" y="2308860"/>
            <a:ext cx="320040" cy="0"/>
          </a:xfrm>
          <a:prstGeom prst="line">
            <a:avLst/>
          </a:prstGeom>
          <a:noFill/>
          <a:ln w="25400">
            <a:solidFill>
              <a:srgbClr val="10243F"/>
            </a:solidFill>
            <a:prstDash val="solid"/>
            <a:tailEnd type="triangle"/>
          </a:ln>
        </p:spPr>
      </p:sp>
      <p:sp>
        <p:nvSpPr>
          <p:cNvPr id="5" name="stage Custom reporter"/>
          <p:cNvSpPr/>
          <p:nvPr/>
        </p:nvSpPr>
        <p:spPr>
          <a:xfrm>
            <a:off x="2880360" y="1645920"/>
            <a:ext cx="1920240" cy="1325880"/>
          </a:xfrm>
          <a:prstGeom prst="roundRect">
            <a:avLst>
              <a:gd name="adj" fmla="val 8276"/>
            </a:avLst>
          </a:prstGeom>
          <a:solidFill>
            <a:srgbClr val="10243F"/>
          </a:solidFill>
          <a:ln/>
        </p:spPr>
        <p:txBody>
          <a:bodyPr wrap="square" lIns="76200" tIns="76200" rIns="76200" bIns="76200" rtlCol="0" anchor="ctr"/>
          <a:lstStyle/>
          <a:p>
            <a:pPr algn="ctr" indent="0" marL="0">
              <a:buNone/>
            </a:pPr>
            <a:r>
              <a:rPr lang="en-US" sz="1700" b="1" dirty="0">
                <a:solidFill>
                  <a:schemeClr val="bg1"/>
                </a:solidFill>
              </a:rPr>
              <a:t>Custom reporter</a:t>
            </a:r>
            <a:endParaRPr lang="en-US" sz="1700" dirty="0"/>
          </a:p>
          <a:p>
            <a:pPr algn="ctr" indent="0" marL="0">
              <a:buNone/>
            </a:pPr>
            <a:r>
              <a:rPr lang="en-US" sz="1300" dirty="0">
                <a:solidFill>
                  <a:srgbClr val="CADCFC"/>
                </a:solidFill>
              </a:rPr>
              <a:t>captures each failure</a:t>
            </a:r>
            <a:endParaRPr lang="en-US" sz="1700" dirty="0"/>
          </a:p>
        </p:txBody>
      </p:sp>
      <p:sp>
        <p:nvSpPr>
          <p:cNvPr id="6" name="arrow"/>
          <p:cNvSpPr/>
          <p:nvPr/>
        </p:nvSpPr>
        <p:spPr>
          <a:xfrm>
            <a:off x="4846320" y="2308860"/>
            <a:ext cx="320040" cy="0"/>
          </a:xfrm>
          <a:prstGeom prst="line">
            <a:avLst/>
          </a:prstGeom>
          <a:noFill/>
          <a:ln w="25400">
            <a:solidFill>
              <a:srgbClr val="10243F"/>
            </a:solidFill>
            <a:prstDash val="solid"/>
            <a:tailEnd type="triangle"/>
          </a:ln>
        </p:spPr>
      </p:sp>
      <p:sp>
        <p:nvSpPr>
          <p:cNvPr id="7" name="stage ML classifier"/>
          <p:cNvSpPr/>
          <p:nvPr/>
        </p:nvSpPr>
        <p:spPr>
          <a:xfrm>
            <a:off x="5212080" y="1645920"/>
            <a:ext cx="1920240" cy="1325880"/>
          </a:xfrm>
          <a:prstGeom prst="roundRect">
            <a:avLst>
              <a:gd name="adj" fmla="val 8276"/>
            </a:avLst>
          </a:prstGeom>
          <a:solidFill>
            <a:srgbClr val="D03B3B"/>
          </a:solidFill>
          <a:ln/>
        </p:spPr>
        <p:txBody>
          <a:bodyPr wrap="square" lIns="76200" tIns="76200" rIns="76200" bIns="76200" rtlCol="0" anchor="ctr"/>
          <a:lstStyle/>
          <a:p>
            <a:pPr algn="ctr" indent="0" marL="0">
              <a:buNone/>
            </a:pPr>
            <a:r>
              <a:rPr lang="en-US" sz="1700" b="1" dirty="0">
                <a:solidFill>
                  <a:schemeClr val="bg1"/>
                </a:solidFill>
              </a:rPr>
              <a:t>ML classifier</a:t>
            </a:r>
            <a:endParaRPr lang="en-US" sz="1700" dirty="0"/>
          </a:p>
          <a:p>
            <a:pPr algn="ctr" indent="0" marL="0">
              <a:buNone/>
            </a:pPr>
            <a:r>
              <a:rPr lang="en-US" sz="1300" dirty="0">
                <a:solidFill>
                  <a:srgbClr val="CADCFC"/>
                </a:solidFill>
              </a:rPr>
              <a:t>Naive Bayes severity</a:t>
            </a:r>
            <a:endParaRPr lang="en-US" sz="1700" dirty="0"/>
          </a:p>
        </p:txBody>
      </p:sp>
      <p:sp>
        <p:nvSpPr>
          <p:cNvPr id="8" name="arrow"/>
          <p:cNvSpPr/>
          <p:nvPr/>
        </p:nvSpPr>
        <p:spPr>
          <a:xfrm>
            <a:off x="7178040" y="2308860"/>
            <a:ext cx="320040" cy="0"/>
          </a:xfrm>
          <a:prstGeom prst="line">
            <a:avLst/>
          </a:prstGeom>
          <a:noFill/>
          <a:ln w="25400">
            <a:solidFill>
              <a:srgbClr val="10243F"/>
            </a:solidFill>
            <a:prstDash val="solid"/>
            <a:tailEnd type="triangle"/>
          </a:ln>
        </p:spPr>
      </p:sp>
      <p:sp>
        <p:nvSpPr>
          <p:cNvPr id="9" name="stage SQLite database"/>
          <p:cNvSpPr/>
          <p:nvPr/>
        </p:nvSpPr>
        <p:spPr>
          <a:xfrm>
            <a:off x="7543800" y="1645920"/>
            <a:ext cx="1920240" cy="1325880"/>
          </a:xfrm>
          <a:prstGeom prst="roundRect">
            <a:avLst>
              <a:gd name="adj" fmla="val 8276"/>
            </a:avLst>
          </a:prstGeom>
          <a:solidFill>
            <a:srgbClr val="10243F"/>
          </a:solidFill>
          <a:ln/>
        </p:spPr>
        <p:txBody>
          <a:bodyPr wrap="square" lIns="76200" tIns="76200" rIns="76200" bIns="76200" rtlCol="0" anchor="ctr"/>
          <a:lstStyle/>
          <a:p>
            <a:pPr algn="ctr" indent="0" marL="0">
              <a:buNone/>
            </a:pPr>
            <a:r>
              <a:rPr lang="en-US" sz="1700" b="1" dirty="0">
                <a:solidFill>
                  <a:schemeClr val="bg1"/>
                </a:solidFill>
              </a:rPr>
              <a:t>SQLite database</a:t>
            </a:r>
            <a:endParaRPr lang="en-US" sz="1700" dirty="0"/>
          </a:p>
          <a:p>
            <a:pPr algn="ctr" indent="0" marL="0">
              <a:buNone/>
            </a:pPr>
            <a:r>
              <a:rPr lang="en-US" sz="1300" dirty="0">
                <a:solidFill>
                  <a:srgbClr val="CADCFC"/>
                </a:solidFill>
              </a:rPr>
              <a:t>runs · results · bugs</a:t>
            </a:r>
            <a:endParaRPr lang="en-US" sz="1700" dirty="0"/>
          </a:p>
        </p:txBody>
      </p:sp>
      <p:sp>
        <p:nvSpPr>
          <p:cNvPr id="10" name="arrow"/>
          <p:cNvSpPr/>
          <p:nvPr/>
        </p:nvSpPr>
        <p:spPr>
          <a:xfrm>
            <a:off x="9509760" y="2308860"/>
            <a:ext cx="320040" cy="0"/>
          </a:xfrm>
          <a:prstGeom prst="line">
            <a:avLst/>
          </a:prstGeom>
          <a:noFill/>
          <a:ln w="25400">
            <a:solidFill>
              <a:srgbClr val="10243F"/>
            </a:solidFill>
            <a:prstDash val="solid"/>
            <a:tailEnd type="triangle"/>
          </a:ln>
        </p:spPr>
      </p:sp>
      <p:sp>
        <p:nvSpPr>
          <p:cNvPr id="11" name="stage Web dashboard"/>
          <p:cNvSpPr/>
          <p:nvPr/>
        </p:nvSpPr>
        <p:spPr>
          <a:xfrm>
            <a:off x="9875520" y="1645920"/>
            <a:ext cx="1920240" cy="1325880"/>
          </a:xfrm>
          <a:prstGeom prst="roundRect">
            <a:avLst>
              <a:gd name="adj" fmla="val 8276"/>
            </a:avLst>
          </a:prstGeom>
          <a:solidFill>
            <a:srgbClr val="10243F"/>
          </a:solidFill>
          <a:ln/>
        </p:spPr>
        <p:txBody>
          <a:bodyPr wrap="square" lIns="76200" tIns="76200" rIns="76200" bIns="76200" rtlCol="0" anchor="ctr"/>
          <a:lstStyle/>
          <a:p>
            <a:pPr algn="ctr" indent="0" marL="0">
              <a:buNone/>
            </a:pPr>
            <a:r>
              <a:rPr lang="en-US" sz="1700" b="1" dirty="0">
                <a:solidFill>
                  <a:schemeClr val="bg1"/>
                </a:solidFill>
              </a:rPr>
              <a:t>Web dashboard</a:t>
            </a:r>
            <a:endParaRPr lang="en-US" sz="1700" dirty="0"/>
          </a:p>
          <a:p>
            <a:pPr algn="ctr" indent="0" marL="0">
              <a:buNone/>
            </a:pPr>
            <a:r>
              <a:rPr lang="en-US" sz="1300" dirty="0">
                <a:solidFill>
                  <a:srgbClr val="CADCFC"/>
                </a:solidFill>
              </a:rPr>
              <a:t>Express + Chart.js</a:t>
            </a:r>
            <a:endParaRPr lang="en-US" sz="1700" dirty="0"/>
          </a:p>
        </p:txBody>
      </p:sp>
      <p:sp>
        <p:nvSpPr>
          <p:cNvPr id="12" name="arrow"/>
          <p:cNvSpPr/>
          <p:nvPr/>
        </p:nvSpPr>
        <p:spPr>
          <a:xfrm>
            <a:off x="6172200" y="3017520"/>
            <a:ext cx="0" cy="685800"/>
          </a:xfrm>
          <a:prstGeom prst="line">
            <a:avLst/>
          </a:prstGeom>
          <a:noFill/>
          <a:ln w="25400">
            <a:solidFill>
              <a:srgbClr val="5B6472"/>
            </a:solidFill>
            <a:prstDash val="solid"/>
            <a:tailEnd type="triangle"/>
          </a:ln>
        </p:spPr>
      </p:sp>
      <p:sp>
        <p:nvSpPr>
          <p:cNvPr id="13" name="branch Email alert"/>
          <p:cNvSpPr/>
          <p:nvPr/>
        </p:nvSpPr>
        <p:spPr>
          <a:xfrm>
            <a:off x="5212080" y="3749040"/>
            <a:ext cx="1920240" cy="1417320"/>
          </a:xfrm>
          <a:prstGeom prst="roundRect">
            <a:avLst>
              <a:gd name="adj" fmla="val 7742"/>
            </a:avLst>
          </a:prstGeom>
          <a:solidFill>
            <a:schemeClr val="bg2"/>
          </a:solidFill>
          <a:ln/>
        </p:spPr>
      </p:sp>
      <p:sp>
        <p:nvSpPr>
          <p:cNvPr id="14" name="icon circle"/>
          <p:cNvSpPr/>
          <p:nvPr/>
        </p:nvSpPr>
        <p:spPr>
          <a:xfrm>
            <a:off x="5925312" y="3886200"/>
            <a:ext cx="493776" cy="493776"/>
          </a:xfrm>
          <a:prstGeom prst="ellipse">
            <a:avLst/>
          </a:prstGeom>
          <a:solidFill>
            <a:srgbClr val="D03B3B"/>
          </a:solidFill>
          <a:ln/>
        </p:spPr>
      </p:sp>
      <p:pic>
        <p:nvPicPr>
          <p:cNvPr id="15" name="FaEnvelope icon" descr="preencoded.png">    </p:cNvPr>
          <p:cNvPicPr>
            <a:picLocks noChangeAspect="1"/>
          </p:cNvPicPr>
          <p:nvPr/>
        </p:nvPicPr>
        <p:blipFill>
          <a:blip r:embed="rId1"/>
          <a:stretch>
            <a:fillRect/>
          </a:stretch>
        </p:blipFill>
        <p:spPr>
          <a:xfrm>
            <a:off x="6048756" y="4009644"/>
            <a:ext cx="246888" cy="246888"/>
          </a:xfrm>
          <a:prstGeom prst="rect">
            <a:avLst/>
          </a:prstGeom>
        </p:spPr>
      </p:pic>
      <p:sp>
        <p:nvSpPr>
          <p:cNvPr id="16" name="Text 13"/>
          <p:cNvSpPr txBox="1"/>
          <p:nvPr/>
        </p:nvSpPr>
        <p:spPr>
          <a:xfrm>
            <a:off x="5303520" y="4462272"/>
            <a:ext cx="1737360" cy="274320"/>
          </a:xfrm>
          <a:prstGeom prst="rect">
            <a:avLst/>
          </a:prstGeom>
          <a:noFill/>
          <a:ln/>
        </p:spPr>
        <p:txBody>
          <a:bodyPr wrap="square" lIns="0" tIns="0" rIns="0" bIns="0" rtlCol="0" anchor="t"/>
          <a:lstStyle/>
          <a:p>
            <a:pPr algn="ctr" indent="0" marL="0">
              <a:buNone/>
            </a:pPr>
            <a:r>
              <a:rPr lang="en-US" sz="1500" b="1" dirty="0">
                <a:solidFill>
                  <a:schemeClr val="tx2"/>
                </a:solidFill>
              </a:rPr>
              <a:t>Email alert</a:t>
            </a:r>
            <a:endParaRPr lang="en-US" sz="1500" dirty="0"/>
          </a:p>
        </p:txBody>
      </p:sp>
      <p:sp>
        <p:nvSpPr>
          <p:cNvPr id="17" name="Text 14"/>
          <p:cNvSpPr txBox="1"/>
          <p:nvPr/>
        </p:nvSpPr>
        <p:spPr>
          <a:xfrm>
            <a:off x="5303520" y="4754880"/>
            <a:ext cx="1737360" cy="365760"/>
          </a:xfrm>
          <a:prstGeom prst="rect">
            <a:avLst/>
          </a:prstGeom>
          <a:noFill/>
          <a:ln/>
        </p:spPr>
        <p:txBody>
          <a:bodyPr wrap="square" lIns="0" tIns="0" rIns="0" bIns="0" rtlCol="0" anchor="t"/>
          <a:lstStyle/>
          <a:p>
            <a:pPr algn="ctr" indent="0" marL="0">
              <a:buNone/>
            </a:pPr>
            <a:r>
              <a:rPr lang="en-US" sz="1200" dirty="0">
                <a:solidFill>
                  <a:srgbClr val="5B6472"/>
                </a:solidFill>
              </a:rPr>
              <a:t>when severity is Critical</a:t>
            </a:r>
            <a:endParaRPr lang="en-US" sz="1200" dirty="0"/>
          </a:p>
        </p:txBody>
      </p:sp>
      <p:sp>
        <p:nvSpPr>
          <p:cNvPr id="18" name="arrow"/>
          <p:cNvSpPr/>
          <p:nvPr/>
        </p:nvSpPr>
        <p:spPr>
          <a:xfrm>
            <a:off x="8503920" y="3017520"/>
            <a:ext cx="0" cy="685800"/>
          </a:xfrm>
          <a:prstGeom prst="line">
            <a:avLst/>
          </a:prstGeom>
          <a:noFill/>
          <a:ln w="25400">
            <a:solidFill>
              <a:srgbClr val="5B6472"/>
            </a:solidFill>
            <a:prstDash val="solid"/>
            <a:tailEnd type="triangle"/>
          </a:ln>
        </p:spPr>
      </p:sp>
      <p:sp>
        <p:nvSpPr>
          <p:cNvPr id="19" name="branch Flaky detector"/>
          <p:cNvSpPr/>
          <p:nvPr/>
        </p:nvSpPr>
        <p:spPr>
          <a:xfrm>
            <a:off x="7543800" y="3749040"/>
            <a:ext cx="1920240" cy="1417320"/>
          </a:xfrm>
          <a:prstGeom prst="roundRect">
            <a:avLst>
              <a:gd name="adj" fmla="val 7742"/>
            </a:avLst>
          </a:prstGeom>
          <a:solidFill>
            <a:schemeClr val="bg2"/>
          </a:solidFill>
          <a:ln/>
        </p:spPr>
      </p:sp>
      <p:sp>
        <p:nvSpPr>
          <p:cNvPr id="20" name="icon circle"/>
          <p:cNvSpPr/>
          <p:nvPr/>
        </p:nvSpPr>
        <p:spPr>
          <a:xfrm>
            <a:off x="8257032" y="3886200"/>
            <a:ext cx="493776" cy="493776"/>
          </a:xfrm>
          <a:prstGeom prst="ellipse">
            <a:avLst/>
          </a:prstGeom>
          <a:solidFill>
            <a:srgbClr val="2A78D6"/>
          </a:solidFill>
          <a:ln/>
        </p:spPr>
      </p:sp>
      <p:pic>
        <p:nvPicPr>
          <p:cNvPr id="21" name="FaRandom icon" descr="preencoded.png">    </p:cNvPr>
          <p:cNvPicPr>
            <a:picLocks noChangeAspect="1"/>
          </p:cNvPicPr>
          <p:nvPr/>
        </p:nvPicPr>
        <p:blipFill>
          <a:blip r:embed="rId2"/>
          <a:stretch>
            <a:fillRect/>
          </a:stretch>
        </p:blipFill>
        <p:spPr>
          <a:xfrm>
            <a:off x="8380476" y="4009644"/>
            <a:ext cx="246888" cy="246888"/>
          </a:xfrm>
          <a:prstGeom prst="rect">
            <a:avLst/>
          </a:prstGeom>
        </p:spPr>
      </p:pic>
      <p:sp>
        <p:nvSpPr>
          <p:cNvPr id="22" name="Text 18"/>
          <p:cNvSpPr txBox="1"/>
          <p:nvPr/>
        </p:nvSpPr>
        <p:spPr>
          <a:xfrm>
            <a:off x="7635240" y="4462272"/>
            <a:ext cx="1737360" cy="274320"/>
          </a:xfrm>
          <a:prstGeom prst="rect">
            <a:avLst/>
          </a:prstGeom>
          <a:noFill/>
          <a:ln/>
        </p:spPr>
        <p:txBody>
          <a:bodyPr wrap="square" lIns="0" tIns="0" rIns="0" bIns="0" rtlCol="0" anchor="t"/>
          <a:lstStyle/>
          <a:p>
            <a:pPr algn="ctr" indent="0" marL="0">
              <a:buNone/>
            </a:pPr>
            <a:r>
              <a:rPr lang="en-US" sz="1500" b="1" dirty="0">
                <a:solidFill>
                  <a:schemeClr val="tx2"/>
                </a:solidFill>
              </a:rPr>
              <a:t>Flaky detector</a:t>
            </a:r>
            <a:endParaRPr lang="en-US" sz="1500" dirty="0"/>
          </a:p>
        </p:txBody>
      </p:sp>
      <p:sp>
        <p:nvSpPr>
          <p:cNvPr id="23" name="Text 19"/>
          <p:cNvSpPr txBox="1"/>
          <p:nvPr/>
        </p:nvSpPr>
        <p:spPr>
          <a:xfrm>
            <a:off x="7635240" y="4754880"/>
            <a:ext cx="1737360" cy="365760"/>
          </a:xfrm>
          <a:prstGeom prst="rect">
            <a:avLst/>
          </a:prstGeom>
          <a:noFill/>
          <a:ln/>
        </p:spPr>
        <p:txBody>
          <a:bodyPr wrap="square" lIns="0" tIns="0" rIns="0" bIns="0" rtlCol="0" anchor="t"/>
          <a:lstStyle/>
          <a:p>
            <a:pPr algn="ctr" indent="0" marL="0">
              <a:buNone/>
            </a:pPr>
            <a:r>
              <a:rPr lang="en-US" sz="1200" dirty="0">
                <a:solidFill>
                  <a:srgbClr val="5B6472"/>
                </a:solidFill>
              </a:rPr>
              <a:t>pass/fail history of all runs</a:t>
            </a:r>
            <a:endParaRPr lang="en-US" sz="1200" dirty="0"/>
          </a:p>
        </p:txBody>
      </p:sp>
      <p:sp>
        <p:nvSpPr>
          <p:cNvPr id="24" name="arrow"/>
          <p:cNvSpPr/>
          <p:nvPr/>
        </p:nvSpPr>
        <p:spPr>
          <a:xfrm>
            <a:off x="10835640" y="3017520"/>
            <a:ext cx="0" cy="685800"/>
          </a:xfrm>
          <a:prstGeom prst="line">
            <a:avLst/>
          </a:prstGeom>
          <a:noFill/>
          <a:ln w="25400">
            <a:solidFill>
              <a:srgbClr val="5B6472"/>
            </a:solidFill>
            <a:prstDash val="solid"/>
            <a:tailEnd type="triangle"/>
          </a:ln>
        </p:spPr>
      </p:sp>
      <p:sp>
        <p:nvSpPr>
          <p:cNvPr id="25" name="branch HTML report"/>
          <p:cNvSpPr/>
          <p:nvPr/>
        </p:nvSpPr>
        <p:spPr>
          <a:xfrm>
            <a:off x="9875520" y="3749040"/>
            <a:ext cx="1920240" cy="1417320"/>
          </a:xfrm>
          <a:prstGeom prst="roundRect">
            <a:avLst>
              <a:gd name="adj" fmla="val 7742"/>
            </a:avLst>
          </a:prstGeom>
          <a:solidFill>
            <a:schemeClr val="bg2"/>
          </a:solidFill>
          <a:ln/>
        </p:spPr>
      </p:sp>
      <p:sp>
        <p:nvSpPr>
          <p:cNvPr id="26" name="icon circle"/>
          <p:cNvSpPr/>
          <p:nvPr/>
        </p:nvSpPr>
        <p:spPr>
          <a:xfrm>
            <a:off x="10588752" y="3886200"/>
            <a:ext cx="493776" cy="493776"/>
          </a:xfrm>
          <a:prstGeom prst="ellipse">
            <a:avLst/>
          </a:prstGeom>
          <a:solidFill>
            <a:srgbClr val="2A78D6"/>
          </a:solidFill>
          <a:ln/>
        </p:spPr>
      </p:sp>
      <p:pic>
        <p:nvPicPr>
          <p:cNvPr id="27" name="FaFileAlt icon" descr="preencoded.png">    </p:cNvPr>
          <p:cNvPicPr>
            <a:picLocks noChangeAspect="1"/>
          </p:cNvPicPr>
          <p:nvPr/>
        </p:nvPicPr>
        <p:blipFill>
          <a:blip r:embed="rId3"/>
          <a:stretch>
            <a:fillRect/>
          </a:stretch>
        </p:blipFill>
        <p:spPr>
          <a:xfrm>
            <a:off x="10712196" y="4009644"/>
            <a:ext cx="246888" cy="246888"/>
          </a:xfrm>
          <a:prstGeom prst="rect">
            <a:avLst/>
          </a:prstGeom>
        </p:spPr>
      </p:pic>
      <p:sp>
        <p:nvSpPr>
          <p:cNvPr id="28" name="Text 23"/>
          <p:cNvSpPr txBox="1"/>
          <p:nvPr/>
        </p:nvSpPr>
        <p:spPr>
          <a:xfrm>
            <a:off x="9966960" y="4462272"/>
            <a:ext cx="1737360" cy="274320"/>
          </a:xfrm>
          <a:prstGeom prst="rect">
            <a:avLst/>
          </a:prstGeom>
          <a:noFill/>
          <a:ln/>
        </p:spPr>
        <p:txBody>
          <a:bodyPr wrap="square" lIns="0" tIns="0" rIns="0" bIns="0" rtlCol="0" anchor="t"/>
          <a:lstStyle/>
          <a:p>
            <a:pPr algn="ctr" indent="0" marL="0">
              <a:buNone/>
            </a:pPr>
            <a:r>
              <a:rPr lang="en-US" sz="1500" b="1" dirty="0">
                <a:solidFill>
                  <a:schemeClr val="tx2"/>
                </a:solidFill>
              </a:rPr>
              <a:t>HTML report</a:t>
            </a:r>
            <a:endParaRPr lang="en-US" sz="1500" dirty="0"/>
          </a:p>
        </p:txBody>
      </p:sp>
      <p:sp>
        <p:nvSpPr>
          <p:cNvPr id="29" name="Text 24"/>
          <p:cNvSpPr txBox="1"/>
          <p:nvPr/>
        </p:nvSpPr>
        <p:spPr>
          <a:xfrm>
            <a:off x="9966960" y="4754880"/>
            <a:ext cx="1737360" cy="365760"/>
          </a:xfrm>
          <a:prstGeom prst="rect">
            <a:avLst/>
          </a:prstGeom>
          <a:noFill/>
          <a:ln/>
        </p:spPr>
        <p:txBody>
          <a:bodyPr wrap="square" lIns="0" tIns="0" rIns="0" bIns="0" rtlCol="0" anchor="t"/>
          <a:lstStyle/>
          <a:p>
            <a:pPr algn="ctr" indent="0" marL="0">
              <a:buNone/>
            </a:pPr>
            <a:r>
              <a:rPr lang="en-US" sz="1200" dirty="0">
                <a:solidFill>
                  <a:srgbClr val="5B6472"/>
                </a:solidFill>
              </a:rPr>
              <a:t>shareable results report</a:t>
            </a:r>
            <a:endParaRPr lang="en-US" sz="1200" dirty="0"/>
          </a:p>
        </p:txBody>
      </p:sp>
      <p:sp>
        <p:nvSpPr>
          <p:cNvPr id="30" name="Text 25"/>
          <p:cNvSpPr txBox="1"/>
          <p:nvPr/>
        </p:nvSpPr>
        <p:spPr>
          <a:xfrm>
            <a:off x="548640" y="5623560"/>
            <a:ext cx="11064240" cy="548640"/>
          </a:xfrm>
          <a:prstGeom prst="rect">
            <a:avLst/>
          </a:prstGeom>
          <a:noFill/>
          <a:ln/>
        </p:spPr>
        <p:txBody>
          <a:bodyPr wrap="square" lIns="0" tIns="0" rIns="0" bIns="0" rtlCol="0" anchor="t"/>
          <a:lstStyle/>
          <a:p>
            <a:pPr indent="0" marL="0">
              <a:buNone/>
            </a:pPr>
            <a:r>
              <a:rPr lang="en-US" sz="1600" i="1" dirty="0">
                <a:solidFill>
                  <a:schemeClr val="tx2"/>
                </a:solidFill>
              </a:rPr>
              <a:t>Every failure follows the same automated path: there is no manual step between a failing test and a classified, stored, visible bug.</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Technology stack</a:t>
            </a:r>
            <a:endParaRPr lang="en-US" sz="3000" dirty="0"/>
          </a:p>
        </p:txBody>
      </p:sp>
      <p:sp>
        <p:nvSpPr>
          <p:cNvPr id="3" name="icon circle"/>
          <p:cNvSpPr/>
          <p:nvPr/>
        </p:nvSpPr>
        <p:spPr>
          <a:xfrm>
            <a:off x="548640" y="1417320"/>
            <a:ext cx="731520" cy="731520"/>
          </a:xfrm>
          <a:prstGeom prst="ellipse">
            <a:avLst/>
          </a:prstGeom>
          <a:solidFill>
            <a:srgbClr val="D03B3B"/>
          </a:solidFill>
          <a:ln/>
        </p:spPr>
      </p:sp>
      <p:pic>
        <p:nvPicPr>
          <p:cNvPr id="4" name="FaTheaterMasks icon" descr="preencoded.png">    </p:cNvPr>
          <p:cNvPicPr>
            <a:picLocks noChangeAspect="1"/>
          </p:cNvPicPr>
          <p:nvPr/>
        </p:nvPicPr>
        <p:blipFill>
          <a:blip r:embed="rId1"/>
          <a:stretch>
            <a:fillRect/>
          </a:stretch>
        </p:blipFill>
        <p:spPr>
          <a:xfrm>
            <a:off x="731520" y="1600200"/>
            <a:ext cx="365760" cy="365760"/>
          </a:xfrm>
          <a:prstGeom prst="rect">
            <a:avLst/>
          </a:prstGeom>
        </p:spPr>
      </p:pic>
      <p:sp>
        <p:nvSpPr>
          <p:cNvPr id="5" name="Text 2"/>
          <p:cNvSpPr txBox="1"/>
          <p:nvPr/>
        </p:nvSpPr>
        <p:spPr>
          <a:xfrm>
            <a:off x="1508760" y="1435608"/>
            <a:ext cx="4480560" cy="365760"/>
          </a:xfrm>
          <a:prstGeom prst="rect">
            <a:avLst/>
          </a:prstGeom>
          <a:noFill/>
          <a:ln/>
        </p:spPr>
        <p:txBody>
          <a:bodyPr wrap="square" lIns="0" tIns="0" rIns="0" bIns="0" rtlCol="0" anchor="t"/>
          <a:lstStyle/>
          <a:p>
            <a:pPr indent="0" marL="0">
              <a:buNone/>
            </a:pPr>
            <a:r>
              <a:rPr lang="en-US" sz="1900" b="1" dirty="0">
                <a:solidFill>
                  <a:schemeClr val="tx2"/>
                </a:solidFill>
              </a:rPr>
              <a:t>Playwright 1.64.1</a:t>
            </a:r>
            <a:endParaRPr lang="en-US" sz="1900" dirty="0"/>
          </a:p>
        </p:txBody>
      </p:sp>
      <p:sp>
        <p:nvSpPr>
          <p:cNvPr id="6" name="Text 3"/>
          <p:cNvSpPr txBox="1"/>
          <p:nvPr/>
        </p:nvSpPr>
        <p:spPr>
          <a:xfrm>
            <a:off x="1508760" y="1819656"/>
            <a:ext cx="4480560" cy="365760"/>
          </a:xfrm>
          <a:prstGeom prst="rect">
            <a:avLst/>
          </a:prstGeom>
          <a:noFill/>
          <a:ln/>
        </p:spPr>
        <p:txBody>
          <a:bodyPr wrap="square" lIns="0" tIns="0" rIns="0" bIns="0" rtlCol="0" anchor="t"/>
          <a:lstStyle/>
          <a:p>
            <a:pPr indent="0" marL="0">
              <a:buNone/>
            </a:pPr>
            <a:r>
              <a:rPr lang="en-US" sz="1500" dirty="0">
                <a:solidFill>
                  <a:schemeClr val="tx1"/>
                </a:solidFill>
              </a:rPr>
              <a:t>Browser test automation (latest version)</a:t>
            </a:r>
            <a:endParaRPr lang="en-US" sz="1500" dirty="0"/>
          </a:p>
        </p:txBody>
      </p:sp>
      <p:sp>
        <p:nvSpPr>
          <p:cNvPr id="7" name="icon circle"/>
          <p:cNvSpPr/>
          <p:nvPr/>
        </p:nvSpPr>
        <p:spPr>
          <a:xfrm>
            <a:off x="548640" y="2606040"/>
            <a:ext cx="731520" cy="731520"/>
          </a:xfrm>
          <a:prstGeom prst="ellipse">
            <a:avLst/>
          </a:prstGeom>
          <a:solidFill>
            <a:srgbClr val="2A78D6"/>
          </a:solidFill>
          <a:ln/>
        </p:spPr>
      </p:sp>
      <p:pic>
        <p:nvPicPr>
          <p:cNvPr id="8" name="FaCode icon" descr="preencoded.png">    </p:cNvPr>
          <p:cNvPicPr>
            <a:picLocks noChangeAspect="1"/>
          </p:cNvPicPr>
          <p:nvPr/>
        </p:nvPicPr>
        <p:blipFill>
          <a:blip r:embed="rId2"/>
          <a:stretch>
            <a:fillRect/>
          </a:stretch>
        </p:blipFill>
        <p:spPr>
          <a:xfrm>
            <a:off x="731520" y="2788920"/>
            <a:ext cx="365760" cy="365760"/>
          </a:xfrm>
          <a:prstGeom prst="rect">
            <a:avLst/>
          </a:prstGeom>
        </p:spPr>
      </p:pic>
      <p:sp>
        <p:nvSpPr>
          <p:cNvPr id="9" name="Text 5"/>
          <p:cNvSpPr txBox="1"/>
          <p:nvPr/>
        </p:nvSpPr>
        <p:spPr>
          <a:xfrm>
            <a:off x="1508760" y="2624328"/>
            <a:ext cx="4480560" cy="365760"/>
          </a:xfrm>
          <a:prstGeom prst="rect">
            <a:avLst/>
          </a:prstGeom>
          <a:noFill/>
          <a:ln/>
        </p:spPr>
        <p:txBody>
          <a:bodyPr wrap="square" lIns="0" tIns="0" rIns="0" bIns="0" rtlCol="0" anchor="t"/>
          <a:lstStyle/>
          <a:p>
            <a:pPr indent="0" marL="0">
              <a:buNone/>
            </a:pPr>
            <a:r>
              <a:rPr lang="en-US" sz="1900" b="1" dirty="0">
                <a:solidFill>
                  <a:schemeClr val="tx2"/>
                </a:solidFill>
              </a:rPr>
              <a:t>TypeScript + Node.js 22</a:t>
            </a:r>
            <a:endParaRPr lang="en-US" sz="1900" dirty="0"/>
          </a:p>
        </p:txBody>
      </p:sp>
      <p:sp>
        <p:nvSpPr>
          <p:cNvPr id="10" name="Text 6"/>
          <p:cNvSpPr txBox="1"/>
          <p:nvPr/>
        </p:nvSpPr>
        <p:spPr>
          <a:xfrm>
            <a:off x="1508760" y="3008376"/>
            <a:ext cx="4480560" cy="365760"/>
          </a:xfrm>
          <a:prstGeom prst="rect">
            <a:avLst/>
          </a:prstGeom>
          <a:noFill/>
          <a:ln/>
        </p:spPr>
        <p:txBody>
          <a:bodyPr wrap="square" lIns="0" tIns="0" rIns="0" bIns="0" rtlCol="0" anchor="t"/>
          <a:lstStyle/>
          <a:p>
            <a:pPr indent="0" marL="0">
              <a:buNone/>
            </a:pPr>
            <a:r>
              <a:rPr lang="en-US" sz="1500" dirty="0">
                <a:solidFill>
                  <a:schemeClr val="tx1"/>
                </a:solidFill>
              </a:rPr>
              <a:t>One language for every component</a:t>
            </a:r>
            <a:endParaRPr lang="en-US" sz="1500" dirty="0"/>
          </a:p>
        </p:txBody>
      </p:sp>
      <p:sp>
        <p:nvSpPr>
          <p:cNvPr id="11" name="icon circle"/>
          <p:cNvSpPr/>
          <p:nvPr/>
        </p:nvSpPr>
        <p:spPr>
          <a:xfrm>
            <a:off x="548640" y="3794760"/>
            <a:ext cx="731520" cy="731520"/>
          </a:xfrm>
          <a:prstGeom prst="ellipse">
            <a:avLst/>
          </a:prstGeom>
          <a:solidFill>
            <a:srgbClr val="6250D6"/>
          </a:solidFill>
          <a:ln/>
        </p:spPr>
      </p:sp>
      <p:pic>
        <p:nvPicPr>
          <p:cNvPr id="12" name="FaBrain icon" descr="preencoded.png">    </p:cNvPr>
          <p:cNvPicPr>
            <a:picLocks noChangeAspect="1"/>
          </p:cNvPicPr>
          <p:nvPr/>
        </p:nvPicPr>
        <p:blipFill>
          <a:blip r:embed="rId3"/>
          <a:stretch>
            <a:fillRect/>
          </a:stretch>
        </p:blipFill>
        <p:spPr>
          <a:xfrm>
            <a:off x="731520" y="3977640"/>
            <a:ext cx="365760" cy="365760"/>
          </a:xfrm>
          <a:prstGeom prst="rect">
            <a:avLst/>
          </a:prstGeom>
        </p:spPr>
      </p:pic>
      <p:sp>
        <p:nvSpPr>
          <p:cNvPr id="13" name="Text 8"/>
          <p:cNvSpPr txBox="1"/>
          <p:nvPr/>
        </p:nvSpPr>
        <p:spPr>
          <a:xfrm>
            <a:off x="1508760" y="3813048"/>
            <a:ext cx="4480560" cy="365760"/>
          </a:xfrm>
          <a:prstGeom prst="rect">
            <a:avLst/>
          </a:prstGeom>
          <a:noFill/>
          <a:ln/>
        </p:spPr>
        <p:txBody>
          <a:bodyPr wrap="square" lIns="0" tIns="0" rIns="0" bIns="0" rtlCol="0" anchor="t"/>
          <a:lstStyle/>
          <a:p>
            <a:pPr indent="0" marL="0">
              <a:buNone/>
            </a:pPr>
            <a:r>
              <a:rPr lang="en-US" sz="1900" b="1" dirty="0">
                <a:solidFill>
                  <a:schemeClr val="tx2"/>
                </a:solidFill>
              </a:rPr>
              <a:t>Naive Bayes (from scratch)</a:t>
            </a:r>
            <a:endParaRPr lang="en-US" sz="1900" dirty="0"/>
          </a:p>
        </p:txBody>
      </p:sp>
      <p:sp>
        <p:nvSpPr>
          <p:cNvPr id="14" name="Text 9"/>
          <p:cNvSpPr txBox="1"/>
          <p:nvPr/>
        </p:nvSpPr>
        <p:spPr>
          <a:xfrm>
            <a:off x="1508760" y="4197096"/>
            <a:ext cx="4480560" cy="365760"/>
          </a:xfrm>
          <a:prstGeom prst="rect">
            <a:avLst/>
          </a:prstGeom>
          <a:noFill/>
          <a:ln/>
        </p:spPr>
        <p:txBody>
          <a:bodyPr wrap="square" lIns="0" tIns="0" rIns="0" bIns="0" rtlCol="0" anchor="t"/>
          <a:lstStyle/>
          <a:p>
            <a:pPr indent="0" marL="0">
              <a:buNone/>
            </a:pPr>
            <a:r>
              <a:rPr lang="en-US" sz="1500" dirty="0">
                <a:solidFill>
                  <a:schemeClr val="tx1"/>
                </a:solidFill>
              </a:rPr>
              <a:t>Severity classification, no black box</a:t>
            </a:r>
            <a:endParaRPr lang="en-US" sz="1500" dirty="0"/>
          </a:p>
        </p:txBody>
      </p:sp>
      <p:sp>
        <p:nvSpPr>
          <p:cNvPr id="15" name="icon circle"/>
          <p:cNvSpPr/>
          <p:nvPr/>
        </p:nvSpPr>
        <p:spPr>
          <a:xfrm>
            <a:off x="548640" y="4983480"/>
            <a:ext cx="731520" cy="731520"/>
          </a:xfrm>
          <a:prstGeom prst="ellipse">
            <a:avLst/>
          </a:prstGeom>
          <a:solidFill>
            <a:srgbClr val="10243F"/>
          </a:solidFill>
          <a:ln/>
        </p:spPr>
      </p:sp>
      <p:pic>
        <p:nvPicPr>
          <p:cNvPr id="16" name="FaDatabase icon" descr="preencoded.png">    </p:cNvPr>
          <p:cNvPicPr>
            <a:picLocks noChangeAspect="1"/>
          </p:cNvPicPr>
          <p:nvPr/>
        </p:nvPicPr>
        <p:blipFill>
          <a:blip r:embed="rId4"/>
          <a:stretch>
            <a:fillRect/>
          </a:stretch>
        </p:blipFill>
        <p:spPr>
          <a:xfrm>
            <a:off x="731520" y="5166360"/>
            <a:ext cx="365760" cy="365760"/>
          </a:xfrm>
          <a:prstGeom prst="rect">
            <a:avLst/>
          </a:prstGeom>
        </p:spPr>
      </p:pic>
      <p:sp>
        <p:nvSpPr>
          <p:cNvPr id="17" name="Text 11"/>
          <p:cNvSpPr txBox="1"/>
          <p:nvPr/>
        </p:nvSpPr>
        <p:spPr>
          <a:xfrm>
            <a:off x="1508760" y="5001768"/>
            <a:ext cx="4480560" cy="365760"/>
          </a:xfrm>
          <a:prstGeom prst="rect">
            <a:avLst/>
          </a:prstGeom>
          <a:noFill/>
          <a:ln/>
        </p:spPr>
        <p:txBody>
          <a:bodyPr wrap="square" lIns="0" tIns="0" rIns="0" bIns="0" rtlCol="0" anchor="t"/>
          <a:lstStyle/>
          <a:p>
            <a:pPr indent="0" marL="0">
              <a:buNone/>
            </a:pPr>
            <a:r>
              <a:rPr lang="en-US" sz="1900" b="1" dirty="0">
                <a:solidFill>
                  <a:schemeClr val="tx2"/>
                </a:solidFill>
              </a:rPr>
              <a:t>SQLite (better-sqlite3)</a:t>
            </a:r>
            <a:endParaRPr lang="en-US" sz="1900" dirty="0"/>
          </a:p>
        </p:txBody>
      </p:sp>
      <p:sp>
        <p:nvSpPr>
          <p:cNvPr id="18" name="Text 12"/>
          <p:cNvSpPr txBox="1"/>
          <p:nvPr/>
        </p:nvSpPr>
        <p:spPr>
          <a:xfrm>
            <a:off x="1508760" y="5385816"/>
            <a:ext cx="4480560" cy="365760"/>
          </a:xfrm>
          <a:prstGeom prst="rect">
            <a:avLst/>
          </a:prstGeom>
          <a:noFill/>
          <a:ln/>
        </p:spPr>
        <p:txBody>
          <a:bodyPr wrap="square" lIns="0" tIns="0" rIns="0" bIns="0" rtlCol="0" anchor="t"/>
          <a:lstStyle/>
          <a:p>
            <a:pPr indent="0" marL="0">
              <a:buNone/>
            </a:pPr>
            <a:r>
              <a:rPr lang="en-US" sz="1500" dirty="0">
                <a:solidFill>
                  <a:schemeClr val="tx1"/>
                </a:solidFill>
              </a:rPr>
              <a:t>Serverless, single-file defect store</a:t>
            </a:r>
            <a:endParaRPr lang="en-US" sz="1500" dirty="0"/>
          </a:p>
        </p:txBody>
      </p:sp>
      <p:sp>
        <p:nvSpPr>
          <p:cNvPr id="19" name="icon circle"/>
          <p:cNvSpPr/>
          <p:nvPr/>
        </p:nvSpPr>
        <p:spPr>
          <a:xfrm>
            <a:off x="6217920" y="1417320"/>
            <a:ext cx="731520" cy="731520"/>
          </a:xfrm>
          <a:prstGeom prst="ellipse">
            <a:avLst/>
          </a:prstGeom>
          <a:solidFill>
            <a:srgbClr val="1B8E4E"/>
          </a:solidFill>
          <a:ln/>
        </p:spPr>
      </p:sp>
      <p:pic>
        <p:nvPicPr>
          <p:cNvPr id="20" name="FaServer icon" descr="preencoded.png">    </p:cNvPr>
          <p:cNvPicPr>
            <a:picLocks noChangeAspect="1"/>
          </p:cNvPicPr>
          <p:nvPr/>
        </p:nvPicPr>
        <p:blipFill>
          <a:blip r:embed="rId5"/>
          <a:stretch>
            <a:fillRect/>
          </a:stretch>
        </p:blipFill>
        <p:spPr>
          <a:xfrm>
            <a:off x="6400800" y="1600200"/>
            <a:ext cx="365760" cy="365760"/>
          </a:xfrm>
          <a:prstGeom prst="rect">
            <a:avLst/>
          </a:prstGeom>
        </p:spPr>
      </p:pic>
      <p:sp>
        <p:nvSpPr>
          <p:cNvPr id="21" name="Text 14"/>
          <p:cNvSpPr txBox="1"/>
          <p:nvPr/>
        </p:nvSpPr>
        <p:spPr>
          <a:xfrm>
            <a:off x="7178040" y="1435608"/>
            <a:ext cx="4480560" cy="365760"/>
          </a:xfrm>
          <a:prstGeom prst="rect">
            <a:avLst/>
          </a:prstGeom>
          <a:noFill/>
          <a:ln/>
        </p:spPr>
        <p:txBody>
          <a:bodyPr wrap="square" lIns="0" tIns="0" rIns="0" bIns="0" rtlCol="0" anchor="t"/>
          <a:lstStyle/>
          <a:p>
            <a:pPr indent="0" marL="0">
              <a:buNone/>
            </a:pPr>
            <a:r>
              <a:rPr lang="en-US" sz="1900" b="1" dirty="0">
                <a:solidFill>
                  <a:schemeClr val="tx2"/>
                </a:solidFill>
              </a:rPr>
              <a:t>Express 5 + EJS</a:t>
            </a:r>
            <a:endParaRPr lang="en-US" sz="1900" dirty="0"/>
          </a:p>
        </p:txBody>
      </p:sp>
      <p:sp>
        <p:nvSpPr>
          <p:cNvPr id="22" name="Text 15"/>
          <p:cNvSpPr txBox="1"/>
          <p:nvPr/>
        </p:nvSpPr>
        <p:spPr>
          <a:xfrm>
            <a:off x="7178040" y="1819656"/>
            <a:ext cx="4480560" cy="365760"/>
          </a:xfrm>
          <a:prstGeom prst="rect">
            <a:avLst/>
          </a:prstGeom>
          <a:noFill/>
          <a:ln/>
        </p:spPr>
        <p:txBody>
          <a:bodyPr wrap="square" lIns="0" tIns="0" rIns="0" bIns="0" rtlCol="0" anchor="t"/>
          <a:lstStyle/>
          <a:p>
            <a:pPr indent="0" marL="0">
              <a:buNone/>
            </a:pPr>
            <a:r>
              <a:rPr lang="en-US" sz="1500" dirty="0">
                <a:solidFill>
                  <a:schemeClr val="tx1"/>
                </a:solidFill>
              </a:rPr>
              <a:t>Web dashboard and status updates</a:t>
            </a:r>
            <a:endParaRPr lang="en-US" sz="1500" dirty="0"/>
          </a:p>
        </p:txBody>
      </p:sp>
      <p:sp>
        <p:nvSpPr>
          <p:cNvPr id="23" name="icon circle"/>
          <p:cNvSpPr/>
          <p:nvPr/>
        </p:nvSpPr>
        <p:spPr>
          <a:xfrm>
            <a:off x="6217920" y="2606040"/>
            <a:ext cx="731520" cy="731520"/>
          </a:xfrm>
          <a:prstGeom prst="ellipse">
            <a:avLst/>
          </a:prstGeom>
          <a:solidFill>
            <a:srgbClr val="EC835A"/>
          </a:solidFill>
          <a:ln/>
        </p:spPr>
      </p:sp>
      <p:pic>
        <p:nvPicPr>
          <p:cNvPr id="24" name="FaChartBar icon" descr="preencoded.png">    </p:cNvPr>
          <p:cNvPicPr>
            <a:picLocks noChangeAspect="1"/>
          </p:cNvPicPr>
          <p:nvPr/>
        </p:nvPicPr>
        <p:blipFill>
          <a:blip r:embed="rId6"/>
          <a:stretch>
            <a:fillRect/>
          </a:stretch>
        </p:blipFill>
        <p:spPr>
          <a:xfrm>
            <a:off x="6400800" y="2788920"/>
            <a:ext cx="365760" cy="365760"/>
          </a:xfrm>
          <a:prstGeom prst="rect">
            <a:avLst/>
          </a:prstGeom>
        </p:spPr>
      </p:pic>
      <p:sp>
        <p:nvSpPr>
          <p:cNvPr id="25" name="Text 17"/>
          <p:cNvSpPr txBox="1"/>
          <p:nvPr/>
        </p:nvSpPr>
        <p:spPr>
          <a:xfrm>
            <a:off x="7178040" y="2624328"/>
            <a:ext cx="4480560" cy="365760"/>
          </a:xfrm>
          <a:prstGeom prst="rect">
            <a:avLst/>
          </a:prstGeom>
          <a:noFill/>
          <a:ln/>
        </p:spPr>
        <p:txBody>
          <a:bodyPr wrap="square" lIns="0" tIns="0" rIns="0" bIns="0" rtlCol="0" anchor="t"/>
          <a:lstStyle/>
          <a:p>
            <a:pPr indent="0" marL="0">
              <a:buNone/>
            </a:pPr>
            <a:r>
              <a:rPr lang="en-US" sz="1900" b="1" dirty="0">
                <a:solidFill>
                  <a:schemeClr val="tx2"/>
                </a:solidFill>
              </a:rPr>
              <a:t>Chart.js 4.5</a:t>
            </a:r>
            <a:endParaRPr lang="en-US" sz="1900" dirty="0"/>
          </a:p>
        </p:txBody>
      </p:sp>
      <p:sp>
        <p:nvSpPr>
          <p:cNvPr id="26" name="Text 18"/>
          <p:cNvSpPr txBox="1"/>
          <p:nvPr/>
        </p:nvSpPr>
        <p:spPr>
          <a:xfrm>
            <a:off x="7178040" y="3008376"/>
            <a:ext cx="4480560" cy="365760"/>
          </a:xfrm>
          <a:prstGeom prst="rect">
            <a:avLst/>
          </a:prstGeom>
          <a:noFill/>
          <a:ln/>
        </p:spPr>
        <p:txBody>
          <a:bodyPr wrap="square" lIns="0" tIns="0" rIns="0" bIns="0" rtlCol="0" anchor="t"/>
          <a:lstStyle/>
          <a:p>
            <a:pPr indent="0" marL="0">
              <a:buNone/>
            </a:pPr>
            <a:r>
              <a:rPr lang="en-US" sz="1500" dirty="0">
                <a:solidFill>
                  <a:schemeClr val="tx1"/>
                </a:solidFill>
              </a:rPr>
              <a:t>Module, severity and trend charts</a:t>
            </a:r>
            <a:endParaRPr lang="en-US" sz="1500" dirty="0"/>
          </a:p>
        </p:txBody>
      </p:sp>
      <p:sp>
        <p:nvSpPr>
          <p:cNvPr id="27" name="icon circle"/>
          <p:cNvSpPr/>
          <p:nvPr/>
        </p:nvSpPr>
        <p:spPr>
          <a:xfrm>
            <a:off x="6217920" y="3794760"/>
            <a:ext cx="731520" cy="731520"/>
          </a:xfrm>
          <a:prstGeom prst="ellipse">
            <a:avLst/>
          </a:prstGeom>
          <a:solidFill>
            <a:srgbClr val="D03B3B"/>
          </a:solidFill>
          <a:ln/>
        </p:spPr>
      </p:sp>
      <p:pic>
        <p:nvPicPr>
          <p:cNvPr id="28" name="FaEnvelope icon" descr="preencoded.png">    </p:cNvPr>
          <p:cNvPicPr>
            <a:picLocks noChangeAspect="1"/>
          </p:cNvPicPr>
          <p:nvPr/>
        </p:nvPicPr>
        <p:blipFill>
          <a:blip r:embed="rId7"/>
          <a:stretch>
            <a:fillRect/>
          </a:stretch>
        </p:blipFill>
        <p:spPr>
          <a:xfrm>
            <a:off x="6400800" y="3977640"/>
            <a:ext cx="365760" cy="365760"/>
          </a:xfrm>
          <a:prstGeom prst="rect">
            <a:avLst/>
          </a:prstGeom>
        </p:spPr>
      </p:pic>
      <p:sp>
        <p:nvSpPr>
          <p:cNvPr id="29" name="Text 20"/>
          <p:cNvSpPr txBox="1"/>
          <p:nvPr/>
        </p:nvSpPr>
        <p:spPr>
          <a:xfrm>
            <a:off x="7178040" y="3813048"/>
            <a:ext cx="4480560" cy="365760"/>
          </a:xfrm>
          <a:prstGeom prst="rect">
            <a:avLst/>
          </a:prstGeom>
          <a:noFill/>
          <a:ln/>
        </p:spPr>
        <p:txBody>
          <a:bodyPr wrap="square" lIns="0" tIns="0" rIns="0" bIns="0" rtlCol="0" anchor="t"/>
          <a:lstStyle/>
          <a:p>
            <a:pPr indent="0" marL="0">
              <a:buNone/>
            </a:pPr>
            <a:r>
              <a:rPr lang="en-US" sz="1900" b="1" dirty="0">
                <a:solidFill>
                  <a:schemeClr val="tx2"/>
                </a:solidFill>
              </a:rPr>
              <a:t>Nodemailer</a:t>
            </a:r>
            <a:endParaRPr lang="en-US" sz="1900" dirty="0"/>
          </a:p>
        </p:txBody>
      </p:sp>
      <p:sp>
        <p:nvSpPr>
          <p:cNvPr id="30" name="Text 21"/>
          <p:cNvSpPr txBox="1"/>
          <p:nvPr/>
        </p:nvSpPr>
        <p:spPr>
          <a:xfrm>
            <a:off x="7178040" y="4197096"/>
            <a:ext cx="4480560" cy="365760"/>
          </a:xfrm>
          <a:prstGeom prst="rect">
            <a:avLst/>
          </a:prstGeom>
          <a:noFill/>
          <a:ln/>
        </p:spPr>
        <p:txBody>
          <a:bodyPr wrap="square" lIns="0" tIns="0" rIns="0" bIns="0" rtlCol="0" anchor="t"/>
          <a:lstStyle/>
          <a:p>
            <a:pPr indent="0" marL="0">
              <a:buNone/>
            </a:pPr>
            <a:r>
              <a:rPr lang="en-US" sz="1500" dirty="0">
                <a:solidFill>
                  <a:schemeClr val="tx1"/>
                </a:solidFill>
              </a:rPr>
              <a:t>SMTP email alerts for Critical bugs</a:t>
            </a:r>
            <a:endParaRPr lang="en-US" sz="1500" dirty="0"/>
          </a:p>
        </p:txBody>
      </p:sp>
      <p:sp>
        <p:nvSpPr>
          <p:cNvPr id="31" name="icon circle"/>
          <p:cNvSpPr/>
          <p:nvPr/>
        </p:nvSpPr>
        <p:spPr>
          <a:xfrm>
            <a:off x="6217920" y="4983480"/>
            <a:ext cx="731520" cy="731520"/>
          </a:xfrm>
          <a:prstGeom prst="ellipse">
            <a:avLst/>
          </a:prstGeom>
          <a:solidFill>
            <a:srgbClr val="5B6472"/>
          </a:solidFill>
          <a:ln/>
        </p:spPr>
      </p:sp>
      <p:pic>
        <p:nvPicPr>
          <p:cNvPr id="32" name="FaCogs icon" descr="preencoded.png">    </p:cNvPr>
          <p:cNvPicPr>
            <a:picLocks noChangeAspect="1"/>
          </p:cNvPicPr>
          <p:nvPr/>
        </p:nvPicPr>
        <p:blipFill>
          <a:blip r:embed="rId8"/>
          <a:stretch>
            <a:fillRect/>
          </a:stretch>
        </p:blipFill>
        <p:spPr>
          <a:xfrm>
            <a:off x="6400800" y="5166360"/>
            <a:ext cx="365760" cy="365760"/>
          </a:xfrm>
          <a:prstGeom prst="rect">
            <a:avLst/>
          </a:prstGeom>
        </p:spPr>
      </p:pic>
      <p:sp>
        <p:nvSpPr>
          <p:cNvPr id="33" name="Text 23"/>
          <p:cNvSpPr txBox="1"/>
          <p:nvPr/>
        </p:nvSpPr>
        <p:spPr>
          <a:xfrm>
            <a:off x="7178040" y="5001768"/>
            <a:ext cx="4480560" cy="365760"/>
          </a:xfrm>
          <a:prstGeom prst="rect">
            <a:avLst/>
          </a:prstGeom>
          <a:noFill/>
          <a:ln/>
        </p:spPr>
        <p:txBody>
          <a:bodyPr wrap="square" lIns="0" tIns="0" rIns="0" bIns="0" rtlCol="0" anchor="t"/>
          <a:lstStyle/>
          <a:p>
            <a:pPr indent="0" marL="0">
              <a:buNone/>
            </a:pPr>
            <a:r>
              <a:rPr lang="en-US" sz="1900" b="1" dirty="0">
                <a:solidFill>
                  <a:schemeClr val="tx2"/>
                </a:solidFill>
              </a:rPr>
              <a:t>dotenv</a:t>
            </a:r>
            <a:endParaRPr lang="en-US" sz="1900" dirty="0"/>
          </a:p>
        </p:txBody>
      </p:sp>
      <p:sp>
        <p:nvSpPr>
          <p:cNvPr id="34" name="Text 24"/>
          <p:cNvSpPr txBox="1"/>
          <p:nvPr/>
        </p:nvSpPr>
        <p:spPr>
          <a:xfrm>
            <a:off x="7178040" y="5385816"/>
            <a:ext cx="4480560" cy="365760"/>
          </a:xfrm>
          <a:prstGeom prst="rect">
            <a:avLst/>
          </a:prstGeom>
          <a:noFill/>
          <a:ln/>
        </p:spPr>
        <p:txBody>
          <a:bodyPr wrap="square" lIns="0" tIns="0" rIns="0" bIns="0" rtlCol="0" anchor="t"/>
          <a:lstStyle/>
          <a:p>
            <a:pPr indent="0" marL="0">
              <a:buNone/>
            </a:pPr>
            <a:r>
              <a:rPr lang="en-US" sz="1500" dirty="0">
                <a:solidFill>
                  <a:schemeClr val="tx1"/>
                </a:solidFill>
              </a:rPr>
              <a:t>Credentials and ports kept outside the code</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Application under test: ShopEase</a:t>
            </a:r>
            <a:endParaRPr lang="en-US" sz="3000" dirty="0"/>
          </a:p>
        </p:txBody>
      </p:sp>
      <p:sp>
        <p:nvSpPr>
          <p:cNvPr id="3" name="ShopEase screenshot frame"/>
          <p:cNvSpPr/>
          <p:nvPr/>
        </p:nvSpPr>
        <p:spPr>
          <a:xfrm>
            <a:off x="548640" y="1417320"/>
            <a:ext cx="5394960" cy="3203258"/>
          </a:xfrm>
          <a:prstGeom prst="rect">
            <a:avLst/>
          </a:prstGeom>
          <a:solidFill>
            <a:srgbClr val="FFFFFF"/>
          </a:solidFill>
          <a:ln w="9525">
            <a:solidFill>
              <a:srgbClr val="D5DAE1"/>
            </a:solidFill>
            <a:prstDash val="solid"/>
          </a:ln>
          <a:effectLst>
            <a:outerShdw sx="100000" sy="100000" kx="0" ky="0" algn="bl" rotWithShape="0" blurRad="101600" dist="25400" dir="5400000">
              <a:srgbClr val="000000">
                <a:alpha val="18000"/>
              </a:srgbClr>
            </a:outerShdw>
          </a:effectLst>
        </p:spPr>
      </p:sp>
      <p:pic>
        <p:nvPicPr>
          <p:cNvPr id="4" name="ShopEase screenshot" descr="preencoded.png">    </p:cNvPr>
          <p:cNvPicPr>
            <a:picLocks noChangeAspect="1"/>
          </p:cNvPicPr>
          <p:nvPr/>
        </p:nvPicPr>
        <p:blipFill>
          <a:blip r:embed="rId1"/>
          <a:stretch>
            <a:fillRect/>
          </a:stretch>
        </p:blipFill>
        <p:spPr>
          <a:xfrm>
            <a:off x="548640" y="1417320"/>
            <a:ext cx="5394960" cy="3203258"/>
          </a:xfrm>
          <a:prstGeom prst="rect">
            <a:avLst/>
          </a:prstGeom>
        </p:spPr>
      </p:pic>
      <p:sp>
        <p:nvSpPr>
          <p:cNvPr id="5" name="Text 2"/>
          <p:cNvSpPr txBox="1"/>
          <p:nvPr/>
        </p:nvSpPr>
        <p:spPr>
          <a:xfrm>
            <a:off x="548640" y="4803458"/>
            <a:ext cx="5394960" cy="548640"/>
          </a:xfrm>
          <a:prstGeom prst="rect">
            <a:avLst/>
          </a:prstGeom>
          <a:noFill/>
          <a:ln/>
        </p:spPr>
        <p:txBody>
          <a:bodyPr wrap="square" lIns="0" tIns="0" rIns="0" bIns="0" rtlCol="0" anchor="t"/>
          <a:lstStyle/>
          <a:p>
            <a:pPr indent="0" marL="0">
              <a:buNone/>
            </a:pPr>
            <a:r>
              <a:rPr lang="en-US" sz="1400" dirty="0">
                <a:solidFill>
                  <a:srgbClr val="5B6472"/>
                </a:solidFill>
              </a:rPr>
              <a:t>Demo web shop built for this project, with defects seeded on purpose in 5 modules</a:t>
            </a:r>
            <a:endParaRPr lang="en-US" sz="1400" dirty="0"/>
          </a:p>
        </p:txBody>
      </p:sp>
      <p:graphicFrame>
        <p:nvGraphicFramePr>
          <p:cNvPr id="8" name="seeded defects table"/>
          <p:cNvGraphicFramePr>
            <a:graphicFrameLocks noGrp="1"/>
          </p:cNvGraphicFramePr>
          <p:nvPr>
            <p:extLst>
              <p:ext uri="{D42A27DB-BD31-4B8C-83A1-F6EECF244321}">
                <p14:modId xmlns:p14="http://schemas.microsoft.com/office/powerpoint/2010/main" val="1579011935"/>
              </p:ext>
            </p:extLst>
          </p:nvPr>
        </p:nvGraphicFramePr>
        <p:xfrm>
          <a:off x="6309360" y="1417320"/>
          <a:ext cx="5330952" cy="914400"/>
        </p:xfrm>
        <a:graphic>
          <a:graphicData uri="http://schemas.openxmlformats.org/drawingml/2006/table">
            <a:tbl>
              <a:tblPr/>
              <a:tblGrid>
                <a:gridCol w="1143000"/>
                <a:gridCol w="2999232"/>
                <a:gridCol w="118872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Module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0243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Seeded defect</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0243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Expected</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0243F"/>
                    </a:solidFill>
                  </a:tcPr>
                </a:tc>
              </a:tr>
              <a:tr h="429768">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Login</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Apostrophe in username causes SQL error</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300" dirty="0">
                          <a:solidFill>
                            <a:srgbClr val="D03B3B"/>
                          </a:solidFill>
                          <a:latin typeface="Calibri" pitchFamily="34" charset="0"/>
                          <a:ea typeface="Calibri" pitchFamily="34" charset="-122"/>
                          <a:cs typeface="Calibri" pitchFamily="34" charset="-120"/>
                        </a:rPr>
                        <a:t>● </a:t>
                      </a:r>
                      <a:pPr indent="0" marL="0">
                        <a:buNone/>
                      </a:pPr>
                      <a:r>
                        <a:rPr lang="en-US" sz="1300" b="1" dirty="0">
                          <a:solidFill>
                            <a:srgbClr val="1F2328"/>
                          </a:solidFill>
                          <a:latin typeface="Calibri" pitchFamily="34" charset="0"/>
                          <a:ea typeface="Calibri" pitchFamily="34" charset="-122"/>
                          <a:cs typeface="Calibri" pitchFamily="34" charset="-120"/>
                        </a:rPr>
                        <a:t>Critical</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r>
              <a:tr h="429768">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Search</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Search is case-sensitive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EC835A"/>
                          </a:solidFill>
                          <a:latin typeface="Calibri" pitchFamily="34" charset="0"/>
                          <a:ea typeface="Calibri" pitchFamily="34" charset="-122"/>
                          <a:cs typeface="Calibri" pitchFamily="34" charset="-120"/>
                        </a:rPr>
                        <a:t>● </a:t>
                      </a:r>
                      <a:pPr indent="0" marL="0">
                        <a:buNone/>
                      </a:pPr>
                      <a:r>
                        <a:rPr lang="en-US" sz="1300" b="1" dirty="0">
                          <a:solidFill>
                            <a:srgbClr val="1F2328"/>
                          </a:solidFill>
                          <a:latin typeface="Calibri" pitchFamily="34" charset="0"/>
                          <a:ea typeface="Calibri" pitchFamily="34" charset="-122"/>
                          <a:cs typeface="Calibri" pitchFamily="34" charset="-120"/>
                        </a:rPr>
                        <a:t>Major</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Search</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Heading typo "Avaliable Products"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300" dirty="0">
                          <a:solidFill>
                            <a:srgbClr val="F2A900"/>
                          </a:solidFill>
                          <a:latin typeface="Calibri" pitchFamily="34" charset="0"/>
                          <a:ea typeface="Calibri" pitchFamily="34" charset="-122"/>
                          <a:cs typeface="Calibri" pitchFamily="34" charset="-120"/>
                        </a:rPr>
                        <a:t>● </a:t>
                      </a:r>
                      <a:pPr indent="0" marL="0">
                        <a:buNone/>
                      </a:pPr>
                      <a:r>
                        <a:rPr lang="en-US" sz="1300" b="1" dirty="0">
                          <a:solidFill>
                            <a:srgbClr val="1F2328"/>
                          </a:solidFill>
                          <a:latin typeface="Calibri" pitchFamily="34" charset="0"/>
                          <a:ea typeface="Calibri" pitchFamily="34" charset="-122"/>
                          <a:cs typeface="Calibri" pitchFamily="34" charset="-120"/>
                        </a:rPr>
                        <a:t>Minor</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r>
              <a:tr h="429768">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Cart</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Total drops the cents (parseInt)</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EC835A"/>
                          </a:solidFill>
                          <a:latin typeface="Calibri" pitchFamily="34" charset="0"/>
                          <a:ea typeface="Calibri" pitchFamily="34" charset="-122"/>
                          <a:cs typeface="Calibri" pitchFamily="34" charset="-120"/>
                        </a:rPr>
                        <a:t>● </a:t>
                      </a:r>
                      <a:pPr indent="0" marL="0">
                        <a:buNone/>
                      </a:pPr>
                      <a:r>
                        <a:rPr lang="en-US" sz="1300" b="1" dirty="0">
                          <a:solidFill>
                            <a:srgbClr val="1F2328"/>
                          </a:solidFill>
                          <a:latin typeface="Calibri" pitchFamily="34" charset="0"/>
                          <a:ea typeface="Calibri" pitchFamily="34" charset="-122"/>
                          <a:cs typeface="Calibri" pitchFamily="34" charset="-120"/>
                        </a:rPr>
                        <a:t>Major</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Cart</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Add-to-cart API has random delay</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300" dirty="0">
                          <a:solidFill>
                            <a:srgbClr val="6250D6"/>
                          </a:solidFill>
                          <a:latin typeface="Calibri" pitchFamily="34" charset="0"/>
                          <a:ea typeface="Calibri" pitchFamily="34" charset="-122"/>
                          <a:cs typeface="Calibri" pitchFamily="34" charset="-120"/>
                        </a:rPr>
                        <a:t>● </a:t>
                      </a:r>
                      <a:pPr indent="0" marL="0">
                        <a:buNone/>
                      </a:pPr>
                      <a:r>
                        <a:rPr lang="en-US" sz="1300" b="1" dirty="0">
                          <a:solidFill>
                            <a:srgbClr val="1F2328"/>
                          </a:solidFill>
                          <a:latin typeface="Calibri" pitchFamily="34" charset="0"/>
                          <a:ea typeface="Calibri" pitchFamily="34" charset="-122"/>
                          <a:cs typeface="Calibri" pitchFamily="34" charset="-120"/>
                        </a:rPr>
                        <a:t>Flaky</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r>
              <a:tr h="429768">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Checkout</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Payment gateway returns HTTP 500</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D03B3B"/>
                          </a:solidFill>
                          <a:latin typeface="Calibri" pitchFamily="34" charset="0"/>
                          <a:ea typeface="Calibri" pitchFamily="34" charset="-122"/>
                          <a:cs typeface="Calibri" pitchFamily="34" charset="-120"/>
                        </a:rPr>
                        <a:t>● </a:t>
                      </a:r>
                      <a:pPr indent="0" marL="0">
                        <a:buNone/>
                      </a:pPr>
                      <a:r>
                        <a:rPr lang="en-US" sz="1300" b="1" dirty="0">
                          <a:solidFill>
                            <a:srgbClr val="1F2328"/>
                          </a:solidFill>
                          <a:latin typeface="Calibri" pitchFamily="34" charset="0"/>
                          <a:ea typeface="Calibri" pitchFamily="34" charset="-122"/>
                          <a:cs typeface="Calibri" pitchFamily="34" charset="-120"/>
                        </a:rPr>
                        <a:t>Critical</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Profile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Label typo "Adress", grey button</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300" dirty="0">
                          <a:solidFill>
                            <a:srgbClr val="F2A900"/>
                          </a:solidFill>
                          <a:latin typeface="Calibri" pitchFamily="34" charset="0"/>
                          <a:ea typeface="Calibri" pitchFamily="34" charset="-122"/>
                          <a:cs typeface="Calibri" pitchFamily="34" charset="-120"/>
                        </a:rPr>
                        <a:t>● </a:t>
                      </a:r>
                      <a:pPr indent="0" marL="0">
                        <a:buNone/>
                      </a:pPr>
                      <a:r>
                        <a:rPr lang="en-US" sz="1300" b="1" dirty="0">
                          <a:solidFill>
                            <a:srgbClr val="1F2328"/>
                          </a:solidFill>
                          <a:latin typeface="Calibri" pitchFamily="34" charset="0"/>
                          <a:ea typeface="Calibri" pitchFamily="34" charset="-122"/>
                          <a:cs typeface="Calibri" pitchFamily="34" charset="-120"/>
                        </a:rPr>
                        <a:t>Minor</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r>
              <a:tr h="429768">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Profile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Order history JavaScript crash</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D03B3B"/>
                          </a:solidFill>
                          <a:latin typeface="Calibri" pitchFamily="34" charset="0"/>
                          <a:ea typeface="Calibri" pitchFamily="34" charset="-122"/>
                          <a:cs typeface="Calibri" pitchFamily="34" charset="-120"/>
                        </a:rPr>
                        <a:t>● </a:t>
                      </a:r>
                      <a:pPr indent="0" marL="0">
                        <a:buNone/>
                      </a:pPr>
                      <a:r>
                        <a:rPr lang="en-US" sz="1300" b="1" dirty="0">
                          <a:solidFill>
                            <a:srgbClr val="1F2328"/>
                          </a:solidFill>
                          <a:latin typeface="Calibri" pitchFamily="34" charset="0"/>
                          <a:ea typeface="Calibri" pitchFamily="34" charset="-122"/>
                          <a:cs typeface="Calibri" pitchFamily="34" charset="-120"/>
                        </a:rPr>
                        <a:t>Critical</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Profile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Profile save API has random delay</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300" dirty="0">
                          <a:solidFill>
                            <a:srgbClr val="6250D6"/>
                          </a:solidFill>
                          <a:latin typeface="Calibri" pitchFamily="34" charset="0"/>
                          <a:ea typeface="Calibri" pitchFamily="34" charset="-122"/>
                          <a:cs typeface="Calibri" pitchFamily="34" charset="-120"/>
                        </a:rPr>
                        <a:t>● </a:t>
                      </a:r>
                      <a:pPr indent="0" marL="0">
                        <a:buNone/>
                      </a:pPr>
                      <a:r>
                        <a:rPr lang="en-US" sz="1300" b="1" dirty="0">
                          <a:solidFill>
                            <a:srgbClr val="1F2328"/>
                          </a:solidFill>
                          <a:latin typeface="Calibri" pitchFamily="34" charset="0"/>
                          <a:ea typeface="Calibri" pitchFamily="34" charset="-122"/>
                          <a:cs typeface="Calibri" pitchFamily="34" charset="-120"/>
                        </a:rPr>
                        <a:t>Flaky</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Objective 1: automated bug capture</a:t>
            </a:r>
            <a:endParaRPr lang="en-US" sz="3000" dirty="0"/>
          </a:p>
        </p:txBody>
      </p:sp>
      <p:sp>
        <p:nvSpPr>
          <p:cNvPr id="3" name="hook onBegin()"/>
          <p:cNvSpPr/>
          <p:nvPr/>
        </p:nvSpPr>
        <p:spPr>
          <a:xfrm>
            <a:off x="548640" y="1463040"/>
            <a:ext cx="5120640" cy="1143000"/>
          </a:xfrm>
          <a:prstGeom prst="roundRect">
            <a:avLst>
              <a:gd name="adj" fmla="val 9600"/>
            </a:avLst>
          </a:prstGeom>
          <a:solidFill>
            <a:schemeClr val="bg2"/>
          </a:solidFill>
          <a:ln/>
        </p:spPr>
      </p:sp>
      <p:sp>
        <p:nvSpPr>
          <p:cNvPr id="4" name="Text 2"/>
          <p:cNvSpPr txBox="1"/>
          <p:nvPr/>
        </p:nvSpPr>
        <p:spPr>
          <a:xfrm>
            <a:off x="777240" y="1627632"/>
            <a:ext cx="4663440" cy="36576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onBegin()</a:t>
            </a:r>
            <a:endParaRPr lang="en-US" sz="1700" dirty="0"/>
          </a:p>
        </p:txBody>
      </p:sp>
      <p:sp>
        <p:nvSpPr>
          <p:cNvPr id="5" name="Text 3"/>
          <p:cNvSpPr txBox="1"/>
          <p:nvPr/>
        </p:nvSpPr>
        <p:spPr>
          <a:xfrm>
            <a:off x="777240" y="2011680"/>
            <a:ext cx="4663440" cy="502920"/>
          </a:xfrm>
          <a:prstGeom prst="rect">
            <a:avLst/>
          </a:prstGeom>
          <a:noFill/>
          <a:ln/>
        </p:spPr>
        <p:txBody>
          <a:bodyPr wrap="square" lIns="0" tIns="0" rIns="0" bIns="0" rtlCol="0" anchor="t"/>
          <a:lstStyle/>
          <a:p>
            <a:pPr indent="0" marL="0">
              <a:buNone/>
            </a:pPr>
            <a:r>
              <a:rPr lang="en-US" sz="1400" dirty="0">
                <a:solidFill>
                  <a:schemeClr val="tx1"/>
                </a:solidFill>
              </a:rPr>
              <a:t>New row in test_runs for this execution</a:t>
            </a:r>
            <a:endParaRPr lang="en-US" sz="1400" dirty="0"/>
          </a:p>
        </p:txBody>
      </p:sp>
      <p:sp>
        <p:nvSpPr>
          <p:cNvPr id="6" name="arrow"/>
          <p:cNvSpPr/>
          <p:nvPr/>
        </p:nvSpPr>
        <p:spPr>
          <a:xfrm>
            <a:off x="3108960" y="2633472"/>
            <a:ext cx="0" cy="274320"/>
          </a:xfrm>
          <a:prstGeom prst="line">
            <a:avLst/>
          </a:prstGeom>
          <a:noFill/>
          <a:ln w="25400">
            <a:solidFill>
              <a:srgbClr val="5B6472"/>
            </a:solidFill>
            <a:prstDash val="solid"/>
            <a:tailEnd type="triangle"/>
          </a:ln>
        </p:spPr>
      </p:sp>
      <p:sp>
        <p:nvSpPr>
          <p:cNvPr id="7" name="hook onTestEnd(test, result)"/>
          <p:cNvSpPr/>
          <p:nvPr/>
        </p:nvSpPr>
        <p:spPr>
          <a:xfrm>
            <a:off x="548640" y="2926080"/>
            <a:ext cx="5120640" cy="1143000"/>
          </a:xfrm>
          <a:prstGeom prst="roundRect">
            <a:avLst>
              <a:gd name="adj" fmla="val 9600"/>
            </a:avLst>
          </a:prstGeom>
          <a:solidFill>
            <a:schemeClr val="bg2"/>
          </a:solidFill>
          <a:ln/>
        </p:spPr>
      </p:sp>
      <p:sp>
        <p:nvSpPr>
          <p:cNvPr id="8" name="Text 6"/>
          <p:cNvSpPr txBox="1"/>
          <p:nvPr/>
        </p:nvSpPr>
        <p:spPr>
          <a:xfrm>
            <a:off x="777240" y="3090672"/>
            <a:ext cx="4663440" cy="36576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onTestEnd(test, result)</a:t>
            </a:r>
            <a:endParaRPr lang="en-US" sz="1700" dirty="0"/>
          </a:p>
        </p:txBody>
      </p:sp>
      <p:sp>
        <p:nvSpPr>
          <p:cNvPr id="9" name="Text 7"/>
          <p:cNvSpPr txBox="1"/>
          <p:nvPr/>
        </p:nvSpPr>
        <p:spPr>
          <a:xfrm>
            <a:off x="777240" y="3474720"/>
            <a:ext cx="4663440" cy="502920"/>
          </a:xfrm>
          <a:prstGeom prst="rect">
            <a:avLst/>
          </a:prstGeom>
          <a:noFill/>
          <a:ln/>
        </p:spPr>
        <p:txBody>
          <a:bodyPr wrap="square" lIns="0" tIns="0" rIns="0" bIns="0" rtlCol="0" anchor="t"/>
          <a:lstStyle/>
          <a:p>
            <a:pPr indent="0" marL="0">
              <a:buNone/>
            </a:pPr>
            <a:r>
              <a:rPr lang="en-US" sz="1400" dirty="0">
                <a:solidFill>
                  <a:schemeClr val="tx1"/>
                </a:solidFill>
              </a:rPr>
              <a:t>Store the result; on failure capture details, predict severity, save the bug</a:t>
            </a:r>
            <a:endParaRPr lang="en-US" sz="1400" dirty="0"/>
          </a:p>
        </p:txBody>
      </p:sp>
      <p:sp>
        <p:nvSpPr>
          <p:cNvPr id="10" name="arrow"/>
          <p:cNvSpPr/>
          <p:nvPr/>
        </p:nvSpPr>
        <p:spPr>
          <a:xfrm>
            <a:off x="3108960" y="4096512"/>
            <a:ext cx="0" cy="274320"/>
          </a:xfrm>
          <a:prstGeom prst="line">
            <a:avLst/>
          </a:prstGeom>
          <a:noFill/>
          <a:ln w="25400">
            <a:solidFill>
              <a:srgbClr val="5B6472"/>
            </a:solidFill>
            <a:prstDash val="solid"/>
            <a:tailEnd type="triangle"/>
          </a:ln>
        </p:spPr>
      </p:sp>
      <p:sp>
        <p:nvSpPr>
          <p:cNvPr id="11" name="hook onEnd()"/>
          <p:cNvSpPr/>
          <p:nvPr/>
        </p:nvSpPr>
        <p:spPr>
          <a:xfrm>
            <a:off x="548640" y="4389120"/>
            <a:ext cx="5120640" cy="1143000"/>
          </a:xfrm>
          <a:prstGeom prst="roundRect">
            <a:avLst>
              <a:gd name="adj" fmla="val 9600"/>
            </a:avLst>
          </a:prstGeom>
          <a:solidFill>
            <a:schemeClr val="bg2"/>
          </a:solidFill>
          <a:ln/>
        </p:spPr>
      </p:sp>
      <p:sp>
        <p:nvSpPr>
          <p:cNvPr id="12" name="Text 10"/>
          <p:cNvSpPr txBox="1"/>
          <p:nvPr/>
        </p:nvSpPr>
        <p:spPr>
          <a:xfrm>
            <a:off x="777240" y="4553712"/>
            <a:ext cx="4663440" cy="36576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onEnd()</a:t>
            </a:r>
            <a:endParaRPr lang="en-US" sz="1700" dirty="0"/>
          </a:p>
        </p:txBody>
      </p:sp>
      <p:sp>
        <p:nvSpPr>
          <p:cNvPr id="13" name="Text 11"/>
          <p:cNvSpPr txBox="1"/>
          <p:nvPr/>
        </p:nvSpPr>
        <p:spPr>
          <a:xfrm>
            <a:off x="777240" y="4937760"/>
            <a:ext cx="4663440" cy="502920"/>
          </a:xfrm>
          <a:prstGeom prst="rect">
            <a:avLst/>
          </a:prstGeom>
          <a:noFill/>
          <a:ln/>
        </p:spPr>
        <p:txBody>
          <a:bodyPr wrap="square" lIns="0" tIns="0" rIns="0" bIns="0" rtlCol="0" anchor="t"/>
          <a:lstStyle/>
          <a:p>
            <a:pPr indent="0" marL="0">
              <a:buNone/>
            </a:pPr>
            <a:r>
              <a:rPr lang="en-US" sz="1400" dirty="0">
                <a:solidFill>
                  <a:schemeClr val="tx1"/>
                </a:solidFill>
              </a:rPr>
              <a:t>Save run summary; email alert for each new Critical bug</a:t>
            </a:r>
            <a:endParaRPr lang="en-US" sz="1400" dirty="0"/>
          </a:p>
        </p:txBody>
      </p:sp>
      <p:sp>
        <p:nvSpPr>
          <p:cNvPr id="14" name="Text 12"/>
          <p:cNvSpPr txBox="1"/>
          <p:nvPr/>
        </p:nvSpPr>
        <p:spPr>
          <a:xfrm>
            <a:off x="548640" y="5852160"/>
            <a:ext cx="5120640" cy="320040"/>
          </a:xfrm>
          <a:prstGeom prst="rect">
            <a:avLst/>
          </a:prstGeom>
          <a:noFill/>
          <a:ln/>
        </p:spPr>
        <p:txBody>
          <a:bodyPr wrap="square" lIns="0" tIns="0" rIns="0" bIns="0" rtlCol="0" anchor="t"/>
          <a:lstStyle/>
          <a:p>
            <a:pPr indent="0" marL="0">
              <a:buNone/>
            </a:pPr>
            <a:r>
              <a:rPr lang="en-US" sz="1300" i="1" dirty="0">
                <a:solidFill>
                  <a:srgbClr val="5B6472"/>
                </a:solidFill>
              </a:rPr>
              <a:t>Custom Playwright reporter: bugReporter.ts</a:t>
            </a:r>
            <a:endParaRPr lang="en-US" sz="1300" dirty="0"/>
          </a:p>
        </p:txBody>
      </p:sp>
      <p:sp>
        <p:nvSpPr>
          <p:cNvPr id="15" name="Text 13"/>
          <p:cNvSpPr txBox="1"/>
          <p:nvPr/>
        </p:nvSpPr>
        <p:spPr>
          <a:xfrm>
            <a:off x="6309360" y="1463040"/>
            <a:ext cx="5303520" cy="365760"/>
          </a:xfrm>
          <a:prstGeom prst="rect">
            <a:avLst/>
          </a:prstGeom>
          <a:noFill/>
          <a:ln/>
        </p:spPr>
        <p:txBody>
          <a:bodyPr wrap="square" lIns="0" tIns="0" rIns="0" bIns="0" rtlCol="0" anchor="t"/>
          <a:lstStyle/>
          <a:p>
            <a:pPr indent="0" marL="0">
              <a:buNone/>
            </a:pPr>
            <a:r>
              <a:rPr lang="en-US" sz="1900" b="1" dirty="0">
                <a:solidFill>
                  <a:schemeClr val="tx2"/>
                </a:solidFill>
              </a:rPr>
              <a:t>Captured for every failure</a:t>
            </a:r>
            <a:endParaRPr lang="en-US" sz="1900" dirty="0"/>
          </a:p>
        </p:txBody>
      </p:sp>
      <p:sp>
        <p:nvSpPr>
          <p:cNvPr id="16" name="field Error message"/>
          <p:cNvSpPr/>
          <p:nvPr/>
        </p:nvSpPr>
        <p:spPr>
          <a:xfrm>
            <a:off x="6309360" y="2011680"/>
            <a:ext cx="2560320" cy="1645920"/>
          </a:xfrm>
          <a:prstGeom prst="roundRect">
            <a:avLst>
              <a:gd name="adj" fmla="val 6667"/>
            </a:avLst>
          </a:prstGeom>
          <a:solidFill>
            <a:schemeClr val="bg2"/>
          </a:solidFill>
          <a:ln/>
        </p:spPr>
      </p:sp>
      <p:sp>
        <p:nvSpPr>
          <p:cNvPr id="17" name="icon circle"/>
          <p:cNvSpPr/>
          <p:nvPr/>
        </p:nvSpPr>
        <p:spPr>
          <a:xfrm>
            <a:off x="6537960" y="2212848"/>
            <a:ext cx="502920" cy="502920"/>
          </a:xfrm>
          <a:prstGeom prst="ellipse">
            <a:avLst/>
          </a:prstGeom>
          <a:solidFill>
            <a:srgbClr val="2A78D6"/>
          </a:solidFill>
          <a:ln/>
        </p:spPr>
      </p:sp>
      <p:pic>
        <p:nvPicPr>
          <p:cNvPr id="18" name="FaExclamationTriangle icon" descr="preencoded.png">    </p:cNvPr>
          <p:cNvPicPr>
            <a:picLocks noChangeAspect="1"/>
          </p:cNvPicPr>
          <p:nvPr/>
        </p:nvPicPr>
        <p:blipFill>
          <a:blip r:embed="rId1"/>
          <a:stretch>
            <a:fillRect/>
          </a:stretch>
        </p:blipFill>
        <p:spPr>
          <a:xfrm>
            <a:off x="6663690" y="2338578"/>
            <a:ext cx="251460" cy="251460"/>
          </a:xfrm>
          <a:prstGeom prst="rect">
            <a:avLst/>
          </a:prstGeom>
        </p:spPr>
      </p:pic>
      <p:sp>
        <p:nvSpPr>
          <p:cNvPr id="19" name="Text 16"/>
          <p:cNvSpPr txBox="1"/>
          <p:nvPr/>
        </p:nvSpPr>
        <p:spPr>
          <a:xfrm>
            <a:off x="6537960" y="2816352"/>
            <a:ext cx="2194560" cy="320040"/>
          </a:xfrm>
          <a:prstGeom prst="rect">
            <a:avLst/>
          </a:prstGeom>
          <a:noFill/>
          <a:ln/>
        </p:spPr>
        <p:txBody>
          <a:bodyPr wrap="square" lIns="0" tIns="0" rIns="0" bIns="0" rtlCol="0" anchor="t"/>
          <a:lstStyle/>
          <a:p>
            <a:pPr indent="0" marL="0">
              <a:buNone/>
            </a:pPr>
            <a:r>
              <a:rPr lang="en-US" sz="1600" b="1" dirty="0">
                <a:solidFill>
                  <a:schemeClr val="tx2"/>
                </a:solidFill>
              </a:rPr>
              <a:t>Error message</a:t>
            </a:r>
            <a:endParaRPr lang="en-US" sz="1600" dirty="0"/>
          </a:p>
        </p:txBody>
      </p:sp>
      <p:sp>
        <p:nvSpPr>
          <p:cNvPr id="20" name="Text 17"/>
          <p:cNvSpPr txBox="1"/>
          <p:nvPr/>
        </p:nvSpPr>
        <p:spPr>
          <a:xfrm>
            <a:off x="6537960" y="3127248"/>
            <a:ext cx="2194560" cy="457200"/>
          </a:xfrm>
          <a:prstGeom prst="rect">
            <a:avLst/>
          </a:prstGeom>
          <a:noFill/>
          <a:ln/>
        </p:spPr>
        <p:txBody>
          <a:bodyPr wrap="square" lIns="0" tIns="0" rIns="0" bIns="0" rtlCol="0" anchor="t"/>
          <a:lstStyle/>
          <a:p>
            <a:pPr indent="0" marL="0">
              <a:buNone/>
            </a:pPr>
            <a:r>
              <a:rPr lang="en-US" sz="1300" dirty="0">
                <a:solidFill>
                  <a:schemeClr val="tx1"/>
                </a:solidFill>
              </a:rPr>
              <a:t>Assertion, expected vs received</a:t>
            </a:r>
            <a:endParaRPr lang="en-US" sz="1300" dirty="0"/>
          </a:p>
        </p:txBody>
      </p:sp>
      <p:sp>
        <p:nvSpPr>
          <p:cNvPr id="21" name="field Screenshot"/>
          <p:cNvSpPr/>
          <p:nvPr/>
        </p:nvSpPr>
        <p:spPr>
          <a:xfrm>
            <a:off x="9006840" y="2011680"/>
            <a:ext cx="2560320" cy="1645920"/>
          </a:xfrm>
          <a:prstGeom prst="roundRect">
            <a:avLst>
              <a:gd name="adj" fmla="val 6667"/>
            </a:avLst>
          </a:prstGeom>
          <a:solidFill>
            <a:schemeClr val="bg2"/>
          </a:solidFill>
          <a:ln/>
        </p:spPr>
      </p:sp>
      <p:sp>
        <p:nvSpPr>
          <p:cNvPr id="22" name="icon circle"/>
          <p:cNvSpPr/>
          <p:nvPr/>
        </p:nvSpPr>
        <p:spPr>
          <a:xfrm>
            <a:off x="9235440" y="2212848"/>
            <a:ext cx="502920" cy="502920"/>
          </a:xfrm>
          <a:prstGeom prst="ellipse">
            <a:avLst/>
          </a:prstGeom>
          <a:solidFill>
            <a:srgbClr val="2A78D6"/>
          </a:solidFill>
          <a:ln/>
        </p:spPr>
      </p:sp>
      <p:pic>
        <p:nvPicPr>
          <p:cNvPr id="23" name="FaCamera icon" descr="preencoded.png">    </p:cNvPr>
          <p:cNvPicPr>
            <a:picLocks noChangeAspect="1"/>
          </p:cNvPicPr>
          <p:nvPr/>
        </p:nvPicPr>
        <p:blipFill>
          <a:blip r:embed="rId2"/>
          <a:stretch>
            <a:fillRect/>
          </a:stretch>
        </p:blipFill>
        <p:spPr>
          <a:xfrm>
            <a:off x="9361170" y="2338578"/>
            <a:ext cx="251460" cy="251460"/>
          </a:xfrm>
          <a:prstGeom prst="rect">
            <a:avLst/>
          </a:prstGeom>
        </p:spPr>
      </p:pic>
      <p:sp>
        <p:nvSpPr>
          <p:cNvPr id="24" name="Text 20"/>
          <p:cNvSpPr txBox="1"/>
          <p:nvPr/>
        </p:nvSpPr>
        <p:spPr>
          <a:xfrm>
            <a:off x="9235440" y="2816352"/>
            <a:ext cx="2194560" cy="320040"/>
          </a:xfrm>
          <a:prstGeom prst="rect">
            <a:avLst/>
          </a:prstGeom>
          <a:noFill/>
          <a:ln/>
        </p:spPr>
        <p:txBody>
          <a:bodyPr wrap="square" lIns="0" tIns="0" rIns="0" bIns="0" rtlCol="0" anchor="t"/>
          <a:lstStyle/>
          <a:p>
            <a:pPr indent="0" marL="0">
              <a:buNone/>
            </a:pPr>
            <a:r>
              <a:rPr lang="en-US" sz="1600" b="1" dirty="0">
                <a:solidFill>
                  <a:schemeClr val="tx2"/>
                </a:solidFill>
              </a:rPr>
              <a:t>Screenshot</a:t>
            </a:r>
            <a:endParaRPr lang="en-US" sz="1600" dirty="0"/>
          </a:p>
        </p:txBody>
      </p:sp>
      <p:sp>
        <p:nvSpPr>
          <p:cNvPr id="25" name="Text 21"/>
          <p:cNvSpPr txBox="1"/>
          <p:nvPr/>
        </p:nvSpPr>
        <p:spPr>
          <a:xfrm>
            <a:off x="9235440" y="3127248"/>
            <a:ext cx="2194560" cy="457200"/>
          </a:xfrm>
          <a:prstGeom prst="rect">
            <a:avLst/>
          </a:prstGeom>
          <a:noFill/>
          <a:ln/>
        </p:spPr>
        <p:txBody>
          <a:bodyPr wrap="square" lIns="0" tIns="0" rIns="0" bIns="0" rtlCol="0" anchor="t"/>
          <a:lstStyle/>
          <a:p>
            <a:pPr indent="0" marL="0">
              <a:buNone/>
            </a:pPr>
            <a:r>
              <a:rPr lang="en-US" sz="1300" dirty="0">
                <a:solidFill>
                  <a:schemeClr val="tx1"/>
                </a:solidFill>
              </a:rPr>
              <a:t>Page at the moment of failure</a:t>
            </a:r>
            <a:endParaRPr lang="en-US" sz="1300" dirty="0"/>
          </a:p>
        </p:txBody>
      </p:sp>
      <p:sp>
        <p:nvSpPr>
          <p:cNvPr id="26" name="field Timestamp"/>
          <p:cNvSpPr/>
          <p:nvPr/>
        </p:nvSpPr>
        <p:spPr>
          <a:xfrm>
            <a:off x="6309360" y="3840480"/>
            <a:ext cx="2560320" cy="1645920"/>
          </a:xfrm>
          <a:prstGeom prst="roundRect">
            <a:avLst>
              <a:gd name="adj" fmla="val 6667"/>
            </a:avLst>
          </a:prstGeom>
          <a:solidFill>
            <a:schemeClr val="bg2"/>
          </a:solidFill>
          <a:ln/>
        </p:spPr>
      </p:sp>
      <p:sp>
        <p:nvSpPr>
          <p:cNvPr id="27" name="icon circle"/>
          <p:cNvSpPr/>
          <p:nvPr/>
        </p:nvSpPr>
        <p:spPr>
          <a:xfrm>
            <a:off x="6537960" y="4041648"/>
            <a:ext cx="502920" cy="502920"/>
          </a:xfrm>
          <a:prstGeom prst="ellipse">
            <a:avLst/>
          </a:prstGeom>
          <a:solidFill>
            <a:srgbClr val="2A78D6"/>
          </a:solidFill>
          <a:ln/>
        </p:spPr>
      </p:sp>
      <p:pic>
        <p:nvPicPr>
          <p:cNvPr id="28" name="FaClock icon" descr="preencoded.png">    </p:cNvPr>
          <p:cNvPicPr>
            <a:picLocks noChangeAspect="1"/>
          </p:cNvPicPr>
          <p:nvPr/>
        </p:nvPicPr>
        <p:blipFill>
          <a:blip r:embed="rId3"/>
          <a:stretch>
            <a:fillRect/>
          </a:stretch>
        </p:blipFill>
        <p:spPr>
          <a:xfrm>
            <a:off x="6663690" y="4167378"/>
            <a:ext cx="251460" cy="251460"/>
          </a:xfrm>
          <a:prstGeom prst="rect">
            <a:avLst/>
          </a:prstGeom>
        </p:spPr>
      </p:pic>
      <p:sp>
        <p:nvSpPr>
          <p:cNvPr id="29" name="Text 24"/>
          <p:cNvSpPr txBox="1"/>
          <p:nvPr/>
        </p:nvSpPr>
        <p:spPr>
          <a:xfrm>
            <a:off x="6537960" y="4645152"/>
            <a:ext cx="2194560" cy="320040"/>
          </a:xfrm>
          <a:prstGeom prst="rect">
            <a:avLst/>
          </a:prstGeom>
          <a:noFill/>
          <a:ln/>
        </p:spPr>
        <p:txBody>
          <a:bodyPr wrap="square" lIns="0" tIns="0" rIns="0" bIns="0" rtlCol="0" anchor="t"/>
          <a:lstStyle/>
          <a:p>
            <a:pPr indent="0" marL="0">
              <a:buNone/>
            </a:pPr>
            <a:r>
              <a:rPr lang="en-US" sz="1600" b="1" dirty="0">
                <a:solidFill>
                  <a:schemeClr val="tx2"/>
                </a:solidFill>
              </a:rPr>
              <a:t>Timestamp</a:t>
            </a:r>
            <a:endParaRPr lang="en-US" sz="1600" dirty="0"/>
          </a:p>
        </p:txBody>
      </p:sp>
      <p:sp>
        <p:nvSpPr>
          <p:cNvPr id="30" name="Text 25"/>
          <p:cNvSpPr txBox="1"/>
          <p:nvPr/>
        </p:nvSpPr>
        <p:spPr>
          <a:xfrm>
            <a:off x="6537960" y="4956048"/>
            <a:ext cx="2194560" cy="457200"/>
          </a:xfrm>
          <a:prstGeom prst="rect">
            <a:avLst/>
          </a:prstGeom>
          <a:noFill/>
          <a:ln/>
        </p:spPr>
        <p:txBody>
          <a:bodyPr wrap="square" lIns="0" tIns="0" rIns="0" bIns="0" rtlCol="0" anchor="t"/>
          <a:lstStyle/>
          <a:p>
            <a:pPr indent="0" marL="0">
              <a:buNone/>
            </a:pPr>
            <a:r>
              <a:rPr lang="en-US" sz="1300" dirty="0">
                <a:solidFill>
                  <a:schemeClr val="tx1"/>
                </a:solidFill>
              </a:rPr>
              <a:t>e.g. 2026-10-21 10:29:35</a:t>
            </a:r>
            <a:endParaRPr lang="en-US" sz="1300" dirty="0"/>
          </a:p>
        </p:txBody>
      </p:sp>
      <p:sp>
        <p:nvSpPr>
          <p:cNvPr id="31" name="field Module"/>
          <p:cNvSpPr/>
          <p:nvPr/>
        </p:nvSpPr>
        <p:spPr>
          <a:xfrm>
            <a:off x="9006840" y="3840480"/>
            <a:ext cx="2560320" cy="1645920"/>
          </a:xfrm>
          <a:prstGeom prst="roundRect">
            <a:avLst>
              <a:gd name="adj" fmla="val 6667"/>
            </a:avLst>
          </a:prstGeom>
          <a:solidFill>
            <a:schemeClr val="bg2"/>
          </a:solidFill>
          <a:ln/>
        </p:spPr>
      </p:sp>
      <p:sp>
        <p:nvSpPr>
          <p:cNvPr id="32" name="icon circle"/>
          <p:cNvSpPr/>
          <p:nvPr/>
        </p:nvSpPr>
        <p:spPr>
          <a:xfrm>
            <a:off x="9235440" y="4041648"/>
            <a:ext cx="502920" cy="502920"/>
          </a:xfrm>
          <a:prstGeom prst="ellipse">
            <a:avLst/>
          </a:prstGeom>
          <a:solidFill>
            <a:srgbClr val="2A78D6"/>
          </a:solidFill>
          <a:ln/>
        </p:spPr>
      </p:sp>
      <p:pic>
        <p:nvPicPr>
          <p:cNvPr id="33" name="FaLayerGroup icon" descr="preencoded.png">    </p:cNvPr>
          <p:cNvPicPr>
            <a:picLocks noChangeAspect="1"/>
          </p:cNvPicPr>
          <p:nvPr/>
        </p:nvPicPr>
        <p:blipFill>
          <a:blip r:embed="rId4"/>
          <a:stretch>
            <a:fillRect/>
          </a:stretch>
        </p:blipFill>
        <p:spPr>
          <a:xfrm>
            <a:off x="9361170" y="4167378"/>
            <a:ext cx="251460" cy="251460"/>
          </a:xfrm>
          <a:prstGeom prst="rect">
            <a:avLst/>
          </a:prstGeom>
        </p:spPr>
      </p:pic>
      <p:sp>
        <p:nvSpPr>
          <p:cNvPr id="34" name="Text 28"/>
          <p:cNvSpPr txBox="1"/>
          <p:nvPr/>
        </p:nvSpPr>
        <p:spPr>
          <a:xfrm>
            <a:off x="9235440" y="4645152"/>
            <a:ext cx="2194560" cy="320040"/>
          </a:xfrm>
          <a:prstGeom prst="rect">
            <a:avLst/>
          </a:prstGeom>
          <a:noFill/>
          <a:ln/>
        </p:spPr>
        <p:txBody>
          <a:bodyPr wrap="square" lIns="0" tIns="0" rIns="0" bIns="0" rtlCol="0" anchor="t"/>
          <a:lstStyle/>
          <a:p>
            <a:pPr indent="0" marL="0">
              <a:buNone/>
            </a:pPr>
            <a:r>
              <a:rPr lang="en-US" sz="1600" b="1" dirty="0">
                <a:solidFill>
                  <a:schemeClr val="tx2"/>
                </a:solidFill>
              </a:rPr>
              <a:t>Module</a:t>
            </a:r>
            <a:endParaRPr lang="en-US" sz="1600" dirty="0"/>
          </a:p>
        </p:txBody>
      </p:sp>
      <p:sp>
        <p:nvSpPr>
          <p:cNvPr id="35" name="Text 29"/>
          <p:cNvSpPr txBox="1"/>
          <p:nvPr/>
        </p:nvSpPr>
        <p:spPr>
          <a:xfrm>
            <a:off x="9235440" y="4956048"/>
            <a:ext cx="2194560" cy="457200"/>
          </a:xfrm>
          <a:prstGeom prst="rect">
            <a:avLst/>
          </a:prstGeom>
          <a:noFill/>
          <a:ln/>
        </p:spPr>
        <p:txBody>
          <a:bodyPr wrap="square" lIns="0" tIns="0" rIns="0" bIns="0" rtlCol="0" anchor="t"/>
          <a:lstStyle/>
          <a:p>
            <a:pPr indent="0" marL="0">
              <a:buNone/>
            </a:pPr>
            <a:r>
              <a:rPr lang="en-US" sz="1300" dirty="0">
                <a:solidFill>
                  <a:schemeClr val="tx1"/>
                </a:solidFill>
              </a:rPr>
              <a:t>From the test tag, e.g. @Checkout</a:t>
            </a:r>
            <a:endParaRPr lang="en-US" sz="1300" dirty="0"/>
          </a:p>
        </p:txBody>
      </p:sp>
      <p:sp>
        <p:nvSpPr>
          <p:cNvPr id="36" name="Text 30"/>
          <p:cNvSpPr txBox="1"/>
          <p:nvPr/>
        </p:nvSpPr>
        <p:spPr>
          <a:xfrm>
            <a:off x="6309360" y="5760720"/>
            <a:ext cx="5303520" cy="411480"/>
          </a:xfrm>
          <a:prstGeom prst="rect">
            <a:avLst/>
          </a:prstGeom>
          <a:noFill/>
          <a:ln/>
        </p:spPr>
        <p:txBody>
          <a:bodyPr wrap="square" lIns="0" tIns="0" rIns="0" bIns="0" rtlCol="0" anchor="t"/>
          <a:lstStyle/>
          <a:p>
            <a:pPr indent="0" marL="0">
              <a:buNone/>
            </a:pPr>
            <a:r>
              <a:rPr lang="en-US" sz="1400" b="1" dirty="0">
                <a:solidFill>
                  <a:schemeClr val="accent1"/>
                </a:solidFill>
              </a:rPr>
              <a:t>Same failure again? Occurrence count + 1 (fingerprint), no duplicate bug</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Objective 2: ML severity classification</a:t>
            </a:r>
            <a:endParaRPr lang="en-US" sz="3000" dirty="0"/>
          </a:p>
        </p:txBody>
      </p:sp>
      <p:sp>
        <p:nvSpPr>
          <p:cNvPr id="3" name="ml step Raw error"/>
          <p:cNvSpPr/>
          <p:nvPr/>
        </p:nvSpPr>
        <p:spPr>
          <a:xfrm>
            <a:off x="548640" y="1371600"/>
            <a:ext cx="1709928" cy="1325880"/>
          </a:xfrm>
          <a:prstGeom prst="roundRect">
            <a:avLst>
              <a:gd name="adj" fmla="val 6897"/>
            </a:avLst>
          </a:prstGeom>
          <a:solidFill>
            <a:srgbClr val="10243F"/>
          </a:solidFill>
          <a:ln/>
        </p:spPr>
        <p:txBody>
          <a:bodyPr wrap="square" lIns="76200" tIns="76200" rIns="76200" bIns="76200" rtlCol="0" anchor="ctr"/>
          <a:lstStyle/>
          <a:p>
            <a:pPr algn="ctr" indent="0" marL="0">
              <a:buNone/>
            </a:pPr>
            <a:r>
              <a:rPr lang="en-US" sz="1500" b="1" dirty="0">
                <a:solidFill>
                  <a:schemeClr val="bg1"/>
                </a:solidFill>
              </a:rPr>
              <a:t>Raw error</a:t>
            </a:r>
            <a:endParaRPr lang="en-US" sz="1500" dirty="0"/>
          </a:p>
          <a:p>
            <a:pPr algn="ctr" indent="0" marL="0">
              <a:buNone/>
            </a:pPr>
            <a:r>
              <a:rPr lang="en-US" sz="1200" dirty="0">
                <a:solidFill>
                  <a:schemeClr val="bg1"/>
                </a:solidFill>
              </a:rPr>
              <a:t>Playwright failure message</a:t>
            </a:r>
            <a:endParaRPr lang="en-US" sz="1500" dirty="0"/>
          </a:p>
        </p:txBody>
      </p:sp>
      <p:sp>
        <p:nvSpPr>
          <p:cNvPr id="4" name="arrow"/>
          <p:cNvSpPr/>
          <p:nvPr/>
        </p:nvSpPr>
        <p:spPr>
          <a:xfrm>
            <a:off x="2267712" y="2029968"/>
            <a:ext cx="164592" cy="0"/>
          </a:xfrm>
          <a:prstGeom prst="line">
            <a:avLst/>
          </a:prstGeom>
          <a:noFill/>
          <a:ln w="25400">
            <a:solidFill>
              <a:srgbClr val="10243F"/>
            </a:solidFill>
            <a:prstDash val="solid"/>
            <a:tailEnd type="triangle"/>
          </a:ln>
        </p:spPr>
      </p:sp>
      <p:sp>
        <p:nvSpPr>
          <p:cNvPr id="5" name="ml step Clean"/>
          <p:cNvSpPr/>
          <p:nvPr/>
        </p:nvSpPr>
        <p:spPr>
          <a:xfrm>
            <a:off x="2441448" y="1371600"/>
            <a:ext cx="1709928" cy="1325880"/>
          </a:xfrm>
          <a:prstGeom prst="roundRect">
            <a:avLst>
              <a:gd name="adj" fmla="val 6897"/>
            </a:avLst>
          </a:prstGeom>
          <a:solidFill>
            <a:srgbClr val="10243F"/>
          </a:solidFill>
          <a:ln/>
        </p:spPr>
        <p:txBody>
          <a:bodyPr wrap="square" lIns="76200" tIns="76200" rIns="76200" bIns="76200" rtlCol="0" anchor="ctr"/>
          <a:lstStyle/>
          <a:p>
            <a:pPr algn="ctr" indent="0" marL="0">
              <a:buNone/>
            </a:pPr>
            <a:r>
              <a:rPr lang="en-US" sz="1500" b="1" dirty="0">
                <a:solidFill>
                  <a:schemeClr val="bg1"/>
                </a:solidFill>
              </a:rPr>
              <a:t>Clean</a:t>
            </a:r>
            <a:endParaRPr lang="en-US" sz="1500" dirty="0"/>
          </a:p>
          <a:p>
            <a:pPr algn="ctr" indent="0" marL="0">
              <a:buNone/>
            </a:pPr>
            <a:r>
              <a:rPr lang="en-US" sz="1200" dirty="0">
                <a:solidFill>
                  <a:schemeClr val="bg1"/>
                </a:solidFill>
              </a:rPr>
              <a:t>Drop colour codes, Locator / Timeout lines</a:t>
            </a:r>
            <a:endParaRPr lang="en-US" sz="1500" dirty="0"/>
          </a:p>
        </p:txBody>
      </p:sp>
      <p:sp>
        <p:nvSpPr>
          <p:cNvPr id="6" name="arrow"/>
          <p:cNvSpPr/>
          <p:nvPr/>
        </p:nvSpPr>
        <p:spPr>
          <a:xfrm>
            <a:off x="4160520" y="2029968"/>
            <a:ext cx="164592" cy="0"/>
          </a:xfrm>
          <a:prstGeom prst="line">
            <a:avLst/>
          </a:prstGeom>
          <a:noFill/>
          <a:ln w="25400">
            <a:solidFill>
              <a:srgbClr val="10243F"/>
            </a:solidFill>
            <a:prstDash val="solid"/>
            <a:tailEnd type="triangle"/>
          </a:ln>
        </p:spPr>
      </p:sp>
      <p:sp>
        <p:nvSpPr>
          <p:cNvPr id="7" name="ml step Normalise"/>
          <p:cNvSpPr/>
          <p:nvPr/>
        </p:nvSpPr>
        <p:spPr>
          <a:xfrm>
            <a:off x="4334256" y="1371600"/>
            <a:ext cx="1709928" cy="1325880"/>
          </a:xfrm>
          <a:prstGeom prst="roundRect">
            <a:avLst>
              <a:gd name="adj" fmla="val 6897"/>
            </a:avLst>
          </a:prstGeom>
          <a:solidFill>
            <a:srgbClr val="10243F"/>
          </a:solidFill>
          <a:ln/>
        </p:spPr>
        <p:txBody>
          <a:bodyPr wrap="square" lIns="76200" tIns="76200" rIns="76200" bIns="76200" rtlCol="0" anchor="ctr"/>
          <a:lstStyle/>
          <a:p>
            <a:pPr algn="ctr" indent="0" marL="0">
              <a:buNone/>
            </a:pPr>
            <a:r>
              <a:rPr lang="en-US" sz="1500" b="1" dirty="0">
                <a:solidFill>
                  <a:schemeClr val="bg1"/>
                </a:solidFill>
              </a:rPr>
              <a:t>Normalise</a:t>
            </a:r>
            <a:endParaRPr lang="en-US" sz="1500" dirty="0"/>
          </a:p>
          <a:p>
            <a:pPr algn="ctr" indent="0" marL="0">
              <a:buNone/>
            </a:pPr>
            <a:r>
              <a:rPr lang="en-US" sz="1200" dirty="0">
                <a:solidFill>
                  <a:schemeClr val="bg1"/>
                </a:solidFill>
              </a:rPr>
              <a:t>Lowercase; 500 → http500; numbers → num</a:t>
            </a:r>
            <a:endParaRPr lang="en-US" sz="1500" dirty="0"/>
          </a:p>
        </p:txBody>
      </p:sp>
      <p:sp>
        <p:nvSpPr>
          <p:cNvPr id="8" name="arrow"/>
          <p:cNvSpPr/>
          <p:nvPr/>
        </p:nvSpPr>
        <p:spPr>
          <a:xfrm>
            <a:off x="6053328" y="2029968"/>
            <a:ext cx="164592" cy="0"/>
          </a:xfrm>
          <a:prstGeom prst="line">
            <a:avLst/>
          </a:prstGeom>
          <a:noFill/>
          <a:ln w="25400">
            <a:solidFill>
              <a:srgbClr val="10243F"/>
            </a:solidFill>
            <a:prstDash val="solid"/>
            <a:tailEnd type="triangle"/>
          </a:ln>
        </p:spPr>
      </p:sp>
      <p:sp>
        <p:nvSpPr>
          <p:cNvPr id="9" name="ml step Tokenise"/>
          <p:cNvSpPr/>
          <p:nvPr/>
        </p:nvSpPr>
        <p:spPr>
          <a:xfrm>
            <a:off x="6227064" y="1371600"/>
            <a:ext cx="1709928" cy="1325880"/>
          </a:xfrm>
          <a:prstGeom prst="roundRect">
            <a:avLst>
              <a:gd name="adj" fmla="val 6897"/>
            </a:avLst>
          </a:prstGeom>
          <a:solidFill>
            <a:srgbClr val="10243F"/>
          </a:solidFill>
          <a:ln/>
        </p:spPr>
        <p:txBody>
          <a:bodyPr wrap="square" lIns="76200" tIns="76200" rIns="76200" bIns="76200" rtlCol="0" anchor="ctr"/>
          <a:lstStyle/>
          <a:p>
            <a:pPr algn="ctr" indent="0" marL="0">
              <a:buNone/>
            </a:pPr>
            <a:r>
              <a:rPr lang="en-US" sz="1500" b="1" dirty="0">
                <a:solidFill>
                  <a:schemeClr val="bg1"/>
                </a:solidFill>
              </a:rPr>
              <a:t>Tokenise</a:t>
            </a:r>
            <a:endParaRPr lang="en-US" sz="1500" dirty="0"/>
          </a:p>
          <a:p>
            <a:pPr algn="ctr" indent="0" marL="0">
              <a:buNone/>
            </a:pPr>
            <a:r>
              <a:rPr lang="en-US" sz="1200" dirty="0">
                <a:solidFill>
                  <a:schemeClr val="bg1"/>
                </a:solidFill>
              </a:rPr>
              <a:t>Split words, remove stop-words</a:t>
            </a:r>
            <a:endParaRPr lang="en-US" sz="1500" dirty="0"/>
          </a:p>
        </p:txBody>
      </p:sp>
      <p:sp>
        <p:nvSpPr>
          <p:cNvPr id="10" name="arrow"/>
          <p:cNvSpPr/>
          <p:nvPr/>
        </p:nvSpPr>
        <p:spPr>
          <a:xfrm>
            <a:off x="7946136" y="2029968"/>
            <a:ext cx="164592" cy="0"/>
          </a:xfrm>
          <a:prstGeom prst="line">
            <a:avLst/>
          </a:prstGeom>
          <a:noFill/>
          <a:ln w="25400">
            <a:solidFill>
              <a:srgbClr val="10243F"/>
            </a:solidFill>
            <a:prstDash val="solid"/>
            <a:tailEnd type="triangle"/>
          </a:ln>
        </p:spPr>
      </p:sp>
      <p:sp>
        <p:nvSpPr>
          <p:cNvPr id="11" name="ml step Bigrams"/>
          <p:cNvSpPr/>
          <p:nvPr/>
        </p:nvSpPr>
        <p:spPr>
          <a:xfrm>
            <a:off x="8119872" y="1371600"/>
            <a:ext cx="1709928" cy="1325880"/>
          </a:xfrm>
          <a:prstGeom prst="roundRect">
            <a:avLst>
              <a:gd name="adj" fmla="val 6897"/>
            </a:avLst>
          </a:prstGeom>
          <a:solidFill>
            <a:srgbClr val="10243F"/>
          </a:solidFill>
          <a:ln/>
        </p:spPr>
        <p:txBody>
          <a:bodyPr wrap="square" lIns="76200" tIns="76200" rIns="76200" bIns="76200" rtlCol="0" anchor="ctr"/>
          <a:lstStyle/>
          <a:p>
            <a:pPr algn="ctr" indent="0" marL="0">
              <a:buNone/>
            </a:pPr>
            <a:r>
              <a:rPr lang="en-US" sz="1500" b="1" dirty="0">
                <a:solidFill>
                  <a:schemeClr val="bg1"/>
                </a:solidFill>
              </a:rPr>
              <a:t>Bigrams</a:t>
            </a:r>
            <a:endParaRPr lang="en-US" sz="1500" dirty="0"/>
          </a:p>
          <a:p>
            <a:pPr algn="ctr" indent="0" marL="0">
              <a:buNone/>
            </a:pPr>
            <a:r>
              <a:rPr lang="en-US" sz="1200" dirty="0">
                <a:solidFill>
                  <a:schemeClr val="bg1"/>
                </a:solidFill>
              </a:rPr>
              <a:t>payment_gateway, server_error</a:t>
            </a:r>
            <a:endParaRPr lang="en-US" sz="1500" dirty="0"/>
          </a:p>
        </p:txBody>
      </p:sp>
      <p:sp>
        <p:nvSpPr>
          <p:cNvPr id="12" name="arrow"/>
          <p:cNvSpPr/>
          <p:nvPr/>
        </p:nvSpPr>
        <p:spPr>
          <a:xfrm>
            <a:off x="9838944" y="2029968"/>
            <a:ext cx="164592" cy="0"/>
          </a:xfrm>
          <a:prstGeom prst="line">
            <a:avLst/>
          </a:prstGeom>
          <a:noFill/>
          <a:ln w="25400">
            <a:solidFill>
              <a:srgbClr val="10243F"/>
            </a:solidFill>
            <a:prstDash val="solid"/>
            <a:tailEnd type="triangle"/>
          </a:ln>
        </p:spPr>
      </p:sp>
      <p:sp>
        <p:nvSpPr>
          <p:cNvPr id="13" name="ml step Predict"/>
          <p:cNvSpPr/>
          <p:nvPr/>
        </p:nvSpPr>
        <p:spPr>
          <a:xfrm>
            <a:off x="10012680" y="1371600"/>
            <a:ext cx="1709928" cy="1325880"/>
          </a:xfrm>
          <a:prstGeom prst="roundRect">
            <a:avLst>
              <a:gd name="adj" fmla="val 6897"/>
            </a:avLst>
          </a:prstGeom>
          <a:solidFill>
            <a:srgbClr val="D03B3B"/>
          </a:solidFill>
          <a:ln/>
        </p:spPr>
        <p:txBody>
          <a:bodyPr wrap="square" lIns="76200" tIns="76200" rIns="76200" bIns="76200" rtlCol="0" anchor="ctr"/>
          <a:lstStyle/>
          <a:p>
            <a:pPr algn="ctr" indent="0" marL="0">
              <a:buNone/>
            </a:pPr>
            <a:r>
              <a:rPr lang="en-US" sz="1500" b="1" dirty="0">
                <a:solidFill>
                  <a:schemeClr val="bg1"/>
                </a:solidFill>
              </a:rPr>
              <a:t>Predict</a:t>
            </a:r>
            <a:endParaRPr lang="en-US" sz="1500" dirty="0"/>
          </a:p>
          <a:p>
            <a:pPr algn="ctr" indent="0" marL="0">
              <a:buNone/>
            </a:pPr>
            <a:r>
              <a:rPr lang="en-US" sz="1200" dirty="0">
                <a:solidFill>
                  <a:schemeClr val="bg1"/>
                </a:solidFill>
              </a:rPr>
              <a:t>Severity + confidence %</a:t>
            </a:r>
            <a:endParaRPr lang="en-US" sz="1500" dirty="0"/>
          </a:p>
        </p:txBody>
      </p:sp>
      <p:sp>
        <p:nvSpPr>
          <p:cNvPr id="14" name="formula card"/>
          <p:cNvSpPr/>
          <p:nvPr/>
        </p:nvSpPr>
        <p:spPr>
          <a:xfrm>
            <a:off x="548640" y="3017520"/>
            <a:ext cx="5943600" cy="3108960"/>
          </a:xfrm>
          <a:prstGeom prst="roundRect">
            <a:avLst>
              <a:gd name="adj" fmla="val 3529"/>
            </a:avLst>
          </a:prstGeom>
          <a:solidFill>
            <a:schemeClr val="bg2"/>
          </a:solidFill>
          <a:ln/>
        </p:spPr>
      </p:sp>
      <p:sp>
        <p:nvSpPr>
          <p:cNvPr id="15" name="Text 13"/>
          <p:cNvSpPr txBox="1"/>
          <p:nvPr/>
        </p:nvSpPr>
        <p:spPr>
          <a:xfrm>
            <a:off x="822960" y="3200400"/>
            <a:ext cx="5486400" cy="365760"/>
          </a:xfrm>
          <a:prstGeom prst="rect">
            <a:avLst/>
          </a:prstGeom>
          <a:noFill/>
          <a:ln/>
        </p:spPr>
        <p:txBody>
          <a:bodyPr wrap="square" lIns="0" tIns="0" rIns="0" bIns="0" rtlCol="0" anchor="t"/>
          <a:lstStyle/>
          <a:p>
            <a:pPr indent="0" marL="0">
              <a:buNone/>
            </a:pPr>
            <a:r>
              <a:rPr lang="en-US" sz="1800" b="1" dirty="0">
                <a:solidFill>
                  <a:schemeClr val="tx2"/>
                </a:solidFill>
              </a:rPr>
              <a:t>Multinomial Naive Bayes</a:t>
            </a:r>
            <a:endParaRPr lang="en-US" sz="1800" dirty="0"/>
          </a:p>
        </p:txBody>
      </p:sp>
      <p:sp>
        <p:nvSpPr>
          <p:cNvPr id="16" name="Text 14"/>
          <p:cNvSpPr txBox="1"/>
          <p:nvPr/>
        </p:nvSpPr>
        <p:spPr>
          <a:xfrm>
            <a:off x="822960" y="3657600"/>
            <a:ext cx="5486400" cy="457200"/>
          </a:xfrm>
          <a:prstGeom prst="rect">
            <a:avLst/>
          </a:prstGeom>
          <a:noFill/>
          <a:ln/>
        </p:spPr>
        <p:txBody>
          <a:bodyPr wrap="square" lIns="0" tIns="0" rIns="0" bIns="0" rtlCol="0" anchor="t"/>
          <a:lstStyle/>
          <a:p>
            <a:pPr indent="0" marL="0">
              <a:buNone/>
            </a:pPr>
            <a:r>
              <a:rPr lang="en-US" sz="1900" i="1" dirty="0">
                <a:solidFill>
                  <a:schemeClr val="tx2"/>
                </a:solidFill>
                <a:latin typeface="Cambria" pitchFamily="34" charset="0"/>
                <a:ea typeface="Cambria" pitchFamily="34" charset="-122"/>
                <a:cs typeface="Cambria" pitchFamily="34" charset="-120"/>
              </a:rPr>
              <a:t>P(class | message) ∝ P(class) × Π P(token | class)</a:t>
            </a:r>
            <a:endParaRPr lang="en-US" sz="1900" dirty="0"/>
          </a:p>
        </p:txBody>
      </p:sp>
      <p:sp>
        <p:nvSpPr>
          <p:cNvPr id="17" name="Text 15"/>
          <p:cNvSpPr txBox="1"/>
          <p:nvPr/>
        </p:nvSpPr>
        <p:spPr>
          <a:xfrm>
            <a:off x="822960" y="4251960"/>
            <a:ext cx="5486400" cy="17830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Laplace smoothing (α = 1): unseen words never give zero probability</a:t>
            </a:r>
            <a:endParaRPr lang="en-US" sz="1500" dirty="0"/>
          </a:p>
          <a:p>
            <a:pPr marL="342900" indent="-342900">
              <a:spcAft>
                <a:spcPts val="500"/>
              </a:spcAft>
              <a:buSzPct val="100000"/>
              <a:buChar char="•"/>
            </a:pPr>
            <a:r>
              <a:rPr lang="en-US" sz="1500" dirty="0">
                <a:solidFill>
                  <a:schemeClr val="tx1"/>
                </a:solidFill>
              </a:rPr>
              <a:t>Log-probabilities avoid numeric underflow</a:t>
            </a:r>
            <a:endParaRPr lang="en-US" sz="1500" dirty="0"/>
          </a:p>
          <a:p>
            <a:pPr marL="342900" indent="-342900">
              <a:spcAft>
                <a:spcPts val="500"/>
              </a:spcAft>
              <a:buSzPct val="100000"/>
              <a:buChar char="•"/>
            </a:pPr>
            <a:r>
              <a:rPr lang="en-US" sz="1500" dirty="0">
                <a:solidFill>
                  <a:schemeClr val="tx1"/>
                </a:solidFill>
              </a:rPr>
              <a:t>Softmax turns scores into a confidence %</a:t>
            </a:r>
            <a:endParaRPr lang="en-US" sz="1500" dirty="0"/>
          </a:p>
          <a:p>
            <a:pPr marL="342900" indent="-342900">
              <a:spcAft>
                <a:spcPts val="500"/>
              </a:spcAft>
              <a:buSzPct val="100000"/>
              <a:buChar char="•"/>
            </a:pPr>
            <a:r>
              <a:rPr lang="en-US" sz="1500" dirty="0">
                <a:solidFill>
                  <a:schemeClr val="tx1"/>
                </a:solidFill>
              </a:rPr>
              <a:t>Written from scratch in TypeScript</a:t>
            </a:r>
            <a:endParaRPr lang="en-US" sz="1500" dirty="0"/>
          </a:p>
        </p:txBody>
      </p:sp>
      <p:graphicFrame>
        <p:nvGraphicFramePr>
          <p:cNvPr id="18" name="training data chart" descr=""/>
          <p:cNvGraphicFramePr/>
          <p:nvPr/>
        </p:nvGraphicFramePr>
        <p:xfrm>
          <a:off x="6766560" y="3017520"/>
          <a:ext cx="4873752" cy="31089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Model evaluation</a:t>
            </a:r>
            <a:endParaRPr lang="en-US" sz="3000" dirty="0"/>
          </a:p>
        </p:txBody>
      </p:sp>
      <p:sp>
        <p:nvSpPr>
          <p:cNvPr id="3" name="stat Hold-out accuracy (80/20 split)"/>
          <p:cNvSpPr/>
          <p:nvPr/>
        </p:nvSpPr>
        <p:spPr>
          <a:xfrm>
            <a:off x="548640" y="1371600"/>
            <a:ext cx="3108960" cy="1417320"/>
          </a:xfrm>
          <a:prstGeom prst="roundRect">
            <a:avLst>
              <a:gd name="adj" fmla="val 7742"/>
            </a:avLst>
          </a:prstGeom>
          <a:solidFill>
            <a:schemeClr val="bg2"/>
          </a:solidFill>
          <a:ln/>
        </p:spPr>
      </p:sp>
      <p:sp>
        <p:nvSpPr>
          <p:cNvPr id="4" name="Text 2"/>
          <p:cNvSpPr txBox="1"/>
          <p:nvPr/>
        </p:nvSpPr>
        <p:spPr>
          <a:xfrm>
            <a:off x="777240" y="1508760"/>
            <a:ext cx="2651760" cy="731520"/>
          </a:xfrm>
          <a:prstGeom prst="rect">
            <a:avLst/>
          </a:prstGeom>
          <a:noFill/>
          <a:ln/>
        </p:spPr>
        <p:txBody>
          <a:bodyPr wrap="square" lIns="0" tIns="0" rIns="0" bIns="0" rtlCol="0" anchor="t"/>
          <a:lstStyle/>
          <a:p>
            <a:pPr indent="0" marL="0">
              <a:buNone/>
            </a:pPr>
            <a:r>
              <a:rPr lang="en-US" sz="4000" b="1" dirty="0">
                <a:solidFill>
                  <a:schemeClr val="tx2"/>
                </a:solidFill>
                <a:latin typeface="Arial" pitchFamily="34" charset="0"/>
                <a:ea typeface="Arial" pitchFamily="34" charset="-122"/>
                <a:cs typeface="Arial" pitchFamily="34" charset="-120"/>
              </a:rPr>
              <a:t>86.1%</a:t>
            </a:r>
            <a:endParaRPr lang="en-US" sz="4000" dirty="0"/>
          </a:p>
        </p:txBody>
      </p:sp>
      <p:sp>
        <p:nvSpPr>
          <p:cNvPr id="5" name="Text 3"/>
          <p:cNvSpPr txBox="1"/>
          <p:nvPr/>
        </p:nvSpPr>
        <p:spPr>
          <a:xfrm>
            <a:off x="777240" y="2240280"/>
            <a:ext cx="2651760" cy="457200"/>
          </a:xfrm>
          <a:prstGeom prst="rect">
            <a:avLst/>
          </a:prstGeom>
          <a:noFill/>
          <a:ln/>
        </p:spPr>
        <p:txBody>
          <a:bodyPr wrap="square" lIns="0" tIns="0" rIns="0" bIns="0" rtlCol="0" anchor="t"/>
          <a:lstStyle/>
          <a:p>
            <a:pPr indent="0" marL="0">
              <a:buNone/>
            </a:pPr>
            <a:r>
              <a:rPr lang="en-US" sz="1400" dirty="0">
                <a:solidFill>
                  <a:schemeClr val="tx1"/>
                </a:solidFill>
              </a:rPr>
              <a:t>Hold-out accuracy (80/20 split)</a:t>
            </a:r>
            <a:endParaRPr lang="en-US" sz="1400" dirty="0"/>
          </a:p>
        </p:txBody>
      </p:sp>
      <p:sp>
        <p:nvSpPr>
          <p:cNvPr id="6" name="stat 5-fold cross-validation (mean)"/>
          <p:cNvSpPr/>
          <p:nvPr/>
        </p:nvSpPr>
        <p:spPr>
          <a:xfrm>
            <a:off x="548640" y="2971800"/>
            <a:ext cx="3108960" cy="1417320"/>
          </a:xfrm>
          <a:prstGeom prst="roundRect">
            <a:avLst>
              <a:gd name="adj" fmla="val 7742"/>
            </a:avLst>
          </a:prstGeom>
          <a:solidFill>
            <a:schemeClr val="bg2"/>
          </a:solidFill>
          <a:ln/>
        </p:spPr>
      </p:sp>
      <p:sp>
        <p:nvSpPr>
          <p:cNvPr id="7" name="Text 5"/>
          <p:cNvSpPr txBox="1"/>
          <p:nvPr/>
        </p:nvSpPr>
        <p:spPr>
          <a:xfrm>
            <a:off x="777240" y="3108960"/>
            <a:ext cx="2651760" cy="731520"/>
          </a:xfrm>
          <a:prstGeom prst="rect">
            <a:avLst/>
          </a:prstGeom>
          <a:noFill/>
          <a:ln/>
        </p:spPr>
        <p:txBody>
          <a:bodyPr wrap="square" lIns="0" tIns="0" rIns="0" bIns="0" rtlCol="0" anchor="t"/>
          <a:lstStyle/>
          <a:p>
            <a:pPr indent="0" marL="0">
              <a:buNone/>
            </a:pPr>
            <a:r>
              <a:rPr lang="en-US" sz="4000" b="1" dirty="0">
                <a:solidFill>
                  <a:schemeClr val="tx2"/>
                </a:solidFill>
                <a:latin typeface="Arial" pitchFamily="34" charset="0"/>
                <a:ea typeface="Arial" pitchFamily="34" charset="-122"/>
                <a:cs typeface="Arial" pitchFamily="34" charset="-120"/>
              </a:rPr>
              <a:t>87.2%</a:t>
            </a:r>
            <a:endParaRPr lang="en-US" sz="4000" dirty="0"/>
          </a:p>
        </p:txBody>
      </p:sp>
      <p:sp>
        <p:nvSpPr>
          <p:cNvPr id="8" name="Text 6"/>
          <p:cNvSpPr txBox="1"/>
          <p:nvPr/>
        </p:nvSpPr>
        <p:spPr>
          <a:xfrm>
            <a:off x="777240" y="3840480"/>
            <a:ext cx="2651760" cy="457200"/>
          </a:xfrm>
          <a:prstGeom prst="rect">
            <a:avLst/>
          </a:prstGeom>
          <a:noFill/>
          <a:ln/>
        </p:spPr>
        <p:txBody>
          <a:bodyPr wrap="square" lIns="0" tIns="0" rIns="0" bIns="0" rtlCol="0" anchor="t"/>
          <a:lstStyle/>
          <a:p>
            <a:pPr indent="0" marL="0">
              <a:buNone/>
            </a:pPr>
            <a:r>
              <a:rPr lang="en-US" sz="1400" dirty="0">
                <a:solidFill>
                  <a:schemeClr val="tx1"/>
                </a:solidFill>
              </a:rPr>
              <a:t>5-fold cross-validation (mean)</a:t>
            </a:r>
            <a:endParaRPr lang="en-US" sz="1400" dirty="0"/>
          </a:p>
        </p:txBody>
      </p:sp>
      <p:sp>
        <p:nvSpPr>
          <p:cNvPr id="9" name="stat Real Playwright failures classified correctly"/>
          <p:cNvSpPr/>
          <p:nvPr/>
        </p:nvSpPr>
        <p:spPr>
          <a:xfrm>
            <a:off x="548640" y="4572000"/>
            <a:ext cx="3108960" cy="1417320"/>
          </a:xfrm>
          <a:prstGeom prst="roundRect">
            <a:avLst>
              <a:gd name="adj" fmla="val 7742"/>
            </a:avLst>
          </a:prstGeom>
          <a:solidFill>
            <a:schemeClr val="bg2"/>
          </a:solidFill>
          <a:ln/>
        </p:spPr>
      </p:sp>
      <p:sp>
        <p:nvSpPr>
          <p:cNvPr id="10" name="Text 8"/>
          <p:cNvSpPr txBox="1"/>
          <p:nvPr/>
        </p:nvSpPr>
        <p:spPr>
          <a:xfrm>
            <a:off x="777240" y="4709160"/>
            <a:ext cx="2651760" cy="731520"/>
          </a:xfrm>
          <a:prstGeom prst="rect">
            <a:avLst/>
          </a:prstGeom>
          <a:noFill/>
          <a:ln/>
        </p:spPr>
        <p:txBody>
          <a:bodyPr wrap="square" lIns="0" tIns="0" rIns="0" bIns="0" rtlCol="0" anchor="t"/>
          <a:lstStyle/>
          <a:p>
            <a:pPr indent="0" marL="0">
              <a:buNone/>
            </a:pPr>
            <a:r>
              <a:rPr lang="en-US" sz="4000" b="1" dirty="0">
                <a:solidFill>
                  <a:schemeClr val="accent5"/>
                </a:solidFill>
                <a:latin typeface="Arial" pitchFamily="34" charset="0"/>
                <a:ea typeface="Arial" pitchFamily="34" charset="-122"/>
                <a:cs typeface="Arial" pitchFamily="34" charset="-120"/>
              </a:rPr>
              <a:t>10 / 10</a:t>
            </a:r>
            <a:endParaRPr lang="en-US" sz="4000" dirty="0"/>
          </a:p>
        </p:txBody>
      </p:sp>
      <p:sp>
        <p:nvSpPr>
          <p:cNvPr id="11" name="Text 9"/>
          <p:cNvSpPr txBox="1"/>
          <p:nvPr/>
        </p:nvSpPr>
        <p:spPr>
          <a:xfrm>
            <a:off x="777240" y="5440680"/>
            <a:ext cx="2651760" cy="457200"/>
          </a:xfrm>
          <a:prstGeom prst="rect">
            <a:avLst/>
          </a:prstGeom>
          <a:noFill/>
          <a:ln/>
        </p:spPr>
        <p:txBody>
          <a:bodyPr wrap="square" lIns="0" tIns="0" rIns="0" bIns="0" rtlCol="0" anchor="t"/>
          <a:lstStyle/>
          <a:p>
            <a:pPr indent="0" marL="0">
              <a:buNone/>
            </a:pPr>
            <a:r>
              <a:rPr lang="en-US" sz="1400" dirty="0">
                <a:solidFill>
                  <a:schemeClr val="tx1"/>
                </a:solidFill>
              </a:rPr>
              <a:t>Real Playwright failures classified correctly</a:t>
            </a:r>
            <a:endParaRPr lang="en-US" sz="1400" dirty="0"/>
          </a:p>
        </p:txBody>
      </p:sp>
      <p:graphicFrame>
        <p:nvGraphicFramePr>
          <p:cNvPr id="12" name="per-class metrics chart" descr=""/>
          <p:cNvGraphicFramePr/>
          <p:nvPr/>
        </p:nvGraphicFramePr>
        <p:xfrm>
          <a:off x="3931920" y="1371600"/>
          <a:ext cx="4572000" cy="461772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8778240" y="1371600"/>
            <a:ext cx="2862072" cy="320040"/>
          </a:xfrm>
          <a:prstGeom prst="rect">
            <a:avLst/>
          </a:prstGeom>
          <a:noFill/>
          <a:ln/>
        </p:spPr>
        <p:txBody>
          <a:bodyPr wrap="square" lIns="0" tIns="0" rIns="0" bIns="0" rtlCol="0" anchor="t"/>
          <a:lstStyle/>
          <a:p>
            <a:pPr indent="0" marL="0">
              <a:buNone/>
            </a:pPr>
            <a:r>
              <a:rPr lang="en-US" sz="1400" b="1" dirty="0">
                <a:solidFill>
                  <a:schemeClr val="tx2"/>
                </a:solidFill>
              </a:rPr>
              <a:t>Confusion matrix (36 test samples)</a:t>
            </a:r>
            <a:endParaRPr lang="en-US" sz="1400" dirty="0"/>
          </a:p>
        </p:txBody>
      </p:sp>
      <p:graphicFrame>
        <p:nvGraphicFramePr>
          <p:cNvPr id="11" name="confusion matrix"/>
          <p:cNvGraphicFramePr>
            <a:graphicFrameLocks noGrp="1"/>
          </p:cNvGraphicFramePr>
          <p:nvPr>
            <p:extLst>
              <p:ext uri="{D42A27DB-BD31-4B8C-83A1-F6EECF244321}">
                <p14:modId xmlns:p14="http://schemas.microsoft.com/office/powerpoint/2010/main" val="1579011935"/>
              </p:ext>
            </p:extLst>
          </p:nvPr>
        </p:nvGraphicFramePr>
        <p:xfrm>
          <a:off x="8778240" y="1783080"/>
          <a:ext cx="2862072" cy="914400"/>
        </p:xfrm>
        <a:graphic>
          <a:graphicData uri="http://schemas.openxmlformats.org/drawingml/2006/table">
            <a:tbl>
              <a:tblPr/>
              <a:tblGrid>
                <a:gridCol w="1005840"/>
                <a:gridCol w="621792"/>
                <a:gridCol w="621792"/>
                <a:gridCol w="612648"/>
              </a:tblGrid>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Actual ↓</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0243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Crit</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0243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Maj</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0243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Min</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0243F"/>
                    </a:solidFill>
                  </a:tcPr>
                </a:tc>
              </a:tr>
              <a:tr h="457200">
                <a:tc>
                  <a:txBody>
                    <a:bodyPr/>
                    <a:lstStyle/>
                    <a:p>
                      <a:pPr indent="0" marL="0">
                        <a:buNone/>
                      </a:pPr>
                      <a:r>
                        <a:rPr lang="en-US" sz="1300" b="1" dirty="0">
                          <a:solidFill>
                            <a:srgbClr val="1F2328"/>
                          </a:solidFill>
                          <a:latin typeface="Calibri" pitchFamily="34" charset="0"/>
                          <a:ea typeface="Calibri" pitchFamily="34" charset="-122"/>
                          <a:cs typeface="Calibri" pitchFamily="34" charset="-120"/>
                        </a:rPr>
                        <a:t>Critical</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300" b="1" dirty="0">
                          <a:solidFill>
                            <a:srgbClr val="1F2328"/>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CEBDF"/>
                    </a:solidFill>
                  </a:tcPr>
                </a:tc>
                <a:tc>
                  <a:txBody>
                    <a:bodyPr/>
                    <a:lstStyle/>
                    <a:p>
                      <a:pPr algn="ctr" indent="0" marL="0">
                        <a:buNone/>
                      </a:pPr>
                      <a:r>
                        <a:rPr lang="en-US" sz="1300" dirty="0">
                          <a:solidFill>
                            <a:srgbClr val="1F2328"/>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algn="ctr" indent="0" marL="0">
                        <a:buNone/>
                      </a:pPr>
                      <a:r>
                        <a:rPr lang="en-US" sz="1300" dirty="0">
                          <a:solidFill>
                            <a:srgbClr val="1F2328"/>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r>
              <a:tr h="457200">
                <a:tc>
                  <a:txBody>
                    <a:bodyPr/>
                    <a:lstStyle/>
                    <a:p>
                      <a:pPr indent="0" marL="0">
                        <a:buNone/>
                      </a:pPr>
                      <a:r>
                        <a:rPr lang="en-US" sz="1300" b="1" dirty="0">
                          <a:solidFill>
                            <a:srgbClr val="1F2328"/>
                          </a:solidFill>
                          <a:latin typeface="Calibri" pitchFamily="34" charset="0"/>
                          <a:ea typeface="Calibri" pitchFamily="34" charset="-122"/>
                          <a:cs typeface="Calibri" pitchFamily="34" charset="-120"/>
                        </a:rPr>
                        <a:t>Major</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1F2328"/>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algn="ctr" indent="0" marL="0">
                        <a:buNone/>
                      </a:pPr>
                      <a:r>
                        <a:rPr lang="en-US" sz="1300" b="1" dirty="0">
                          <a:solidFill>
                            <a:srgbClr val="1F2328"/>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CEBDF"/>
                    </a:solidFill>
                  </a:tcPr>
                </a:tc>
                <a:tc>
                  <a:txBody>
                    <a:bodyPr/>
                    <a:lstStyle/>
                    <a:p>
                      <a:pPr algn="ctr" indent="0" marL="0">
                        <a:buNone/>
                      </a:pPr>
                      <a:r>
                        <a:rPr lang="en-US" sz="1300" dirty="0">
                          <a:solidFill>
                            <a:srgbClr val="1F2328"/>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r>
              <a:tr h="457200">
                <a:tc>
                  <a:txBody>
                    <a:bodyPr/>
                    <a:lstStyle/>
                    <a:p>
                      <a:pPr indent="0" marL="0">
                        <a:buNone/>
                      </a:pPr>
                      <a:r>
                        <a:rPr lang="en-US" sz="1300" b="1" dirty="0">
                          <a:solidFill>
                            <a:srgbClr val="1F2328"/>
                          </a:solidFill>
                          <a:latin typeface="Calibri" pitchFamily="34" charset="0"/>
                          <a:ea typeface="Calibri" pitchFamily="34" charset="-122"/>
                          <a:cs typeface="Calibri" pitchFamily="34" charset="-120"/>
                        </a:rPr>
                        <a:t>Minor</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1F2328"/>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algn="ctr" indent="0" marL="0">
                        <a:buNone/>
                      </a:pPr>
                      <a:r>
                        <a:rPr lang="en-US" sz="1300" dirty="0">
                          <a:solidFill>
                            <a:srgbClr val="1F2328"/>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algn="ctr" indent="0" marL="0">
                        <a:buNone/>
                      </a:pPr>
                      <a:r>
                        <a:rPr lang="en-US" sz="1300" b="1" dirty="0">
                          <a:solidFill>
                            <a:srgbClr val="1F2328"/>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3152" marR="73152"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CEBDF"/>
                    </a:solidFill>
                  </a:tcPr>
                </a:tc>
              </a:tr>
            </a:tbl>
          </a:graphicData>
        </a:graphic>
      </p:graphicFrame>
      <p:sp>
        <p:nvSpPr>
          <p:cNvPr id="15" name="Text 11"/>
          <p:cNvSpPr txBox="1"/>
          <p:nvPr/>
        </p:nvSpPr>
        <p:spPr>
          <a:xfrm>
            <a:off x="8778240" y="3794760"/>
            <a:ext cx="2862072" cy="1097280"/>
          </a:xfrm>
          <a:prstGeom prst="rect">
            <a:avLst/>
          </a:prstGeom>
          <a:noFill/>
          <a:ln/>
        </p:spPr>
        <p:txBody>
          <a:bodyPr wrap="square" lIns="0" tIns="0" rIns="0" bIns="0" rtlCol="0" anchor="t"/>
          <a:lstStyle/>
          <a:p>
            <a:pPr indent="0" marL="0">
              <a:buNone/>
            </a:pPr>
            <a:r>
              <a:rPr lang="en-US" sz="1300" dirty="0">
                <a:solidFill>
                  <a:srgbClr val="5B6472"/>
                </a:solidFill>
              </a:rPr>
              <a:t>Columns = predicted. Most errors are Minor or Critical messages predicted as Major, the "middle" class.</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Objective 3: centralized SQLite database</a:t>
            </a:r>
            <a:endParaRPr lang="en-US" sz="3000" dirty="0"/>
          </a:p>
        </p:txBody>
      </p:sp>
      <p:sp>
        <p:nvSpPr>
          <p:cNvPr id="3" name="table test_runs"/>
          <p:cNvSpPr/>
          <p:nvPr/>
        </p:nvSpPr>
        <p:spPr>
          <a:xfrm>
            <a:off x="548640" y="1371600"/>
            <a:ext cx="2606040" cy="4206240"/>
          </a:xfrm>
          <a:prstGeom prst="roundRect">
            <a:avLst>
              <a:gd name="adj" fmla="val 4211"/>
            </a:avLst>
          </a:prstGeom>
          <a:solidFill>
            <a:schemeClr val="bg2"/>
          </a:solidFill>
          <a:ln/>
        </p:spPr>
      </p:sp>
      <p:sp>
        <p:nvSpPr>
          <p:cNvPr id="4" name="icon circle"/>
          <p:cNvSpPr/>
          <p:nvPr/>
        </p:nvSpPr>
        <p:spPr>
          <a:xfrm>
            <a:off x="777240" y="1572768"/>
            <a:ext cx="457200" cy="457200"/>
          </a:xfrm>
          <a:prstGeom prst="ellipse">
            <a:avLst/>
          </a:prstGeom>
          <a:solidFill>
            <a:srgbClr val="10243F"/>
          </a:solidFill>
          <a:ln/>
        </p:spPr>
      </p:sp>
      <p:pic>
        <p:nvPicPr>
          <p:cNvPr id="5" name="FaTable icon" descr="preencoded.png">    </p:cNvPr>
          <p:cNvPicPr>
            <a:picLocks noChangeAspect="1"/>
          </p:cNvPicPr>
          <p:nvPr/>
        </p:nvPicPr>
        <p:blipFill>
          <a:blip r:embed="rId1"/>
          <a:stretch>
            <a:fillRect/>
          </a:stretch>
        </p:blipFill>
        <p:spPr>
          <a:xfrm>
            <a:off x="891540" y="1687068"/>
            <a:ext cx="228600" cy="228600"/>
          </a:xfrm>
          <a:prstGeom prst="rect">
            <a:avLst/>
          </a:prstGeom>
        </p:spPr>
      </p:pic>
      <p:sp>
        <p:nvSpPr>
          <p:cNvPr id="6" name="Text 3"/>
          <p:cNvSpPr txBox="1"/>
          <p:nvPr/>
        </p:nvSpPr>
        <p:spPr>
          <a:xfrm>
            <a:off x="1325880" y="1627632"/>
            <a:ext cx="1737360" cy="36576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test_runs</a:t>
            </a:r>
            <a:endParaRPr lang="en-US" sz="1700" dirty="0"/>
          </a:p>
        </p:txBody>
      </p:sp>
      <p:sp>
        <p:nvSpPr>
          <p:cNvPr id="7" name="Text 4"/>
          <p:cNvSpPr txBox="1"/>
          <p:nvPr/>
        </p:nvSpPr>
        <p:spPr>
          <a:xfrm>
            <a:off x="777240" y="2194560"/>
            <a:ext cx="2194560" cy="320040"/>
          </a:xfrm>
          <a:prstGeom prst="rect">
            <a:avLst/>
          </a:prstGeom>
          <a:noFill/>
          <a:ln/>
        </p:spPr>
        <p:txBody>
          <a:bodyPr wrap="square" lIns="0" tIns="0" rIns="0" bIns="0" rtlCol="0" anchor="t"/>
          <a:lstStyle/>
          <a:p>
            <a:pPr indent="0" marL="0">
              <a:buNone/>
            </a:pPr>
            <a:r>
              <a:rPr lang="en-US" sz="1300" i="1" dirty="0">
                <a:solidFill>
                  <a:srgbClr val="5B6472"/>
                </a:solidFill>
              </a:rPr>
              <a:t>One row per execution</a:t>
            </a:r>
            <a:endParaRPr lang="en-US" sz="1300" dirty="0"/>
          </a:p>
        </p:txBody>
      </p:sp>
      <p:sp>
        <p:nvSpPr>
          <p:cNvPr id="8" name="Text 5"/>
          <p:cNvSpPr txBox="1"/>
          <p:nvPr/>
        </p:nvSpPr>
        <p:spPr>
          <a:xfrm>
            <a:off x="777240" y="2651760"/>
            <a:ext cx="2240280" cy="283464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id</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started_at</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status</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total, passed</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failed, skipped</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duration_ms</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new_bugs</a:t>
            </a:r>
            <a:endParaRPr lang="en-US" sz="1400" dirty="0"/>
          </a:p>
        </p:txBody>
      </p:sp>
      <p:sp>
        <p:nvSpPr>
          <p:cNvPr id="9" name="table test_results"/>
          <p:cNvSpPr/>
          <p:nvPr/>
        </p:nvSpPr>
        <p:spPr>
          <a:xfrm>
            <a:off x="3383280" y="1371600"/>
            <a:ext cx="2606040" cy="4206240"/>
          </a:xfrm>
          <a:prstGeom prst="roundRect">
            <a:avLst>
              <a:gd name="adj" fmla="val 4211"/>
            </a:avLst>
          </a:prstGeom>
          <a:solidFill>
            <a:schemeClr val="bg2"/>
          </a:solidFill>
          <a:ln/>
        </p:spPr>
      </p:sp>
      <p:sp>
        <p:nvSpPr>
          <p:cNvPr id="10" name="icon circle"/>
          <p:cNvSpPr/>
          <p:nvPr/>
        </p:nvSpPr>
        <p:spPr>
          <a:xfrm>
            <a:off x="3611880" y="1572768"/>
            <a:ext cx="457200" cy="457200"/>
          </a:xfrm>
          <a:prstGeom prst="ellipse">
            <a:avLst/>
          </a:prstGeom>
          <a:solidFill>
            <a:srgbClr val="10243F"/>
          </a:solidFill>
          <a:ln/>
        </p:spPr>
      </p:sp>
      <p:pic>
        <p:nvPicPr>
          <p:cNvPr id="11" name="FaTable icon" descr="preencoded.png">    </p:cNvPr>
          <p:cNvPicPr>
            <a:picLocks noChangeAspect="1"/>
          </p:cNvPicPr>
          <p:nvPr/>
        </p:nvPicPr>
        <p:blipFill>
          <a:blip r:embed="rId2"/>
          <a:stretch>
            <a:fillRect/>
          </a:stretch>
        </p:blipFill>
        <p:spPr>
          <a:xfrm>
            <a:off x="3726180" y="1687068"/>
            <a:ext cx="228600" cy="228600"/>
          </a:xfrm>
          <a:prstGeom prst="rect">
            <a:avLst/>
          </a:prstGeom>
        </p:spPr>
      </p:pic>
      <p:sp>
        <p:nvSpPr>
          <p:cNvPr id="12" name="Text 8"/>
          <p:cNvSpPr txBox="1"/>
          <p:nvPr/>
        </p:nvSpPr>
        <p:spPr>
          <a:xfrm>
            <a:off x="4160520" y="1627632"/>
            <a:ext cx="1737360" cy="36576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test_results</a:t>
            </a:r>
            <a:endParaRPr lang="en-US" sz="1700" dirty="0"/>
          </a:p>
        </p:txBody>
      </p:sp>
      <p:sp>
        <p:nvSpPr>
          <p:cNvPr id="13" name="Text 9"/>
          <p:cNvSpPr txBox="1"/>
          <p:nvPr/>
        </p:nvSpPr>
        <p:spPr>
          <a:xfrm>
            <a:off x="3611880" y="2194560"/>
            <a:ext cx="2194560" cy="320040"/>
          </a:xfrm>
          <a:prstGeom prst="rect">
            <a:avLst/>
          </a:prstGeom>
          <a:noFill/>
          <a:ln/>
        </p:spPr>
        <p:txBody>
          <a:bodyPr wrap="square" lIns="0" tIns="0" rIns="0" bIns="0" rtlCol="0" anchor="t"/>
          <a:lstStyle/>
          <a:p>
            <a:pPr indent="0" marL="0">
              <a:buNone/>
            </a:pPr>
            <a:r>
              <a:rPr lang="en-US" sz="1300" i="1" dirty="0">
                <a:solidFill>
                  <a:srgbClr val="5B6472"/>
                </a:solidFill>
              </a:rPr>
              <a:t>One row per test per run</a:t>
            </a:r>
            <a:endParaRPr lang="en-US" sz="1300" dirty="0"/>
          </a:p>
        </p:txBody>
      </p:sp>
      <p:sp>
        <p:nvSpPr>
          <p:cNvPr id="14" name="Text 10"/>
          <p:cNvSpPr txBox="1"/>
          <p:nvPr/>
        </p:nvSpPr>
        <p:spPr>
          <a:xfrm>
            <a:off x="3611880" y="2651760"/>
            <a:ext cx="2240280" cy="283464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run_id → test_runs</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test_key</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module</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status</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duration_ms</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error_message</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executed_at</a:t>
            </a:r>
            <a:endParaRPr lang="en-US" sz="1400" dirty="0"/>
          </a:p>
        </p:txBody>
      </p:sp>
      <p:sp>
        <p:nvSpPr>
          <p:cNvPr id="15" name="table bugs"/>
          <p:cNvSpPr/>
          <p:nvPr/>
        </p:nvSpPr>
        <p:spPr>
          <a:xfrm>
            <a:off x="6217920" y="1371600"/>
            <a:ext cx="2606040" cy="4206240"/>
          </a:xfrm>
          <a:prstGeom prst="roundRect">
            <a:avLst>
              <a:gd name="adj" fmla="val 4211"/>
            </a:avLst>
          </a:prstGeom>
          <a:solidFill>
            <a:schemeClr val="bg2"/>
          </a:solidFill>
          <a:ln/>
        </p:spPr>
      </p:sp>
      <p:sp>
        <p:nvSpPr>
          <p:cNvPr id="16" name="icon circle"/>
          <p:cNvSpPr/>
          <p:nvPr/>
        </p:nvSpPr>
        <p:spPr>
          <a:xfrm>
            <a:off x="6446520" y="1572768"/>
            <a:ext cx="457200" cy="457200"/>
          </a:xfrm>
          <a:prstGeom prst="ellipse">
            <a:avLst/>
          </a:prstGeom>
          <a:solidFill>
            <a:srgbClr val="D03B3B"/>
          </a:solidFill>
          <a:ln/>
        </p:spPr>
      </p:sp>
      <p:pic>
        <p:nvPicPr>
          <p:cNvPr id="17" name="FaTable icon" descr="preencoded.png">    </p:cNvPr>
          <p:cNvPicPr>
            <a:picLocks noChangeAspect="1"/>
          </p:cNvPicPr>
          <p:nvPr/>
        </p:nvPicPr>
        <p:blipFill>
          <a:blip r:embed="rId3"/>
          <a:stretch>
            <a:fillRect/>
          </a:stretch>
        </p:blipFill>
        <p:spPr>
          <a:xfrm>
            <a:off x="6560820" y="1687068"/>
            <a:ext cx="228600" cy="228600"/>
          </a:xfrm>
          <a:prstGeom prst="rect">
            <a:avLst/>
          </a:prstGeom>
        </p:spPr>
      </p:pic>
      <p:sp>
        <p:nvSpPr>
          <p:cNvPr id="18" name="Text 13"/>
          <p:cNvSpPr txBox="1"/>
          <p:nvPr/>
        </p:nvSpPr>
        <p:spPr>
          <a:xfrm>
            <a:off x="6995160" y="1627632"/>
            <a:ext cx="1737360" cy="36576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bugs</a:t>
            </a:r>
            <a:endParaRPr lang="en-US" sz="1700" dirty="0"/>
          </a:p>
        </p:txBody>
      </p:sp>
      <p:sp>
        <p:nvSpPr>
          <p:cNvPr id="19" name="Text 14"/>
          <p:cNvSpPr txBox="1"/>
          <p:nvPr/>
        </p:nvSpPr>
        <p:spPr>
          <a:xfrm>
            <a:off x="6446520" y="2194560"/>
            <a:ext cx="2194560" cy="320040"/>
          </a:xfrm>
          <a:prstGeom prst="rect">
            <a:avLst/>
          </a:prstGeom>
          <a:noFill/>
          <a:ln/>
        </p:spPr>
        <p:txBody>
          <a:bodyPr wrap="square" lIns="0" tIns="0" rIns="0" bIns="0" rtlCol="0" anchor="t"/>
          <a:lstStyle/>
          <a:p>
            <a:pPr indent="0" marL="0">
              <a:buNone/>
            </a:pPr>
            <a:r>
              <a:rPr lang="en-US" sz="1300" i="1" dirty="0">
                <a:solidFill>
                  <a:srgbClr val="5B6472"/>
                </a:solidFill>
              </a:rPr>
              <a:t>One row per unique defect</a:t>
            </a:r>
            <a:endParaRPr lang="en-US" sz="1300" dirty="0"/>
          </a:p>
        </p:txBody>
      </p:sp>
      <p:sp>
        <p:nvSpPr>
          <p:cNvPr id="20" name="Text 15"/>
          <p:cNvSpPr txBox="1"/>
          <p:nvPr/>
        </p:nvSpPr>
        <p:spPr>
          <a:xfrm>
            <a:off x="6446520" y="2651760"/>
            <a:ext cx="2240280" cy="283464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fingerprint</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module</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error_message</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screenshot_path</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severity</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confidence</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status, occurrences</a:t>
            </a:r>
            <a:endParaRPr lang="en-US" sz="1400" dirty="0"/>
          </a:p>
        </p:txBody>
      </p:sp>
      <p:sp>
        <p:nvSpPr>
          <p:cNvPr id="21" name="table bug_history"/>
          <p:cNvSpPr/>
          <p:nvPr/>
        </p:nvSpPr>
        <p:spPr>
          <a:xfrm>
            <a:off x="9052560" y="1371600"/>
            <a:ext cx="2606040" cy="4206240"/>
          </a:xfrm>
          <a:prstGeom prst="roundRect">
            <a:avLst>
              <a:gd name="adj" fmla="val 4211"/>
            </a:avLst>
          </a:prstGeom>
          <a:solidFill>
            <a:schemeClr val="bg2"/>
          </a:solidFill>
          <a:ln/>
        </p:spPr>
      </p:sp>
      <p:sp>
        <p:nvSpPr>
          <p:cNvPr id="22" name="icon circle"/>
          <p:cNvSpPr/>
          <p:nvPr/>
        </p:nvSpPr>
        <p:spPr>
          <a:xfrm>
            <a:off x="9281160" y="1572768"/>
            <a:ext cx="457200" cy="457200"/>
          </a:xfrm>
          <a:prstGeom prst="ellipse">
            <a:avLst/>
          </a:prstGeom>
          <a:solidFill>
            <a:srgbClr val="10243F"/>
          </a:solidFill>
          <a:ln/>
        </p:spPr>
      </p:sp>
      <p:pic>
        <p:nvPicPr>
          <p:cNvPr id="23" name="FaTable icon" descr="preencoded.png">    </p:cNvPr>
          <p:cNvPicPr>
            <a:picLocks noChangeAspect="1"/>
          </p:cNvPicPr>
          <p:nvPr/>
        </p:nvPicPr>
        <p:blipFill>
          <a:blip r:embed="rId4"/>
          <a:stretch>
            <a:fillRect/>
          </a:stretch>
        </p:blipFill>
        <p:spPr>
          <a:xfrm>
            <a:off x="9395460" y="1687068"/>
            <a:ext cx="228600" cy="228600"/>
          </a:xfrm>
          <a:prstGeom prst="rect">
            <a:avLst/>
          </a:prstGeom>
        </p:spPr>
      </p:pic>
      <p:sp>
        <p:nvSpPr>
          <p:cNvPr id="24" name="Text 18"/>
          <p:cNvSpPr txBox="1"/>
          <p:nvPr/>
        </p:nvSpPr>
        <p:spPr>
          <a:xfrm>
            <a:off x="9829800" y="1627632"/>
            <a:ext cx="1737360" cy="36576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bug_history</a:t>
            </a:r>
            <a:endParaRPr lang="en-US" sz="1700" dirty="0"/>
          </a:p>
        </p:txBody>
      </p:sp>
      <p:sp>
        <p:nvSpPr>
          <p:cNvPr id="25" name="Text 19"/>
          <p:cNvSpPr txBox="1"/>
          <p:nvPr/>
        </p:nvSpPr>
        <p:spPr>
          <a:xfrm>
            <a:off x="9281160" y="2194560"/>
            <a:ext cx="2194560" cy="320040"/>
          </a:xfrm>
          <a:prstGeom prst="rect">
            <a:avLst/>
          </a:prstGeom>
          <a:noFill/>
          <a:ln/>
        </p:spPr>
        <p:txBody>
          <a:bodyPr wrap="square" lIns="0" tIns="0" rIns="0" bIns="0" rtlCol="0" anchor="t"/>
          <a:lstStyle/>
          <a:p>
            <a:pPr indent="0" marL="0">
              <a:buNone/>
            </a:pPr>
            <a:r>
              <a:rPr lang="en-US" sz="1300" i="1" dirty="0">
                <a:solidFill>
                  <a:srgbClr val="5B6472"/>
                </a:solidFill>
              </a:rPr>
              <a:t>Every status change</a:t>
            </a:r>
            <a:endParaRPr lang="en-US" sz="1300" dirty="0"/>
          </a:p>
        </p:txBody>
      </p:sp>
      <p:sp>
        <p:nvSpPr>
          <p:cNvPr id="26" name="Text 20"/>
          <p:cNvSpPr txBox="1"/>
          <p:nvPr/>
        </p:nvSpPr>
        <p:spPr>
          <a:xfrm>
            <a:off x="9281160" y="2651760"/>
            <a:ext cx="2240280" cy="283464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bug_id → bugs</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old_status</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new_status</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changed_at</a:t>
            </a:r>
            <a:endParaRPr lang="en-US" sz="1400" dirty="0"/>
          </a:p>
        </p:txBody>
      </p:sp>
      <p:sp>
        <p:nvSpPr>
          <p:cNvPr id="27" name="Text 21"/>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600" i="1" dirty="0">
                <a:solidFill>
                  <a:schemeClr val="tx2"/>
                </a:solidFill>
              </a:rPr>
              <a:t>One file (data/bugs.db): every run, test result, bug and status change is stored and traceable</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Objective 4: web dashboard for bug management</a:t>
            </a:r>
            <a:endParaRPr lang="en-US" sz="3000" dirty="0"/>
          </a:p>
        </p:txBody>
      </p:sp>
      <p:sp>
        <p:nvSpPr>
          <p:cNvPr id="3" name="bug list screenshot frame"/>
          <p:cNvSpPr/>
          <p:nvPr/>
        </p:nvSpPr>
        <p:spPr>
          <a:xfrm>
            <a:off x="548640" y="1371600"/>
            <a:ext cx="7040880" cy="4400550"/>
          </a:xfrm>
          <a:prstGeom prst="rect">
            <a:avLst/>
          </a:prstGeom>
          <a:solidFill>
            <a:srgbClr val="FFFFFF"/>
          </a:solidFill>
          <a:ln w="9525">
            <a:solidFill>
              <a:srgbClr val="D5DAE1"/>
            </a:solidFill>
            <a:prstDash val="solid"/>
          </a:ln>
          <a:effectLst>
            <a:outerShdw sx="100000" sy="100000" kx="0" ky="0" algn="bl" rotWithShape="0" blurRad="101600" dist="25400" dir="5400000">
              <a:srgbClr val="000000">
                <a:alpha val="18000"/>
              </a:srgbClr>
            </a:outerShdw>
          </a:effectLst>
        </p:spPr>
      </p:sp>
      <p:pic>
        <p:nvPicPr>
          <p:cNvPr id="4" name="bug list screenshot" descr="preencoded.png">    </p:cNvPr>
          <p:cNvPicPr>
            <a:picLocks noChangeAspect="1"/>
          </p:cNvPicPr>
          <p:nvPr/>
        </p:nvPicPr>
        <p:blipFill>
          <a:blip r:embed="rId1"/>
          <a:stretch>
            <a:fillRect/>
          </a:stretch>
        </p:blipFill>
        <p:spPr>
          <a:xfrm>
            <a:off x="548640" y="1371600"/>
            <a:ext cx="7040880" cy="4400550"/>
          </a:xfrm>
          <a:prstGeom prst="rect">
            <a:avLst/>
          </a:prstGeom>
        </p:spPr>
      </p:pic>
      <p:sp>
        <p:nvSpPr>
          <p:cNvPr id="5" name="icon circle"/>
          <p:cNvSpPr/>
          <p:nvPr/>
        </p:nvSpPr>
        <p:spPr>
          <a:xfrm>
            <a:off x="7955280" y="1371600"/>
            <a:ext cx="548640" cy="548640"/>
          </a:xfrm>
          <a:prstGeom prst="ellipse">
            <a:avLst/>
          </a:prstGeom>
          <a:solidFill>
            <a:srgbClr val="2A78D6"/>
          </a:solidFill>
          <a:ln/>
        </p:spPr>
      </p:sp>
      <p:pic>
        <p:nvPicPr>
          <p:cNvPr id="6" name="FaFilter icon" descr="preencoded.png">    </p:cNvPr>
          <p:cNvPicPr>
            <a:picLocks noChangeAspect="1"/>
          </p:cNvPicPr>
          <p:nvPr/>
        </p:nvPicPr>
        <p:blipFill>
          <a:blip r:embed="rId2"/>
          <a:stretch>
            <a:fillRect/>
          </a:stretch>
        </p:blipFill>
        <p:spPr>
          <a:xfrm>
            <a:off x="8092440" y="1508760"/>
            <a:ext cx="274320" cy="274320"/>
          </a:xfrm>
          <a:prstGeom prst="rect">
            <a:avLst/>
          </a:prstGeom>
        </p:spPr>
      </p:pic>
      <p:sp>
        <p:nvSpPr>
          <p:cNvPr id="7" name="Text 3"/>
          <p:cNvSpPr txBox="1"/>
          <p:nvPr/>
        </p:nvSpPr>
        <p:spPr>
          <a:xfrm>
            <a:off x="8686800" y="1353312"/>
            <a:ext cx="2926080" cy="320040"/>
          </a:xfrm>
          <a:prstGeom prst="rect">
            <a:avLst/>
          </a:prstGeom>
          <a:noFill/>
          <a:ln/>
        </p:spPr>
        <p:txBody>
          <a:bodyPr wrap="square" lIns="0" tIns="0" rIns="0" bIns="0" rtlCol="0" anchor="t"/>
          <a:lstStyle/>
          <a:p>
            <a:pPr indent="0" marL="0">
              <a:buNone/>
            </a:pPr>
            <a:r>
              <a:rPr lang="en-US" sz="1700" b="1" dirty="0">
                <a:solidFill>
                  <a:schemeClr val="tx2"/>
                </a:solidFill>
              </a:rPr>
              <a:t>Filter</a:t>
            </a:r>
            <a:endParaRPr lang="en-US" sz="1700" dirty="0"/>
          </a:p>
        </p:txBody>
      </p:sp>
      <p:sp>
        <p:nvSpPr>
          <p:cNvPr id="8" name="Text 4"/>
          <p:cNvSpPr txBox="1"/>
          <p:nvPr/>
        </p:nvSpPr>
        <p:spPr>
          <a:xfrm>
            <a:off x="8686800" y="1673352"/>
            <a:ext cx="2926080" cy="365760"/>
          </a:xfrm>
          <a:prstGeom prst="rect">
            <a:avLst/>
          </a:prstGeom>
          <a:noFill/>
          <a:ln/>
        </p:spPr>
        <p:txBody>
          <a:bodyPr wrap="square" lIns="0" tIns="0" rIns="0" bIns="0" rtlCol="0" anchor="t"/>
          <a:lstStyle/>
          <a:p>
            <a:pPr indent="0" marL="0">
              <a:buNone/>
            </a:pPr>
            <a:r>
              <a:rPr lang="en-US" sz="1400" dirty="0">
                <a:solidFill>
                  <a:schemeClr val="tx1"/>
                </a:solidFill>
              </a:rPr>
              <a:t>By severity, status and module</a:t>
            </a:r>
            <a:endParaRPr lang="en-US" sz="1400" dirty="0"/>
          </a:p>
        </p:txBody>
      </p:sp>
      <p:sp>
        <p:nvSpPr>
          <p:cNvPr id="9" name="icon circle"/>
          <p:cNvSpPr/>
          <p:nvPr/>
        </p:nvSpPr>
        <p:spPr>
          <a:xfrm>
            <a:off x="7955280" y="2331720"/>
            <a:ext cx="548640" cy="548640"/>
          </a:xfrm>
          <a:prstGeom prst="ellipse">
            <a:avLst/>
          </a:prstGeom>
          <a:solidFill>
            <a:srgbClr val="2A78D6"/>
          </a:solidFill>
          <a:ln/>
        </p:spPr>
      </p:sp>
      <p:pic>
        <p:nvPicPr>
          <p:cNvPr id="10" name="FaSearch icon" descr="preencoded.png">    </p:cNvPr>
          <p:cNvPicPr>
            <a:picLocks noChangeAspect="1"/>
          </p:cNvPicPr>
          <p:nvPr/>
        </p:nvPicPr>
        <p:blipFill>
          <a:blip r:embed="rId3"/>
          <a:stretch>
            <a:fillRect/>
          </a:stretch>
        </p:blipFill>
        <p:spPr>
          <a:xfrm>
            <a:off x="8092440" y="2468880"/>
            <a:ext cx="274320" cy="274320"/>
          </a:xfrm>
          <a:prstGeom prst="rect">
            <a:avLst/>
          </a:prstGeom>
        </p:spPr>
      </p:pic>
      <p:sp>
        <p:nvSpPr>
          <p:cNvPr id="11" name="Text 6"/>
          <p:cNvSpPr txBox="1"/>
          <p:nvPr/>
        </p:nvSpPr>
        <p:spPr>
          <a:xfrm>
            <a:off x="8686800" y="2313432"/>
            <a:ext cx="2926080" cy="320040"/>
          </a:xfrm>
          <a:prstGeom prst="rect">
            <a:avLst/>
          </a:prstGeom>
          <a:noFill/>
          <a:ln/>
        </p:spPr>
        <p:txBody>
          <a:bodyPr wrap="square" lIns="0" tIns="0" rIns="0" bIns="0" rtlCol="0" anchor="t"/>
          <a:lstStyle/>
          <a:p>
            <a:pPr indent="0" marL="0">
              <a:buNone/>
            </a:pPr>
            <a:r>
              <a:rPr lang="en-US" sz="1700" b="1" dirty="0">
                <a:solidFill>
                  <a:schemeClr val="tx2"/>
                </a:solidFill>
              </a:rPr>
              <a:t>Search</a:t>
            </a:r>
            <a:endParaRPr lang="en-US" sz="1700" dirty="0"/>
          </a:p>
        </p:txBody>
      </p:sp>
      <p:sp>
        <p:nvSpPr>
          <p:cNvPr id="12" name="Text 7"/>
          <p:cNvSpPr txBox="1"/>
          <p:nvPr/>
        </p:nvSpPr>
        <p:spPr>
          <a:xfrm>
            <a:off x="8686800" y="2633472"/>
            <a:ext cx="2926080" cy="365760"/>
          </a:xfrm>
          <a:prstGeom prst="rect">
            <a:avLst/>
          </a:prstGeom>
          <a:noFill/>
          <a:ln/>
        </p:spPr>
        <p:txBody>
          <a:bodyPr wrap="square" lIns="0" tIns="0" rIns="0" bIns="0" rtlCol="0" anchor="t"/>
          <a:lstStyle/>
          <a:p>
            <a:pPr indent="0" marL="0">
              <a:buNone/>
            </a:pPr>
            <a:r>
              <a:rPr lang="en-US" sz="1400" dirty="0">
                <a:solidFill>
                  <a:schemeClr val="tx1"/>
                </a:solidFill>
              </a:rPr>
              <a:t>Bug ID, test name or error text</a:t>
            </a:r>
            <a:endParaRPr lang="en-US" sz="1400" dirty="0"/>
          </a:p>
        </p:txBody>
      </p:sp>
      <p:sp>
        <p:nvSpPr>
          <p:cNvPr id="13" name="icon circle"/>
          <p:cNvSpPr/>
          <p:nvPr/>
        </p:nvSpPr>
        <p:spPr>
          <a:xfrm>
            <a:off x="7955280" y="3291840"/>
            <a:ext cx="548640" cy="548640"/>
          </a:xfrm>
          <a:prstGeom prst="ellipse">
            <a:avLst/>
          </a:prstGeom>
          <a:solidFill>
            <a:srgbClr val="2A78D6"/>
          </a:solidFill>
          <a:ln/>
        </p:spPr>
      </p:sp>
      <p:pic>
        <p:nvPicPr>
          <p:cNvPr id="14" name="FaImage icon" descr="preencoded.png">    </p:cNvPr>
          <p:cNvPicPr>
            <a:picLocks noChangeAspect="1"/>
          </p:cNvPicPr>
          <p:nvPr/>
        </p:nvPicPr>
        <p:blipFill>
          <a:blip r:embed="rId4"/>
          <a:stretch>
            <a:fillRect/>
          </a:stretch>
        </p:blipFill>
        <p:spPr>
          <a:xfrm>
            <a:off x="8092440" y="3429000"/>
            <a:ext cx="274320" cy="274320"/>
          </a:xfrm>
          <a:prstGeom prst="rect">
            <a:avLst/>
          </a:prstGeom>
        </p:spPr>
      </p:pic>
      <p:sp>
        <p:nvSpPr>
          <p:cNvPr id="15" name="Text 9"/>
          <p:cNvSpPr txBox="1"/>
          <p:nvPr/>
        </p:nvSpPr>
        <p:spPr>
          <a:xfrm>
            <a:off x="8686800" y="3273552"/>
            <a:ext cx="2926080" cy="320040"/>
          </a:xfrm>
          <a:prstGeom prst="rect">
            <a:avLst/>
          </a:prstGeom>
          <a:noFill/>
          <a:ln/>
        </p:spPr>
        <p:txBody>
          <a:bodyPr wrap="square" lIns="0" tIns="0" rIns="0" bIns="0" rtlCol="0" anchor="t"/>
          <a:lstStyle/>
          <a:p>
            <a:pPr indent="0" marL="0">
              <a:buNone/>
            </a:pPr>
            <a:r>
              <a:rPr lang="en-US" sz="1700" b="1" dirty="0">
                <a:solidFill>
                  <a:schemeClr val="tx2"/>
                </a:solidFill>
              </a:rPr>
              <a:t>Bug details</a:t>
            </a:r>
            <a:endParaRPr lang="en-US" sz="1700" dirty="0"/>
          </a:p>
        </p:txBody>
      </p:sp>
      <p:sp>
        <p:nvSpPr>
          <p:cNvPr id="16" name="Text 10"/>
          <p:cNvSpPr txBox="1"/>
          <p:nvPr/>
        </p:nvSpPr>
        <p:spPr>
          <a:xfrm>
            <a:off x="8686800" y="3593592"/>
            <a:ext cx="2926080" cy="365760"/>
          </a:xfrm>
          <a:prstGeom prst="rect">
            <a:avLst/>
          </a:prstGeom>
          <a:noFill/>
          <a:ln/>
        </p:spPr>
        <p:txBody>
          <a:bodyPr wrap="square" lIns="0" tIns="0" rIns="0" bIns="0" rtlCol="0" anchor="t"/>
          <a:lstStyle/>
          <a:p>
            <a:pPr indent="0" marL="0">
              <a:buNone/>
            </a:pPr>
            <a:r>
              <a:rPr lang="en-US" sz="1400" dirty="0">
                <a:solidFill>
                  <a:schemeClr val="tx1"/>
                </a:solidFill>
              </a:rPr>
              <a:t>Error, screenshot, ML confidence, history</a:t>
            </a:r>
            <a:endParaRPr lang="en-US" sz="1400" dirty="0"/>
          </a:p>
        </p:txBody>
      </p:sp>
      <p:sp>
        <p:nvSpPr>
          <p:cNvPr id="17" name="Text 11"/>
          <p:cNvSpPr txBox="1"/>
          <p:nvPr/>
        </p:nvSpPr>
        <p:spPr>
          <a:xfrm>
            <a:off x="7955280" y="4343400"/>
            <a:ext cx="3657600" cy="320040"/>
          </a:xfrm>
          <a:prstGeom prst="rect">
            <a:avLst/>
          </a:prstGeom>
          <a:noFill/>
          <a:ln/>
        </p:spPr>
        <p:txBody>
          <a:bodyPr wrap="square" lIns="0" tIns="0" rIns="0" bIns="0" rtlCol="0" anchor="t"/>
          <a:lstStyle/>
          <a:p>
            <a:pPr indent="0" marL="0">
              <a:buNone/>
            </a:pPr>
            <a:r>
              <a:rPr lang="en-US" sz="1700" b="1" dirty="0">
                <a:solidFill>
                  <a:schemeClr val="tx2"/>
                </a:solidFill>
              </a:rPr>
              <a:t>Status workflow</a:t>
            </a:r>
            <a:endParaRPr lang="en-US" sz="1700" dirty="0"/>
          </a:p>
        </p:txBody>
      </p:sp>
      <p:sp>
        <p:nvSpPr>
          <p:cNvPr id="18" name="status Open"/>
          <p:cNvSpPr/>
          <p:nvPr/>
        </p:nvSpPr>
        <p:spPr>
          <a:xfrm>
            <a:off x="7955280" y="4800600"/>
            <a:ext cx="1078992" cy="457200"/>
          </a:xfrm>
          <a:prstGeom prst="roundRect">
            <a:avLst>
              <a:gd name="adj" fmla="val 40000"/>
            </a:avLst>
          </a:prstGeom>
          <a:solidFill>
            <a:srgbClr val="2A78D6"/>
          </a:solidFill>
          <a:ln/>
        </p:spPr>
        <p:txBody>
          <a:bodyPr wrap="square" lIns="0" tIns="0" rIns="0" bIns="0" rtlCol="0" anchor="ctr"/>
          <a:lstStyle/>
          <a:p>
            <a:pPr algn="ctr" indent="0" marL="0">
              <a:buNone/>
            </a:pPr>
            <a:r>
              <a:rPr lang="en-US" sz="1300" b="1" dirty="0">
                <a:solidFill>
                  <a:schemeClr val="bg1"/>
                </a:solidFill>
              </a:rPr>
              <a:t>Open</a:t>
            </a:r>
            <a:endParaRPr lang="en-US" sz="1300" dirty="0"/>
          </a:p>
        </p:txBody>
      </p:sp>
      <p:sp>
        <p:nvSpPr>
          <p:cNvPr id="19" name="arrow"/>
          <p:cNvSpPr/>
          <p:nvPr/>
        </p:nvSpPr>
        <p:spPr>
          <a:xfrm>
            <a:off x="9043416" y="5029200"/>
            <a:ext cx="164592" cy="0"/>
          </a:xfrm>
          <a:prstGeom prst="line">
            <a:avLst/>
          </a:prstGeom>
          <a:noFill/>
          <a:ln w="25400">
            <a:solidFill>
              <a:srgbClr val="10243F"/>
            </a:solidFill>
            <a:prstDash val="solid"/>
            <a:tailEnd type="triangle"/>
          </a:ln>
        </p:spPr>
      </p:sp>
      <p:sp>
        <p:nvSpPr>
          <p:cNvPr id="20" name="status In Progress"/>
          <p:cNvSpPr/>
          <p:nvPr/>
        </p:nvSpPr>
        <p:spPr>
          <a:xfrm>
            <a:off x="9217152" y="4800600"/>
            <a:ext cx="1078992" cy="457200"/>
          </a:xfrm>
          <a:prstGeom prst="roundRect">
            <a:avLst>
              <a:gd name="adj" fmla="val 40000"/>
            </a:avLst>
          </a:prstGeom>
          <a:solidFill>
            <a:srgbClr val="6250D6"/>
          </a:solidFill>
          <a:ln/>
        </p:spPr>
        <p:txBody>
          <a:bodyPr wrap="square" lIns="0" tIns="0" rIns="0" bIns="0" rtlCol="0" anchor="ctr"/>
          <a:lstStyle/>
          <a:p>
            <a:pPr algn="ctr" indent="0" marL="0">
              <a:buNone/>
            </a:pPr>
            <a:r>
              <a:rPr lang="en-US" sz="1300" b="1" dirty="0">
                <a:solidFill>
                  <a:schemeClr val="bg1"/>
                </a:solidFill>
              </a:rPr>
              <a:t>In Progress</a:t>
            </a:r>
            <a:endParaRPr lang="en-US" sz="1300" dirty="0"/>
          </a:p>
        </p:txBody>
      </p:sp>
      <p:sp>
        <p:nvSpPr>
          <p:cNvPr id="21" name="arrow"/>
          <p:cNvSpPr/>
          <p:nvPr/>
        </p:nvSpPr>
        <p:spPr>
          <a:xfrm>
            <a:off x="10305288" y="5029200"/>
            <a:ext cx="164592" cy="0"/>
          </a:xfrm>
          <a:prstGeom prst="line">
            <a:avLst/>
          </a:prstGeom>
          <a:noFill/>
          <a:ln w="25400">
            <a:solidFill>
              <a:srgbClr val="10243F"/>
            </a:solidFill>
            <a:prstDash val="solid"/>
            <a:tailEnd type="triangle"/>
          </a:ln>
        </p:spPr>
      </p:sp>
      <p:sp>
        <p:nvSpPr>
          <p:cNvPr id="22" name="status Resolved"/>
          <p:cNvSpPr/>
          <p:nvPr/>
        </p:nvSpPr>
        <p:spPr>
          <a:xfrm>
            <a:off x="10479024" y="4800600"/>
            <a:ext cx="1078992" cy="457200"/>
          </a:xfrm>
          <a:prstGeom prst="roundRect">
            <a:avLst>
              <a:gd name="adj" fmla="val 40000"/>
            </a:avLst>
          </a:prstGeom>
          <a:solidFill>
            <a:srgbClr val="1B8E4E"/>
          </a:solidFill>
          <a:ln/>
        </p:spPr>
        <p:txBody>
          <a:bodyPr wrap="square" lIns="0" tIns="0" rIns="0" bIns="0" rtlCol="0" anchor="ctr"/>
          <a:lstStyle/>
          <a:p>
            <a:pPr algn="ctr" indent="0" marL="0">
              <a:buNone/>
            </a:pPr>
            <a:r>
              <a:rPr lang="en-US" sz="1300" b="1" dirty="0">
                <a:solidFill>
                  <a:schemeClr val="bg1"/>
                </a:solidFill>
              </a:rPr>
              <a:t>Resolved</a:t>
            </a:r>
            <a:endParaRPr lang="en-US" sz="1300" dirty="0"/>
          </a:p>
        </p:txBody>
      </p:sp>
      <p:sp>
        <p:nvSpPr>
          <p:cNvPr id="23" name="Text 17"/>
          <p:cNvSpPr txBox="1"/>
          <p:nvPr/>
        </p:nvSpPr>
        <p:spPr>
          <a:xfrm>
            <a:off x="7955280" y="5440680"/>
            <a:ext cx="3657600" cy="320040"/>
          </a:xfrm>
          <a:prstGeom prst="rect">
            <a:avLst/>
          </a:prstGeom>
          <a:noFill/>
          <a:ln/>
        </p:spPr>
        <p:txBody>
          <a:bodyPr wrap="square" lIns="0" tIns="0" rIns="0" bIns="0" rtlCol="0" anchor="t"/>
          <a:lstStyle/>
          <a:p>
            <a:pPr indent="0" marL="0">
              <a:buNone/>
            </a:pPr>
            <a:r>
              <a:rPr lang="en-US" sz="1400" dirty="0">
                <a:solidFill>
                  <a:srgbClr val="5B6472"/>
                </a:solidFill>
              </a:rPr>
              <a:t>Every change is saved in bug_history</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Objective 5: defect analytics</a:t>
            </a:r>
            <a:endParaRPr lang="en-US" sz="3000" dirty="0"/>
          </a:p>
        </p:txBody>
      </p:sp>
      <p:graphicFrame>
        <p:nvGraphicFramePr>
          <p:cNvPr id="3" name="bugs per module chart" descr=""/>
          <p:cNvGraphicFramePr/>
          <p:nvPr/>
        </p:nvGraphicFramePr>
        <p:xfrm>
          <a:off x="548640" y="1325880"/>
          <a:ext cx="548640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severity chart" descr=""/>
          <p:cNvGraphicFramePr/>
          <p:nvPr/>
        </p:nvGraphicFramePr>
        <p:xfrm>
          <a:off x="6172200" y="1325880"/>
          <a:ext cx="5468112" cy="251460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trend chart" descr=""/>
          <p:cNvGraphicFramePr/>
          <p:nvPr/>
        </p:nvGraphicFramePr>
        <p:xfrm>
          <a:off x="548640" y="3977640"/>
          <a:ext cx="11091672" cy="224028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Objective 6: flaky test detection</a:t>
            </a:r>
            <a:endParaRPr lang="en-US" sz="3000" dirty="0"/>
          </a:p>
        </p:txBody>
      </p:sp>
      <p:sp>
        <p:nvSpPr>
          <p:cNvPr id="3" name="flaky method card"/>
          <p:cNvSpPr/>
          <p:nvPr/>
        </p:nvSpPr>
        <p:spPr>
          <a:xfrm>
            <a:off x="548640" y="1371600"/>
            <a:ext cx="4937760" cy="4800600"/>
          </a:xfrm>
          <a:prstGeom prst="roundRect">
            <a:avLst>
              <a:gd name="adj" fmla="val 2286"/>
            </a:avLst>
          </a:prstGeom>
          <a:solidFill>
            <a:schemeClr val="bg2"/>
          </a:solidFill>
          <a:ln/>
        </p:spPr>
      </p:sp>
      <p:sp>
        <p:nvSpPr>
          <p:cNvPr id="4" name="Text 2"/>
          <p:cNvSpPr txBox="1"/>
          <p:nvPr/>
        </p:nvSpPr>
        <p:spPr>
          <a:xfrm>
            <a:off x="822960" y="1600200"/>
            <a:ext cx="4480560" cy="365760"/>
          </a:xfrm>
          <a:prstGeom prst="rect">
            <a:avLst/>
          </a:prstGeom>
          <a:noFill/>
          <a:ln/>
        </p:spPr>
        <p:txBody>
          <a:bodyPr wrap="square" lIns="0" tIns="0" rIns="0" bIns="0" rtlCol="0" anchor="t"/>
          <a:lstStyle/>
          <a:p>
            <a:pPr indent="0" marL="0">
              <a:buNone/>
            </a:pPr>
            <a:r>
              <a:rPr lang="en-US" sz="1800" b="1" dirty="0">
                <a:solidFill>
                  <a:schemeClr val="tx2"/>
                </a:solidFill>
              </a:rPr>
              <a:t>Rule (last 10 runs, minimum 3)</a:t>
            </a:r>
            <a:endParaRPr lang="en-US" sz="1800" dirty="0"/>
          </a:p>
        </p:txBody>
      </p:sp>
      <p:sp>
        <p:nvSpPr>
          <p:cNvPr id="5" name="Flaky marker"/>
          <p:cNvSpPr/>
          <p:nvPr/>
        </p:nvSpPr>
        <p:spPr>
          <a:xfrm>
            <a:off x="822960" y="2176272"/>
            <a:ext cx="201168" cy="201168"/>
          </a:xfrm>
          <a:prstGeom prst="ellipse">
            <a:avLst/>
          </a:prstGeom>
          <a:solidFill>
            <a:srgbClr val="6250D6"/>
          </a:solidFill>
          <a:ln/>
        </p:spPr>
      </p:sp>
      <p:sp>
        <p:nvSpPr>
          <p:cNvPr id="6" name="Text 4"/>
          <p:cNvSpPr txBox="1"/>
          <p:nvPr/>
        </p:nvSpPr>
        <p:spPr>
          <a:xfrm>
            <a:off x="1188720" y="2103120"/>
            <a:ext cx="4114800" cy="548640"/>
          </a:xfrm>
          <a:prstGeom prst="rect">
            <a:avLst/>
          </a:prstGeom>
          <a:noFill/>
          <a:ln/>
        </p:spPr>
        <p:txBody>
          <a:bodyPr wrap="square" lIns="0" tIns="0" rIns="0" bIns="0" rtlCol="0" anchor="t"/>
          <a:lstStyle/>
          <a:p>
            <a:pPr indent="0" marL="0">
              <a:buNone/>
            </a:pPr>
            <a:r>
              <a:rPr lang="en-US" sz="1500" b="1" dirty="0">
                <a:solidFill>
                  <a:srgbClr val="10243F"/>
                </a:solidFill>
              </a:rPr>
              <a:t>Flaky: </a:t>
            </a:r>
            <a:pPr indent="0" marL="0">
              <a:buNone/>
            </a:pPr>
            <a:r>
              <a:rPr lang="en-US" sz="1500" dirty="0">
                <a:solidFill>
                  <a:schemeClr val="tx1"/>
                </a:solidFill>
              </a:rPr>
              <a:t>passed at least once and failed at least once</a:t>
            </a:r>
            <a:endParaRPr lang="en-US" sz="1500" dirty="0"/>
          </a:p>
        </p:txBody>
      </p:sp>
      <p:sp>
        <p:nvSpPr>
          <p:cNvPr id="7" name="Consistently failing marker"/>
          <p:cNvSpPr/>
          <p:nvPr/>
        </p:nvSpPr>
        <p:spPr>
          <a:xfrm>
            <a:off x="822960" y="2862072"/>
            <a:ext cx="201168" cy="201168"/>
          </a:xfrm>
          <a:prstGeom prst="ellipse">
            <a:avLst/>
          </a:prstGeom>
          <a:solidFill>
            <a:srgbClr val="D03B3B"/>
          </a:solidFill>
          <a:ln/>
        </p:spPr>
      </p:sp>
      <p:sp>
        <p:nvSpPr>
          <p:cNvPr id="8" name="Text 6"/>
          <p:cNvSpPr txBox="1"/>
          <p:nvPr/>
        </p:nvSpPr>
        <p:spPr>
          <a:xfrm>
            <a:off x="1188720" y="2788920"/>
            <a:ext cx="4114800" cy="548640"/>
          </a:xfrm>
          <a:prstGeom prst="rect">
            <a:avLst/>
          </a:prstGeom>
          <a:noFill/>
          <a:ln/>
        </p:spPr>
        <p:txBody>
          <a:bodyPr wrap="square" lIns="0" tIns="0" rIns="0" bIns="0" rtlCol="0" anchor="t"/>
          <a:lstStyle/>
          <a:p>
            <a:pPr indent="0" marL="0">
              <a:buNone/>
            </a:pPr>
            <a:r>
              <a:rPr lang="en-US" sz="1500" b="1" dirty="0">
                <a:solidFill>
                  <a:srgbClr val="10243F"/>
                </a:solidFill>
              </a:rPr>
              <a:t>Consistently failing: </a:t>
            </a:r>
            <a:pPr indent="0" marL="0">
              <a:buNone/>
            </a:pPr>
            <a:r>
              <a:rPr lang="en-US" sz="1500" dirty="0">
                <a:solidFill>
                  <a:schemeClr val="tx1"/>
                </a:solidFill>
              </a:rPr>
              <a:t>failed every run: a real defect</a:t>
            </a:r>
            <a:endParaRPr lang="en-US" sz="1500" dirty="0"/>
          </a:p>
        </p:txBody>
      </p:sp>
      <p:sp>
        <p:nvSpPr>
          <p:cNvPr id="9" name="Stable marker"/>
          <p:cNvSpPr/>
          <p:nvPr/>
        </p:nvSpPr>
        <p:spPr>
          <a:xfrm>
            <a:off x="822960" y="3547872"/>
            <a:ext cx="201168" cy="201168"/>
          </a:xfrm>
          <a:prstGeom prst="ellipse">
            <a:avLst/>
          </a:prstGeom>
          <a:solidFill>
            <a:srgbClr val="1B8E4E"/>
          </a:solidFill>
          <a:ln/>
        </p:spPr>
      </p:sp>
      <p:sp>
        <p:nvSpPr>
          <p:cNvPr id="10" name="Text 8"/>
          <p:cNvSpPr txBox="1"/>
          <p:nvPr/>
        </p:nvSpPr>
        <p:spPr>
          <a:xfrm>
            <a:off x="1188720" y="3474720"/>
            <a:ext cx="4114800" cy="548640"/>
          </a:xfrm>
          <a:prstGeom prst="rect">
            <a:avLst/>
          </a:prstGeom>
          <a:noFill/>
          <a:ln/>
        </p:spPr>
        <p:txBody>
          <a:bodyPr wrap="square" lIns="0" tIns="0" rIns="0" bIns="0" rtlCol="0" anchor="t"/>
          <a:lstStyle/>
          <a:p>
            <a:pPr indent="0" marL="0">
              <a:buNone/>
            </a:pPr>
            <a:r>
              <a:rPr lang="en-US" sz="1500" b="1" dirty="0">
                <a:solidFill>
                  <a:srgbClr val="10243F"/>
                </a:solidFill>
              </a:rPr>
              <a:t>Stable: </a:t>
            </a:r>
            <a:pPr indent="0" marL="0">
              <a:buNone/>
            </a:pPr>
            <a:r>
              <a:rPr lang="en-US" sz="1500" dirty="0">
                <a:solidFill>
                  <a:schemeClr val="tx1"/>
                </a:solidFill>
              </a:rPr>
              <a:t>passed every run</a:t>
            </a:r>
            <a:endParaRPr lang="en-US" sz="1500" dirty="0"/>
          </a:p>
        </p:txBody>
      </p:sp>
      <p:sp>
        <p:nvSpPr>
          <p:cNvPr id="11" name="Text 9"/>
          <p:cNvSpPr txBox="1"/>
          <p:nvPr/>
        </p:nvSpPr>
        <p:spPr>
          <a:xfrm>
            <a:off x="822960" y="4251960"/>
            <a:ext cx="4480560" cy="36576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Example history  P F P F P P</a:t>
            </a:r>
            <a:endParaRPr lang="en-US" sz="1600" dirty="0"/>
          </a:p>
        </p:txBody>
      </p:sp>
      <p:sp>
        <p:nvSpPr>
          <p:cNvPr id="12" name="Text 10"/>
          <p:cNvSpPr txBox="1"/>
          <p:nvPr/>
        </p:nvSpPr>
        <p:spPr>
          <a:xfrm>
            <a:off x="822960" y="4709160"/>
            <a:ext cx="448056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Failure rate = fails / runs = 2/6 = 33%</a:t>
            </a:r>
            <a:endParaRPr lang="en-US" sz="1500" dirty="0"/>
          </a:p>
          <a:p>
            <a:pPr marL="342900" indent="-342900">
              <a:spcAft>
                <a:spcPts val="400"/>
              </a:spcAft>
              <a:buSzPct val="100000"/>
              <a:buChar char="•"/>
            </a:pPr>
            <a:r>
              <a:rPr lang="en-US" sz="1500" dirty="0">
                <a:solidFill>
                  <a:schemeClr val="tx1"/>
                </a:solidFill>
              </a:rPr>
              <a:t>Flip rate = result changes / (runs − 1) = 4/5 = 80%</a:t>
            </a:r>
            <a:endParaRPr lang="en-US" sz="1500" dirty="0"/>
          </a:p>
          <a:p>
            <a:pPr marL="342900" indent="-342900">
              <a:spcAft>
                <a:spcPts val="400"/>
              </a:spcAft>
              <a:buSzPct val="100000"/>
              <a:buChar char="•"/>
            </a:pPr>
            <a:r>
              <a:rPr lang="en-US" sz="1500" dirty="0">
                <a:solidFill>
                  <a:schemeClr val="tx1"/>
                </a:solidFill>
              </a:rPr>
              <a:t>Retries disabled: flakiness is measured, not hidden</a:t>
            </a:r>
            <a:endParaRPr lang="en-US" sz="1500" dirty="0"/>
          </a:p>
        </p:txBody>
      </p:sp>
      <p:sp>
        <p:nvSpPr>
          <p:cNvPr id="13" name="Text 11"/>
          <p:cNvSpPr txBox="1"/>
          <p:nvPr/>
        </p:nvSpPr>
        <p:spPr>
          <a:xfrm>
            <a:off x="5852160" y="1371600"/>
            <a:ext cx="5788152" cy="365760"/>
          </a:xfrm>
          <a:prstGeom prst="rect">
            <a:avLst/>
          </a:prstGeom>
          <a:noFill/>
          <a:ln/>
        </p:spPr>
        <p:txBody>
          <a:bodyPr wrap="square" lIns="0" tIns="0" rIns="0" bIns="0" rtlCol="0" anchor="t"/>
          <a:lstStyle/>
          <a:p>
            <a:pPr indent="0" marL="0">
              <a:buNone/>
            </a:pPr>
            <a:r>
              <a:rPr lang="en-US" sz="1800" b="1" dirty="0">
                <a:solidFill>
                  <a:schemeClr val="tx2"/>
                </a:solidFill>
              </a:rPr>
              <a:t>Detected in 6 runs of the demo suite</a:t>
            </a:r>
            <a:endParaRPr lang="en-US" sz="1800" dirty="0"/>
          </a:p>
        </p:txBody>
      </p:sp>
      <p:graphicFrame>
        <p:nvGraphicFramePr>
          <p:cNvPr id="15" name="flaky tests table"/>
          <p:cNvGraphicFramePr>
            <a:graphicFrameLocks noGrp="1"/>
          </p:cNvGraphicFramePr>
          <p:nvPr>
            <p:extLst>
              <p:ext uri="{D42A27DB-BD31-4B8C-83A1-F6EECF244321}">
                <p14:modId xmlns:p14="http://schemas.microsoft.com/office/powerpoint/2010/main" val="1579011935"/>
              </p:ext>
            </p:extLst>
          </p:nvPr>
        </p:nvGraphicFramePr>
        <p:xfrm>
          <a:off x="5852160" y="1874520"/>
          <a:ext cx="5788152" cy="914400"/>
        </p:xfrm>
        <a:graphic>
          <a:graphicData uri="http://schemas.openxmlformats.org/drawingml/2006/table">
            <a:tbl>
              <a:tblPr/>
              <a:tblGrid>
                <a:gridCol w="2587752"/>
                <a:gridCol w="868680"/>
                <a:gridCol w="868680"/>
                <a:gridCol w="146304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Flaky test</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0243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Fail rate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0243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Flip rate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0243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History</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0243F"/>
                    </a:solidFill>
                  </a:tcPr>
                </a:tc>
              </a:tr>
              <a:tr h="685800">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Cart: adding a product updates the cart badge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400" dirty="0">
                          <a:solidFill>
                            <a:srgbClr val="1F2328"/>
                          </a:solidFill>
                          <a:latin typeface="Calibri" pitchFamily="34" charset="0"/>
                          <a:ea typeface="Calibri" pitchFamily="34" charset="-122"/>
                          <a:cs typeface="Calibri" pitchFamily="34" charset="-120"/>
                        </a:rPr>
                        <a:t>33%</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400" dirty="0">
                          <a:solidFill>
                            <a:srgbClr val="1F2328"/>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b="1" dirty="0">
                          <a:solidFill>
                            <a:srgbClr val="1B8E4E"/>
                          </a:solidFill>
                          <a:latin typeface="Courier New" pitchFamily="34" charset="0"/>
                          <a:ea typeface="Courier New" pitchFamily="34" charset="-122"/>
                          <a:cs typeface="Courier New" pitchFamily="34" charset="-120"/>
                        </a:rPr>
                        <a:t>P</a:t>
                      </a:r>
                      <a:pPr indent="0" marL="0">
                        <a:buNone/>
                      </a:pPr>
                      <a:r>
                        <a:rPr lang="en-US" sz="1400" b="1" dirty="0">
                          <a:solidFill>
                            <a:srgbClr val="D03B3B"/>
                          </a:solidFill>
                          <a:latin typeface="Courier New" pitchFamily="34" charset="0"/>
                          <a:ea typeface="Courier New" pitchFamily="34" charset="-122"/>
                          <a:cs typeface="Courier New" pitchFamily="34" charset="-120"/>
                        </a:rPr>
                        <a:t>F</a:t>
                      </a:r>
                      <a:pPr indent="0" marL="0">
                        <a:buNone/>
                      </a:pPr>
                      <a:r>
                        <a:rPr lang="en-US" sz="1400" b="1" dirty="0">
                          <a:solidFill>
                            <a:srgbClr val="1B8E4E"/>
                          </a:solidFill>
                          <a:latin typeface="Courier New" pitchFamily="34" charset="0"/>
                          <a:ea typeface="Courier New" pitchFamily="34" charset="-122"/>
                          <a:cs typeface="Courier New" pitchFamily="34" charset="-120"/>
                        </a:rPr>
                        <a:t>P</a:t>
                      </a:r>
                      <a:pPr indent="0" marL="0">
                        <a:buNone/>
                      </a:pPr>
                      <a:r>
                        <a:rPr lang="en-US" sz="1400" b="1" dirty="0">
                          <a:solidFill>
                            <a:srgbClr val="D03B3B"/>
                          </a:solidFill>
                          <a:latin typeface="Courier New" pitchFamily="34" charset="0"/>
                          <a:ea typeface="Courier New" pitchFamily="34" charset="-122"/>
                          <a:cs typeface="Courier New" pitchFamily="34" charset="-120"/>
                        </a:rPr>
                        <a:t>F</a:t>
                      </a:r>
                      <a:pPr indent="0" marL="0">
                        <a:buNone/>
                      </a:pPr>
                      <a:r>
                        <a:rPr lang="en-US" sz="1400" b="1" dirty="0">
                          <a:solidFill>
                            <a:srgbClr val="1B8E4E"/>
                          </a:solidFill>
                          <a:latin typeface="Courier New" pitchFamily="34" charset="0"/>
                          <a:ea typeface="Courier New" pitchFamily="34" charset="-122"/>
                          <a:cs typeface="Courier New" pitchFamily="34" charset="-120"/>
                        </a:rPr>
                        <a:t>P</a:t>
                      </a:r>
                      <a:pPr indent="0" marL="0">
                        <a:buNone/>
                      </a:pPr>
                      <a:r>
                        <a:rPr lang="en-US" sz="1400" b="1" dirty="0">
                          <a:solidFill>
                            <a:srgbClr val="1B8E4E"/>
                          </a:solidFill>
                          <a:latin typeface="Courier New" pitchFamily="34" charset="0"/>
                          <a:ea typeface="Courier New" pitchFamily="34" charset="-122"/>
                          <a:cs typeface="Courier New" pitchFamily="34" charset="-120"/>
                        </a:rPr>
                        <a:t>P</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r>
              <a:tr h="685800">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Profile: saving the profile shows a success message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algn="ctr" indent="0" marL="0">
                        <a:buNone/>
                      </a:pPr>
                      <a:r>
                        <a:rPr lang="en-US" sz="1400" dirty="0">
                          <a:solidFill>
                            <a:srgbClr val="1F2328"/>
                          </a:solidFill>
                          <a:latin typeface="Calibri" pitchFamily="34" charset="0"/>
                          <a:ea typeface="Calibri" pitchFamily="34" charset="-122"/>
                          <a:cs typeface="Calibri" pitchFamily="34" charset="-120"/>
                        </a:rPr>
                        <a:t>17%</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algn="ctr" indent="0" marL="0">
                        <a:buNone/>
                      </a:pPr>
                      <a:r>
                        <a:rPr lang="en-US" sz="1400" dirty="0">
                          <a:solidFill>
                            <a:srgbClr val="1F2328"/>
                          </a:solidFill>
                          <a:latin typeface="Calibri" pitchFamily="34" charset="0"/>
                          <a:ea typeface="Calibri" pitchFamily="34" charset="-122"/>
                          <a:cs typeface="Calibri" pitchFamily="34" charset="-120"/>
                        </a:rPr>
                        <a:t>40%</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400" b="1" dirty="0">
                          <a:solidFill>
                            <a:srgbClr val="1B8E4E"/>
                          </a:solidFill>
                          <a:latin typeface="Courier New" pitchFamily="34" charset="0"/>
                          <a:ea typeface="Courier New" pitchFamily="34" charset="-122"/>
                          <a:cs typeface="Courier New" pitchFamily="34" charset="-120"/>
                        </a:rPr>
                        <a:t>P</a:t>
                      </a:r>
                      <a:pPr indent="0" marL="0">
                        <a:buNone/>
                      </a:pPr>
                      <a:r>
                        <a:rPr lang="en-US" sz="1400" b="1" dirty="0">
                          <a:solidFill>
                            <a:srgbClr val="D03B3B"/>
                          </a:solidFill>
                          <a:latin typeface="Courier New" pitchFamily="34" charset="0"/>
                          <a:ea typeface="Courier New" pitchFamily="34" charset="-122"/>
                          <a:cs typeface="Courier New" pitchFamily="34" charset="-120"/>
                        </a:rPr>
                        <a:t>F</a:t>
                      </a:r>
                      <a:pPr indent="0" marL="0">
                        <a:buNone/>
                      </a:pPr>
                      <a:r>
                        <a:rPr lang="en-US" sz="1400" b="1" dirty="0">
                          <a:solidFill>
                            <a:srgbClr val="1B8E4E"/>
                          </a:solidFill>
                          <a:latin typeface="Courier New" pitchFamily="34" charset="0"/>
                          <a:ea typeface="Courier New" pitchFamily="34" charset="-122"/>
                          <a:cs typeface="Courier New" pitchFamily="34" charset="-120"/>
                        </a:rPr>
                        <a:t>P</a:t>
                      </a:r>
                      <a:pPr indent="0" marL="0">
                        <a:buNone/>
                      </a:pPr>
                      <a:r>
                        <a:rPr lang="en-US" sz="1400" b="1" dirty="0">
                          <a:solidFill>
                            <a:srgbClr val="1B8E4E"/>
                          </a:solidFill>
                          <a:latin typeface="Courier New" pitchFamily="34" charset="0"/>
                          <a:ea typeface="Courier New" pitchFamily="34" charset="-122"/>
                          <a:cs typeface="Courier New" pitchFamily="34" charset="-120"/>
                        </a:rPr>
                        <a:t>P</a:t>
                      </a:r>
                      <a:pPr indent="0" marL="0">
                        <a:buNone/>
                      </a:pPr>
                      <a:r>
                        <a:rPr lang="en-US" sz="1400" b="1" dirty="0">
                          <a:solidFill>
                            <a:srgbClr val="1B8E4E"/>
                          </a:solidFill>
                          <a:latin typeface="Courier New" pitchFamily="34" charset="0"/>
                          <a:ea typeface="Courier New" pitchFamily="34" charset="-122"/>
                          <a:cs typeface="Courier New" pitchFamily="34" charset="-120"/>
                        </a:rPr>
                        <a:t>P</a:t>
                      </a:r>
                      <a:pPr indent="0" marL="0">
                        <a:buNone/>
                      </a:pPr>
                      <a:r>
                        <a:rPr lang="en-US" sz="1400" b="1" dirty="0">
                          <a:solidFill>
                            <a:srgbClr val="1B8E4E"/>
                          </a:solidFill>
                          <a:latin typeface="Courier New" pitchFamily="34" charset="0"/>
                          <a:ea typeface="Courier New" pitchFamily="34" charset="-122"/>
                          <a:cs typeface="Courier New" pitchFamily="34" charset="-120"/>
                        </a:rPr>
                        <a:t>P</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4F8"/>
                    </a:solidFill>
                  </a:tcPr>
                </a:tc>
              </a:tr>
            </a:tbl>
          </a:graphicData>
        </a:graphic>
      </p:graphicFrame>
      <p:sp>
        <p:nvSpPr>
          <p:cNvPr id="15" name="Text 12"/>
          <p:cNvSpPr txBox="1"/>
          <p:nvPr/>
        </p:nvSpPr>
        <p:spPr>
          <a:xfrm>
            <a:off x="5852160" y="3977640"/>
            <a:ext cx="5788152" cy="365760"/>
          </a:xfrm>
          <a:prstGeom prst="rect">
            <a:avLst/>
          </a:prstGeom>
          <a:noFill/>
          <a:ln/>
        </p:spPr>
        <p:txBody>
          <a:bodyPr wrap="square" lIns="0" tIns="0" rIns="0" bIns="0" rtlCol="0" anchor="t"/>
          <a:lstStyle/>
          <a:p>
            <a:pPr indent="0" marL="0">
              <a:buNone/>
            </a:pPr>
            <a:r>
              <a:rPr lang="en-US" sz="1800" b="1" dirty="0">
                <a:solidFill>
                  <a:schemeClr val="tx2"/>
                </a:solidFill>
              </a:rPr>
              <a:t>All 16 tests by verdict</a:t>
            </a:r>
            <a:endParaRPr lang="en-US" sz="1800" dirty="0"/>
          </a:p>
        </p:txBody>
      </p:sp>
      <p:sp>
        <p:nvSpPr>
          <p:cNvPr id="16" name="verdict Flaky"/>
          <p:cNvSpPr/>
          <p:nvPr/>
        </p:nvSpPr>
        <p:spPr>
          <a:xfrm>
            <a:off x="5852160" y="4434840"/>
            <a:ext cx="1837944" cy="1325880"/>
          </a:xfrm>
          <a:prstGeom prst="roundRect">
            <a:avLst>
              <a:gd name="adj" fmla="val 8276"/>
            </a:avLst>
          </a:prstGeom>
          <a:solidFill>
            <a:schemeClr val="bg2"/>
          </a:solidFill>
          <a:ln/>
        </p:spPr>
      </p:sp>
      <p:sp>
        <p:nvSpPr>
          <p:cNvPr id="17" name="Text 14"/>
          <p:cNvSpPr txBox="1"/>
          <p:nvPr/>
        </p:nvSpPr>
        <p:spPr>
          <a:xfrm>
            <a:off x="6035040" y="4526280"/>
            <a:ext cx="1463040" cy="640080"/>
          </a:xfrm>
          <a:prstGeom prst="rect">
            <a:avLst/>
          </a:prstGeom>
          <a:noFill/>
          <a:ln/>
        </p:spPr>
        <p:txBody>
          <a:bodyPr wrap="square" lIns="0" tIns="0" rIns="0" bIns="0" rtlCol="0" anchor="t"/>
          <a:lstStyle/>
          <a:p>
            <a:pPr indent="0" marL="0">
              <a:buNone/>
            </a:pPr>
            <a:r>
              <a:rPr lang="en-US" sz="3600" b="1" dirty="0">
                <a:solidFill>
                  <a:srgbClr val="6250D6"/>
                </a:solidFill>
                <a:latin typeface="Arial" pitchFamily="34" charset="0"/>
                <a:ea typeface="Arial" pitchFamily="34" charset="-122"/>
                <a:cs typeface="Arial" pitchFamily="34" charset="-120"/>
              </a:rPr>
              <a:t>2</a:t>
            </a:r>
            <a:endParaRPr lang="en-US" sz="3600" dirty="0"/>
          </a:p>
        </p:txBody>
      </p:sp>
      <p:sp>
        <p:nvSpPr>
          <p:cNvPr id="18" name="Text 15"/>
          <p:cNvSpPr txBox="1"/>
          <p:nvPr/>
        </p:nvSpPr>
        <p:spPr>
          <a:xfrm>
            <a:off x="6035040" y="5212080"/>
            <a:ext cx="1554480" cy="457200"/>
          </a:xfrm>
          <a:prstGeom prst="rect">
            <a:avLst/>
          </a:prstGeom>
          <a:noFill/>
          <a:ln/>
        </p:spPr>
        <p:txBody>
          <a:bodyPr wrap="square" lIns="0" tIns="0" rIns="0" bIns="0" rtlCol="0" anchor="t"/>
          <a:lstStyle/>
          <a:p>
            <a:pPr indent="0" marL="0">
              <a:buNone/>
            </a:pPr>
            <a:r>
              <a:rPr lang="en-US" sz="1400" dirty="0">
                <a:solidFill>
                  <a:schemeClr val="tx1"/>
                </a:solidFill>
              </a:rPr>
              <a:t>Flaky</a:t>
            </a:r>
            <a:endParaRPr lang="en-US" sz="1400" dirty="0"/>
          </a:p>
        </p:txBody>
      </p:sp>
      <p:sp>
        <p:nvSpPr>
          <p:cNvPr id="19" name="verdict Consistently failing"/>
          <p:cNvSpPr/>
          <p:nvPr/>
        </p:nvSpPr>
        <p:spPr>
          <a:xfrm>
            <a:off x="7827264" y="4434840"/>
            <a:ext cx="1837944" cy="1325880"/>
          </a:xfrm>
          <a:prstGeom prst="roundRect">
            <a:avLst>
              <a:gd name="adj" fmla="val 8276"/>
            </a:avLst>
          </a:prstGeom>
          <a:solidFill>
            <a:schemeClr val="bg2"/>
          </a:solidFill>
          <a:ln/>
        </p:spPr>
      </p:sp>
      <p:sp>
        <p:nvSpPr>
          <p:cNvPr id="20" name="Text 17"/>
          <p:cNvSpPr txBox="1"/>
          <p:nvPr/>
        </p:nvSpPr>
        <p:spPr>
          <a:xfrm>
            <a:off x="8010144" y="4526280"/>
            <a:ext cx="1463040" cy="640080"/>
          </a:xfrm>
          <a:prstGeom prst="rect">
            <a:avLst/>
          </a:prstGeom>
          <a:noFill/>
          <a:ln/>
        </p:spPr>
        <p:txBody>
          <a:bodyPr wrap="square" lIns="0" tIns="0" rIns="0" bIns="0" rtlCol="0" anchor="t"/>
          <a:lstStyle/>
          <a:p>
            <a:pPr indent="0" marL="0">
              <a:buNone/>
            </a:pPr>
            <a:r>
              <a:rPr lang="en-US" sz="3600" b="1" dirty="0">
                <a:solidFill>
                  <a:srgbClr val="D03B3B"/>
                </a:solidFill>
                <a:latin typeface="Arial" pitchFamily="34" charset="0"/>
                <a:ea typeface="Arial" pitchFamily="34" charset="-122"/>
                <a:cs typeface="Arial" pitchFamily="34" charset="-120"/>
              </a:rPr>
              <a:t>8</a:t>
            </a:r>
            <a:endParaRPr lang="en-US" sz="3600" dirty="0"/>
          </a:p>
        </p:txBody>
      </p:sp>
      <p:sp>
        <p:nvSpPr>
          <p:cNvPr id="21" name="Text 18"/>
          <p:cNvSpPr txBox="1"/>
          <p:nvPr/>
        </p:nvSpPr>
        <p:spPr>
          <a:xfrm>
            <a:off x="8010144" y="5212080"/>
            <a:ext cx="1554480" cy="457200"/>
          </a:xfrm>
          <a:prstGeom prst="rect">
            <a:avLst/>
          </a:prstGeom>
          <a:noFill/>
          <a:ln/>
        </p:spPr>
        <p:txBody>
          <a:bodyPr wrap="square" lIns="0" tIns="0" rIns="0" bIns="0" rtlCol="0" anchor="t"/>
          <a:lstStyle/>
          <a:p>
            <a:pPr indent="0" marL="0">
              <a:buNone/>
            </a:pPr>
            <a:r>
              <a:rPr lang="en-US" sz="1400" dirty="0">
                <a:solidFill>
                  <a:schemeClr val="tx1"/>
                </a:solidFill>
              </a:rPr>
              <a:t>Consistently failing</a:t>
            </a:r>
            <a:endParaRPr lang="en-US" sz="1400" dirty="0"/>
          </a:p>
        </p:txBody>
      </p:sp>
      <p:sp>
        <p:nvSpPr>
          <p:cNvPr id="22" name="verdict Stable"/>
          <p:cNvSpPr/>
          <p:nvPr/>
        </p:nvSpPr>
        <p:spPr>
          <a:xfrm>
            <a:off x="9802368" y="4434840"/>
            <a:ext cx="1837944" cy="1325880"/>
          </a:xfrm>
          <a:prstGeom prst="roundRect">
            <a:avLst>
              <a:gd name="adj" fmla="val 8276"/>
            </a:avLst>
          </a:prstGeom>
          <a:solidFill>
            <a:schemeClr val="bg2"/>
          </a:solidFill>
          <a:ln/>
        </p:spPr>
      </p:sp>
      <p:sp>
        <p:nvSpPr>
          <p:cNvPr id="23" name="Text 20"/>
          <p:cNvSpPr txBox="1"/>
          <p:nvPr/>
        </p:nvSpPr>
        <p:spPr>
          <a:xfrm>
            <a:off x="9985248" y="4526280"/>
            <a:ext cx="1463040" cy="640080"/>
          </a:xfrm>
          <a:prstGeom prst="rect">
            <a:avLst/>
          </a:prstGeom>
          <a:noFill/>
          <a:ln/>
        </p:spPr>
        <p:txBody>
          <a:bodyPr wrap="square" lIns="0" tIns="0" rIns="0" bIns="0" rtlCol="0" anchor="t"/>
          <a:lstStyle/>
          <a:p>
            <a:pPr indent="0" marL="0">
              <a:buNone/>
            </a:pPr>
            <a:r>
              <a:rPr lang="en-US" sz="3600" b="1" dirty="0">
                <a:solidFill>
                  <a:srgbClr val="1B8E4E"/>
                </a:solidFill>
                <a:latin typeface="Arial" pitchFamily="34" charset="0"/>
                <a:ea typeface="Arial" pitchFamily="34" charset="-122"/>
                <a:cs typeface="Arial" pitchFamily="34" charset="-120"/>
              </a:rPr>
              <a:t>6</a:t>
            </a:r>
            <a:endParaRPr lang="en-US" sz="3600" dirty="0"/>
          </a:p>
        </p:txBody>
      </p:sp>
      <p:sp>
        <p:nvSpPr>
          <p:cNvPr id="24" name="Text 21"/>
          <p:cNvSpPr txBox="1"/>
          <p:nvPr/>
        </p:nvSpPr>
        <p:spPr>
          <a:xfrm>
            <a:off x="9985248" y="5212080"/>
            <a:ext cx="1554480" cy="457200"/>
          </a:xfrm>
          <a:prstGeom prst="rect">
            <a:avLst/>
          </a:prstGeom>
          <a:noFill/>
          <a:ln/>
        </p:spPr>
        <p:txBody>
          <a:bodyPr wrap="square" lIns="0" tIns="0" rIns="0" bIns="0" rtlCol="0" anchor="t"/>
          <a:lstStyle/>
          <a:p>
            <a:pPr indent="0" marL="0">
              <a:buNone/>
            </a:pPr>
            <a:r>
              <a:rPr lang="en-US" sz="1400" dirty="0">
                <a:solidFill>
                  <a:schemeClr val="tx1"/>
                </a:solidFill>
              </a:rPr>
              <a:t>Stable</a:t>
            </a:r>
            <a:endParaRPr lang="en-US" sz="1400" dirty="0"/>
          </a:p>
        </p:txBody>
      </p:sp>
      <p:sp>
        <p:nvSpPr>
          <p:cNvPr id="25" name="Text 22"/>
          <p:cNvSpPr txBox="1"/>
          <p:nvPr/>
        </p:nvSpPr>
        <p:spPr>
          <a:xfrm>
            <a:off x="5852160" y="5852160"/>
            <a:ext cx="5788152" cy="365760"/>
          </a:xfrm>
          <a:prstGeom prst="rect">
            <a:avLst/>
          </a:prstGeom>
          <a:noFill/>
          <a:ln/>
        </p:spPr>
        <p:txBody>
          <a:bodyPr wrap="square" lIns="0" tIns="0" rIns="0" bIns="0" rtlCol="0" anchor="t"/>
          <a:lstStyle/>
          <a:p>
            <a:pPr indent="0" marL="0">
              <a:buNone/>
            </a:pPr>
            <a:r>
              <a:rPr lang="en-US" sz="1400" i="1" dirty="0">
                <a:solidFill>
                  <a:srgbClr val="5B6472"/>
                </a:solidFill>
              </a:rPr>
              <a:t>The consistently failing tests are real defects, not flakiness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Objective 7: email alerts for Critical bugs</a:t>
            </a:r>
            <a:endParaRPr lang="en-US" sz="3000" dirty="0"/>
          </a:p>
        </p:txBody>
      </p:sp>
      <p:sp>
        <p:nvSpPr>
          <p:cNvPr id="3" name="alert email screenshot frame"/>
          <p:cNvSpPr/>
          <p:nvPr/>
        </p:nvSpPr>
        <p:spPr>
          <a:xfrm>
            <a:off x="548640" y="1371600"/>
            <a:ext cx="5394960" cy="4373187"/>
          </a:xfrm>
          <a:prstGeom prst="rect">
            <a:avLst/>
          </a:prstGeom>
          <a:solidFill>
            <a:srgbClr val="FFFFFF"/>
          </a:solidFill>
          <a:ln w="9525">
            <a:solidFill>
              <a:srgbClr val="D5DAE1"/>
            </a:solidFill>
            <a:prstDash val="solid"/>
          </a:ln>
          <a:effectLst>
            <a:outerShdw sx="100000" sy="100000" kx="0" ky="0" algn="bl" rotWithShape="0" blurRad="101600" dist="25400" dir="5400000">
              <a:srgbClr val="000000">
                <a:alpha val="18000"/>
              </a:srgbClr>
            </a:outerShdw>
          </a:effectLst>
        </p:spPr>
      </p:sp>
      <p:pic>
        <p:nvPicPr>
          <p:cNvPr id="4" name="alert email screenshot" descr="preencoded.png">    </p:cNvPr>
          <p:cNvPicPr>
            <a:picLocks noChangeAspect="1"/>
          </p:cNvPicPr>
          <p:nvPr/>
        </p:nvPicPr>
        <p:blipFill>
          <a:blip r:embed="rId1"/>
          <a:stretch>
            <a:fillRect/>
          </a:stretch>
        </p:blipFill>
        <p:spPr>
          <a:xfrm>
            <a:off x="548640" y="1371600"/>
            <a:ext cx="5394960" cy="4373187"/>
          </a:xfrm>
          <a:prstGeom prst="rect">
            <a:avLst/>
          </a:prstGeom>
        </p:spPr>
      </p:pic>
      <p:sp>
        <p:nvSpPr>
          <p:cNvPr id="5" name="alert step 1"/>
          <p:cNvSpPr/>
          <p:nvPr/>
        </p:nvSpPr>
        <p:spPr>
          <a:xfrm>
            <a:off x="6400800" y="1463040"/>
            <a:ext cx="548640" cy="548640"/>
          </a:xfrm>
          <a:prstGeom prst="ellipse">
            <a:avLst/>
          </a:prstGeom>
          <a:solidFill>
            <a:srgbClr val="D03B3B"/>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3"/>
          <p:cNvSpPr txBox="1"/>
          <p:nvPr/>
        </p:nvSpPr>
        <p:spPr>
          <a:xfrm>
            <a:off x="7178040" y="1444752"/>
            <a:ext cx="4480560" cy="347472"/>
          </a:xfrm>
          <a:prstGeom prst="rect">
            <a:avLst/>
          </a:prstGeom>
          <a:noFill/>
          <a:ln/>
        </p:spPr>
        <p:txBody>
          <a:bodyPr wrap="square" lIns="0" tIns="0" rIns="0" bIns="0" rtlCol="0" anchor="t"/>
          <a:lstStyle/>
          <a:p>
            <a:pPr indent="0" marL="0">
              <a:buNone/>
            </a:pPr>
            <a:r>
              <a:rPr lang="en-US" sz="1800" b="1" dirty="0">
                <a:solidFill>
                  <a:schemeClr val="tx2"/>
                </a:solidFill>
              </a:rPr>
              <a:t>ML predicts Critical</a:t>
            </a:r>
            <a:endParaRPr lang="en-US" sz="1800" dirty="0"/>
          </a:p>
        </p:txBody>
      </p:sp>
      <p:sp>
        <p:nvSpPr>
          <p:cNvPr id="7" name="Text 4"/>
          <p:cNvSpPr txBox="1"/>
          <p:nvPr/>
        </p:nvSpPr>
        <p:spPr>
          <a:xfrm>
            <a:off x="7178040" y="1810512"/>
            <a:ext cx="4480560" cy="365760"/>
          </a:xfrm>
          <a:prstGeom prst="rect">
            <a:avLst/>
          </a:prstGeom>
          <a:noFill/>
          <a:ln/>
        </p:spPr>
        <p:txBody>
          <a:bodyPr wrap="square" lIns="0" tIns="0" rIns="0" bIns="0" rtlCol="0" anchor="t"/>
          <a:lstStyle/>
          <a:p>
            <a:pPr indent="0" marL="0">
              <a:buNone/>
            </a:pPr>
            <a:r>
              <a:rPr lang="en-US" sz="1500" dirty="0">
                <a:solidFill>
                  <a:schemeClr val="tx1"/>
                </a:solidFill>
              </a:rPr>
              <a:t>for a newly detected bug</a:t>
            </a:r>
            <a:endParaRPr lang="en-US" sz="1500" dirty="0"/>
          </a:p>
        </p:txBody>
      </p:sp>
      <p:sp>
        <p:nvSpPr>
          <p:cNvPr id="8" name="arrow"/>
          <p:cNvSpPr/>
          <p:nvPr/>
        </p:nvSpPr>
        <p:spPr>
          <a:xfrm>
            <a:off x="6675120" y="2057400"/>
            <a:ext cx="0" cy="548640"/>
          </a:xfrm>
          <a:prstGeom prst="line">
            <a:avLst/>
          </a:prstGeom>
          <a:noFill/>
          <a:ln w="25400">
            <a:solidFill>
              <a:srgbClr val="5B6472"/>
            </a:solidFill>
            <a:prstDash val="solid"/>
            <a:tailEnd type="triangle"/>
          </a:ln>
        </p:spPr>
      </p:sp>
      <p:sp>
        <p:nvSpPr>
          <p:cNvPr id="9" name="alert step 2"/>
          <p:cNvSpPr/>
          <p:nvPr/>
        </p:nvSpPr>
        <p:spPr>
          <a:xfrm>
            <a:off x="6400800" y="2697480"/>
            <a:ext cx="548640" cy="548640"/>
          </a:xfrm>
          <a:prstGeom prst="ellipse">
            <a:avLst/>
          </a:prstGeom>
          <a:solidFill>
            <a:srgbClr val="D03B3B"/>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7"/>
          <p:cNvSpPr txBox="1"/>
          <p:nvPr/>
        </p:nvSpPr>
        <p:spPr>
          <a:xfrm>
            <a:off x="7178040" y="2679192"/>
            <a:ext cx="4480560" cy="347472"/>
          </a:xfrm>
          <a:prstGeom prst="rect">
            <a:avLst/>
          </a:prstGeom>
          <a:noFill/>
          <a:ln/>
        </p:spPr>
        <p:txBody>
          <a:bodyPr wrap="square" lIns="0" tIns="0" rIns="0" bIns="0" rtlCol="0" anchor="t"/>
          <a:lstStyle/>
          <a:p>
            <a:pPr indent="0" marL="0">
              <a:buNone/>
            </a:pPr>
            <a:r>
              <a:rPr lang="en-US" sz="1800" b="1" dirty="0">
                <a:solidFill>
                  <a:schemeClr val="tx2"/>
                </a:solidFill>
              </a:rPr>
              <a:t>Nodemailer sends the email</a:t>
            </a:r>
            <a:endParaRPr lang="en-US" sz="1800" dirty="0"/>
          </a:p>
        </p:txBody>
      </p:sp>
      <p:sp>
        <p:nvSpPr>
          <p:cNvPr id="11" name="Text 8"/>
          <p:cNvSpPr txBox="1"/>
          <p:nvPr/>
        </p:nvSpPr>
        <p:spPr>
          <a:xfrm>
            <a:off x="7178040" y="3044952"/>
            <a:ext cx="4480560" cy="365760"/>
          </a:xfrm>
          <a:prstGeom prst="rect">
            <a:avLst/>
          </a:prstGeom>
          <a:noFill/>
          <a:ln/>
        </p:spPr>
        <p:txBody>
          <a:bodyPr wrap="square" lIns="0" tIns="0" rIns="0" bIns="0" rtlCol="0" anchor="t"/>
          <a:lstStyle/>
          <a:p>
            <a:pPr indent="0" marL="0">
              <a:buNone/>
            </a:pPr>
            <a:r>
              <a:rPr lang="en-US" sz="1500" dirty="0">
                <a:solidFill>
                  <a:schemeClr val="tx1"/>
                </a:solidFill>
              </a:rPr>
              <a:t>SMTP, e.g. Gmail with an App Password</a:t>
            </a:r>
            <a:endParaRPr lang="en-US" sz="1500" dirty="0"/>
          </a:p>
        </p:txBody>
      </p:sp>
      <p:sp>
        <p:nvSpPr>
          <p:cNvPr id="12" name="arrow"/>
          <p:cNvSpPr/>
          <p:nvPr/>
        </p:nvSpPr>
        <p:spPr>
          <a:xfrm>
            <a:off x="6675120" y="3291840"/>
            <a:ext cx="0" cy="548640"/>
          </a:xfrm>
          <a:prstGeom prst="line">
            <a:avLst/>
          </a:prstGeom>
          <a:noFill/>
          <a:ln w="25400">
            <a:solidFill>
              <a:srgbClr val="5B6472"/>
            </a:solidFill>
            <a:prstDash val="solid"/>
            <a:tailEnd type="triangle"/>
          </a:ln>
        </p:spPr>
      </p:sp>
      <p:sp>
        <p:nvSpPr>
          <p:cNvPr id="13" name="alert step 3"/>
          <p:cNvSpPr/>
          <p:nvPr/>
        </p:nvSpPr>
        <p:spPr>
          <a:xfrm>
            <a:off x="6400800" y="3931920"/>
            <a:ext cx="548640" cy="548640"/>
          </a:xfrm>
          <a:prstGeom prst="ellipse">
            <a:avLst/>
          </a:prstGeom>
          <a:solidFill>
            <a:srgbClr val="D03B3B"/>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7178040" y="3913632"/>
            <a:ext cx="4480560" cy="347472"/>
          </a:xfrm>
          <a:prstGeom prst="rect">
            <a:avLst/>
          </a:prstGeom>
          <a:noFill/>
          <a:ln/>
        </p:spPr>
        <p:txBody>
          <a:bodyPr wrap="square" lIns="0" tIns="0" rIns="0" bIns="0" rtlCol="0" anchor="t"/>
          <a:lstStyle/>
          <a:p>
            <a:pPr indent="0" marL="0">
              <a:buNone/>
            </a:pPr>
            <a:r>
              <a:rPr lang="en-US" sz="1800" b="1" dirty="0">
                <a:solidFill>
                  <a:schemeClr val="tx2"/>
                </a:solidFill>
              </a:rPr>
              <a:t>Team is notified</a:t>
            </a:r>
            <a:endParaRPr lang="en-US" sz="1800" dirty="0"/>
          </a:p>
        </p:txBody>
      </p:sp>
      <p:sp>
        <p:nvSpPr>
          <p:cNvPr id="15" name="Text 12"/>
          <p:cNvSpPr txBox="1"/>
          <p:nvPr/>
        </p:nvSpPr>
        <p:spPr>
          <a:xfrm>
            <a:off x="7178040" y="4279392"/>
            <a:ext cx="4480560" cy="365760"/>
          </a:xfrm>
          <a:prstGeom prst="rect">
            <a:avLst/>
          </a:prstGeom>
          <a:noFill/>
          <a:ln/>
        </p:spPr>
        <p:txBody>
          <a:bodyPr wrap="square" lIns="0" tIns="0" rIns="0" bIns="0" rtlCol="0" anchor="t"/>
          <a:lstStyle/>
          <a:p>
            <a:pPr indent="0" marL="0">
              <a:buNone/>
            </a:pPr>
            <a:r>
              <a:rPr lang="en-US" sz="1500" dirty="0">
                <a:solidFill>
                  <a:schemeClr val="tx1"/>
                </a:solidFill>
              </a:rPr>
              <a:t>details, dashboard link, screenshot attached</a:t>
            </a:r>
            <a:endParaRPr lang="en-US" sz="1500" dirty="0"/>
          </a:p>
        </p:txBody>
      </p:sp>
      <p:sp>
        <p:nvSpPr>
          <p:cNvPr id="16" name="alert notes"/>
          <p:cNvSpPr/>
          <p:nvPr/>
        </p:nvSpPr>
        <p:spPr>
          <a:xfrm>
            <a:off x="6400800" y="5166360"/>
            <a:ext cx="5239512" cy="1005840"/>
          </a:xfrm>
          <a:prstGeom prst="roundRect">
            <a:avLst>
              <a:gd name="adj" fmla="val 10909"/>
            </a:avLst>
          </a:prstGeom>
          <a:solidFill>
            <a:schemeClr val="bg2"/>
          </a:solidFill>
          <a:ln/>
        </p:spPr>
      </p:sp>
      <p:sp>
        <p:nvSpPr>
          <p:cNvPr id="17" name="Text 14"/>
          <p:cNvSpPr txBox="1"/>
          <p:nvPr/>
        </p:nvSpPr>
        <p:spPr>
          <a:xfrm>
            <a:off x="6629400" y="5303520"/>
            <a:ext cx="4846320" cy="7772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Sent once per new Critical bug, never again for repeats</a:t>
            </a:r>
            <a:endParaRPr lang="en-US" sz="1400" dirty="0"/>
          </a:p>
          <a:p>
            <a:pPr marL="342900" indent="-342900">
              <a:spcAft>
                <a:spcPts val="300"/>
              </a:spcAft>
              <a:buSzPct val="100000"/>
              <a:buChar char="•"/>
            </a:pPr>
            <a:r>
              <a:rPr lang="en-US" sz="1400" dirty="0">
                <a:solidFill>
                  <a:schemeClr val="tx1"/>
                </a:solidFill>
              </a:rPr>
              <a:t>No SMTP configured: saved as HTML preview in reports/alerts/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Objective 8: end-to-end pipeline results</a:t>
            </a:r>
            <a:endParaRPr lang="en-US" sz="3000" dirty="0"/>
          </a:p>
        </p:txBody>
      </p:sp>
      <p:sp>
        <p:nvSpPr>
          <p:cNvPr id="3" name="result test executions in 6 runs"/>
          <p:cNvSpPr/>
          <p:nvPr/>
        </p:nvSpPr>
        <p:spPr>
          <a:xfrm>
            <a:off x="548640" y="1371600"/>
            <a:ext cx="2514600" cy="1463040"/>
          </a:xfrm>
          <a:prstGeom prst="roundRect">
            <a:avLst>
              <a:gd name="adj" fmla="val 7500"/>
            </a:avLst>
          </a:prstGeom>
          <a:solidFill>
            <a:schemeClr val="bg2"/>
          </a:solidFill>
          <a:ln/>
        </p:spPr>
      </p:sp>
      <p:sp>
        <p:nvSpPr>
          <p:cNvPr id="4" name="Text 2"/>
          <p:cNvSpPr txBox="1"/>
          <p:nvPr/>
        </p:nvSpPr>
        <p:spPr>
          <a:xfrm>
            <a:off x="777240" y="1508760"/>
            <a:ext cx="2103120" cy="731520"/>
          </a:xfrm>
          <a:prstGeom prst="rect">
            <a:avLst/>
          </a:prstGeom>
          <a:noFill/>
          <a:ln/>
        </p:spPr>
        <p:txBody>
          <a:bodyPr wrap="square" lIns="0" tIns="0" rIns="0" bIns="0" rtlCol="0" anchor="t"/>
          <a:lstStyle/>
          <a:p>
            <a:pPr indent="0" marL="0">
              <a:buNone/>
            </a:pPr>
            <a:r>
              <a:rPr lang="en-US" sz="3800" b="1" dirty="0">
                <a:solidFill>
                  <a:schemeClr val="tx2"/>
                </a:solidFill>
                <a:latin typeface="Arial" pitchFamily="34" charset="0"/>
                <a:ea typeface="Arial" pitchFamily="34" charset="-122"/>
                <a:cs typeface="Arial" pitchFamily="34" charset="-120"/>
              </a:rPr>
              <a:t>96</a:t>
            </a:r>
            <a:endParaRPr lang="en-US" sz="3800" dirty="0"/>
          </a:p>
        </p:txBody>
      </p:sp>
      <p:sp>
        <p:nvSpPr>
          <p:cNvPr id="5" name="Text 3"/>
          <p:cNvSpPr txBox="1"/>
          <p:nvPr/>
        </p:nvSpPr>
        <p:spPr>
          <a:xfrm>
            <a:off x="777240" y="2240280"/>
            <a:ext cx="2103120" cy="502920"/>
          </a:xfrm>
          <a:prstGeom prst="rect">
            <a:avLst/>
          </a:prstGeom>
          <a:noFill/>
          <a:ln/>
        </p:spPr>
        <p:txBody>
          <a:bodyPr wrap="square" lIns="0" tIns="0" rIns="0" bIns="0" rtlCol="0" anchor="t"/>
          <a:lstStyle/>
          <a:p>
            <a:pPr indent="0" marL="0">
              <a:buNone/>
            </a:pPr>
            <a:r>
              <a:rPr lang="en-US" sz="1400" dirty="0">
                <a:solidFill>
                  <a:schemeClr val="tx1"/>
                </a:solidFill>
              </a:rPr>
              <a:t>test executions in 6 runs</a:t>
            </a:r>
            <a:endParaRPr lang="en-US" sz="1400" dirty="0"/>
          </a:p>
        </p:txBody>
      </p:sp>
      <p:sp>
        <p:nvSpPr>
          <p:cNvPr id="6" name="result unique bugs logged automatically"/>
          <p:cNvSpPr/>
          <p:nvPr/>
        </p:nvSpPr>
        <p:spPr>
          <a:xfrm>
            <a:off x="3246120" y="1371600"/>
            <a:ext cx="2514600" cy="1463040"/>
          </a:xfrm>
          <a:prstGeom prst="roundRect">
            <a:avLst>
              <a:gd name="adj" fmla="val 7500"/>
            </a:avLst>
          </a:prstGeom>
          <a:solidFill>
            <a:schemeClr val="bg2"/>
          </a:solidFill>
          <a:ln/>
        </p:spPr>
      </p:sp>
      <p:sp>
        <p:nvSpPr>
          <p:cNvPr id="7" name="Text 5"/>
          <p:cNvSpPr txBox="1"/>
          <p:nvPr/>
        </p:nvSpPr>
        <p:spPr>
          <a:xfrm>
            <a:off x="3474720" y="1508760"/>
            <a:ext cx="2103120" cy="731520"/>
          </a:xfrm>
          <a:prstGeom prst="rect">
            <a:avLst/>
          </a:prstGeom>
          <a:noFill/>
          <a:ln/>
        </p:spPr>
        <p:txBody>
          <a:bodyPr wrap="square" lIns="0" tIns="0" rIns="0" bIns="0" rtlCol="0" anchor="t"/>
          <a:lstStyle/>
          <a:p>
            <a:pPr indent="0" marL="0">
              <a:buNone/>
            </a:pPr>
            <a:r>
              <a:rPr lang="en-US" sz="3800" b="1" dirty="0">
                <a:solidFill>
                  <a:schemeClr val="tx2"/>
                </a:solidFill>
                <a:latin typeface="Arial" pitchFamily="34" charset="0"/>
                <a:ea typeface="Arial" pitchFamily="34" charset="-122"/>
                <a:cs typeface="Arial" pitchFamily="34" charset="-120"/>
              </a:rPr>
              <a:t>10</a:t>
            </a:r>
            <a:endParaRPr lang="en-US" sz="3800" dirty="0"/>
          </a:p>
        </p:txBody>
      </p:sp>
      <p:sp>
        <p:nvSpPr>
          <p:cNvPr id="8" name="Text 6"/>
          <p:cNvSpPr txBox="1"/>
          <p:nvPr/>
        </p:nvSpPr>
        <p:spPr>
          <a:xfrm>
            <a:off x="3474720" y="2240280"/>
            <a:ext cx="2103120" cy="502920"/>
          </a:xfrm>
          <a:prstGeom prst="rect">
            <a:avLst/>
          </a:prstGeom>
          <a:noFill/>
          <a:ln/>
        </p:spPr>
        <p:txBody>
          <a:bodyPr wrap="square" lIns="0" tIns="0" rIns="0" bIns="0" rtlCol="0" anchor="t"/>
          <a:lstStyle/>
          <a:p>
            <a:pPr indent="0" marL="0">
              <a:buNone/>
            </a:pPr>
            <a:r>
              <a:rPr lang="en-US" sz="1400" dirty="0">
                <a:solidFill>
                  <a:schemeClr val="tx1"/>
                </a:solidFill>
              </a:rPr>
              <a:t>unique bugs logged automatically</a:t>
            </a:r>
            <a:endParaRPr lang="en-US" sz="1400" dirty="0"/>
          </a:p>
        </p:txBody>
      </p:sp>
      <p:sp>
        <p:nvSpPr>
          <p:cNvPr id="9" name="result manual bug reports written"/>
          <p:cNvSpPr/>
          <p:nvPr/>
        </p:nvSpPr>
        <p:spPr>
          <a:xfrm>
            <a:off x="548640" y="3017520"/>
            <a:ext cx="2514600" cy="1463040"/>
          </a:xfrm>
          <a:prstGeom prst="roundRect">
            <a:avLst>
              <a:gd name="adj" fmla="val 7500"/>
            </a:avLst>
          </a:prstGeom>
          <a:solidFill>
            <a:schemeClr val="bg2"/>
          </a:solidFill>
          <a:ln/>
        </p:spPr>
      </p:sp>
      <p:sp>
        <p:nvSpPr>
          <p:cNvPr id="10" name="Text 8"/>
          <p:cNvSpPr txBox="1"/>
          <p:nvPr/>
        </p:nvSpPr>
        <p:spPr>
          <a:xfrm>
            <a:off x="777240" y="3154680"/>
            <a:ext cx="2103120" cy="731520"/>
          </a:xfrm>
          <a:prstGeom prst="rect">
            <a:avLst/>
          </a:prstGeom>
          <a:noFill/>
          <a:ln/>
        </p:spPr>
        <p:txBody>
          <a:bodyPr wrap="square" lIns="0" tIns="0" rIns="0" bIns="0" rtlCol="0" anchor="t"/>
          <a:lstStyle/>
          <a:p>
            <a:pPr indent="0" marL="0">
              <a:buNone/>
            </a:pPr>
            <a:r>
              <a:rPr lang="en-US" sz="3800" b="1" dirty="0">
                <a:solidFill>
                  <a:schemeClr val="tx2"/>
                </a:solidFill>
                <a:latin typeface="Arial" pitchFamily="34" charset="0"/>
                <a:ea typeface="Arial" pitchFamily="34" charset="-122"/>
                <a:cs typeface="Arial" pitchFamily="34" charset="-120"/>
              </a:rPr>
              <a:t>0</a:t>
            </a:r>
            <a:endParaRPr lang="en-US" sz="3800" dirty="0"/>
          </a:p>
        </p:txBody>
      </p:sp>
      <p:sp>
        <p:nvSpPr>
          <p:cNvPr id="11" name="Text 9"/>
          <p:cNvSpPr txBox="1"/>
          <p:nvPr/>
        </p:nvSpPr>
        <p:spPr>
          <a:xfrm>
            <a:off x="777240" y="3886200"/>
            <a:ext cx="2103120" cy="502920"/>
          </a:xfrm>
          <a:prstGeom prst="rect">
            <a:avLst/>
          </a:prstGeom>
          <a:noFill/>
          <a:ln/>
        </p:spPr>
        <p:txBody>
          <a:bodyPr wrap="square" lIns="0" tIns="0" rIns="0" bIns="0" rtlCol="0" anchor="t"/>
          <a:lstStyle/>
          <a:p>
            <a:pPr indent="0" marL="0">
              <a:buNone/>
            </a:pPr>
            <a:r>
              <a:rPr lang="en-US" sz="1400" dirty="0">
                <a:solidFill>
                  <a:schemeClr val="tx1"/>
                </a:solidFill>
              </a:rPr>
              <a:t>manual bug reports written</a:t>
            </a:r>
            <a:endParaRPr lang="en-US" sz="1400" dirty="0"/>
          </a:p>
        </p:txBody>
      </p:sp>
      <p:sp>
        <p:nvSpPr>
          <p:cNvPr id="12" name="result severities predicted correctly"/>
          <p:cNvSpPr/>
          <p:nvPr/>
        </p:nvSpPr>
        <p:spPr>
          <a:xfrm>
            <a:off x="3246120" y="3017520"/>
            <a:ext cx="2514600" cy="1463040"/>
          </a:xfrm>
          <a:prstGeom prst="roundRect">
            <a:avLst>
              <a:gd name="adj" fmla="val 7500"/>
            </a:avLst>
          </a:prstGeom>
          <a:solidFill>
            <a:schemeClr val="bg2"/>
          </a:solidFill>
          <a:ln/>
        </p:spPr>
      </p:sp>
      <p:sp>
        <p:nvSpPr>
          <p:cNvPr id="13" name="Text 11"/>
          <p:cNvSpPr txBox="1"/>
          <p:nvPr/>
        </p:nvSpPr>
        <p:spPr>
          <a:xfrm>
            <a:off x="3474720" y="3154680"/>
            <a:ext cx="2103120" cy="731520"/>
          </a:xfrm>
          <a:prstGeom prst="rect">
            <a:avLst/>
          </a:prstGeom>
          <a:noFill/>
          <a:ln/>
        </p:spPr>
        <p:txBody>
          <a:bodyPr wrap="square" lIns="0" tIns="0" rIns="0" bIns="0" rtlCol="0" anchor="t"/>
          <a:lstStyle/>
          <a:p>
            <a:pPr indent="0" marL="0">
              <a:buNone/>
            </a:pPr>
            <a:r>
              <a:rPr lang="en-US" sz="3800" b="1" dirty="0">
                <a:solidFill>
                  <a:schemeClr val="tx2"/>
                </a:solidFill>
                <a:latin typeface="Arial" pitchFamily="34" charset="0"/>
                <a:ea typeface="Arial" pitchFamily="34" charset="-122"/>
                <a:cs typeface="Arial" pitchFamily="34" charset="-120"/>
              </a:rPr>
              <a:t>10/10</a:t>
            </a:r>
            <a:endParaRPr lang="en-US" sz="3800" dirty="0"/>
          </a:p>
        </p:txBody>
      </p:sp>
      <p:sp>
        <p:nvSpPr>
          <p:cNvPr id="14" name="Text 12"/>
          <p:cNvSpPr txBox="1"/>
          <p:nvPr/>
        </p:nvSpPr>
        <p:spPr>
          <a:xfrm>
            <a:off x="3474720" y="3886200"/>
            <a:ext cx="2103120" cy="502920"/>
          </a:xfrm>
          <a:prstGeom prst="rect">
            <a:avLst/>
          </a:prstGeom>
          <a:noFill/>
          <a:ln/>
        </p:spPr>
        <p:txBody>
          <a:bodyPr wrap="square" lIns="0" tIns="0" rIns="0" bIns="0" rtlCol="0" anchor="t"/>
          <a:lstStyle/>
          <a:p>
            <a:pPr indent="0" marL="0">
              <a:buNone/>
            </a:pPr>
            <a:r>
              <a:rPr lang="en-US" sz="1400" dirty="0">
                <a:solidFill>
                  <a:schemeClr val="tx1"/>
                </a:solidFill>
              </a:rPr>
              <a:t>severities predicted correctly</a:t>
            </a:r>
            <a:endParaRPr lang="en-US" sz="1400" dirty="0"/>
          </a:p>
        </p:txBody>
      </p:sp>
      <p:sp>
        <p:nvSpPr>
          <p:cNvPr id="15" name="result flaky tests detected"/>
          <p:cNvSpPr/>
          <p:nvPr/>
        </p:nvSpPr>
        <p:spPr>
          <a:xfrm>
            <a:off x="548640" y="4663440"/>
            <a:ext cx="2514600" cy="1463040"/>
          </a:xfrm>
          <a:prstGeom prst="roundRect">
            <a:avLst>
              <a:gd name="adj" fmla="val 7500"/>
            </a:avLst>
          </a:prstGeom>
          <a:solidFill>
            <a:schemeClr val="bg2"/>
          </a:solidFill>
          <a:ln/>
        </p:spPr>
      </p:sp>
      <p:sp>
        <p:nvSpPr>
          <p:cNvPr id="16" name="Text 14"/>
          <p:cNvSpPr txBox="1"/>
          <p:nvPr/>
        </p:nvSpPr>
        <p:spPr>
          <a:xfrm>
            <a:off x="777240" y="4800600"/>
            <a:ext cx="2103120" cy="731520"/>
          </a:xfrm>
          <a:prstGeom prst="rect">
            <a:avLst/>
          </a:prstGeom>
          <a:noFill/>
          <a:ln/>
        </p:spPr>
        <p:txBody>
          <a:bodyPr wrap="square" lIns="0" tIns="0" rIns="0" bIns="0" rtlCol="0" anchor="t"/>
          <a:lstStyle/>
          <a:p>
            <a:pPr indent="0" marL="0">
              <a:buNone/>
            </a:pPr>
            <a:r>
              <a:rPr lang="en-US" sz="3800" b="1" dirty="0">
                <a:solidFill>
                  <a:schemeClr val="tx2"/>
                </a:solidFill>
                <a:latin typeface="Arial" pitchFamily="34" charset="0"/>
                <a:ea typeface="Arial" pitchFamily="34" charset="-122"/>
                <a:cs typeface="Arial" pitchFamily="34" charset="-120"/>
              </a:rPr>
              <a:t>2</a:t>
            </a:r>
            <a:endParaRPr lang="en-US" sz="3800" dirty="0"/>
          </a:p>
        </p:txBody>
      </p:sp>
      <p:sp>
        <p:nvSpPr>
          <p:cNvPr id="17" name="Text 15"/>
          <p:cNvSpPr txBox="1"/>
          <p:nvPr/>
        </p:nvSpPr>
        <p:spPr>
          <a:xfrm>
            <a:off x="777240" y="5532120"/>
            <a:ext cx="2103120" cy="502920"/>
          </a:xfrm>
          <a:prstGeom prst="rect">
            <a:avLst/>
          </a:prstGeom>
          <a:noFill/>
          <a:ln/>
        </p:spPr>
        <p:txBody>
          <a:bodyPr wrap="square" lIns="0" tIns="0" rIns="0" bIns="0" rtlCol="0" anchor="t"/>
          <a:lstStyle/>
          <a:p>
            <a:pPr indent="0" marL="0">
              <a:buNone/>
            </a:pPr>
            <a:r>
              <a:rPr lang="en-US" sz="1400" dirty="0">
                <a:solidFill>
                  <a:schemeClr val="tx1"/>
                </a:solidFill>
              </a:rPr>
              <a:t>flaky tests detected</a:t>
            </a:r>
            <a:endParaRPr lang="en-US" sz="1400" dirty="0"/>
          </a:p>
        </p:txBody>
      </p:sp>
      <p:sp>
        <p:nvSpPr>
          <p:cNvPr id="18" name="result Critical alerts generated"/>
          <p:cNvSpPr/>
          <p:nvPr/>
        </p:nvSpPr>
        <p:spPr>
          <a:xfrm>
            <a:off x="3246120" y="4663440"/>
            <a:ext cx="2514600" cy="1463040"/>
          </a:xfrm>
          <a:prstGeom prst="roundRect">
            <a:avLst>
              <a:gd name="adj" fmla="val 7500"/>
            </a:avLst>
          </a:prstGeom>
          <a:solidFill>
            <a:schemeClr val="bg2"/>
          </a:solidFill>
          <a:ln/>
        </p:spPr>
      </p:sp>
      <p:sp>
        <p:nvSpPr>
          <p:cNvPr id="19" name="Text 17"/>
          <p:cNvSpPr txBox="1"/>
          <p:nvPr/>
        </p:nvSpPr>
        <p:spPr>
          <a:xfrm>
            <a:off x="3474720" y="4800600"/>
            <a:ext cx="2103120" cy="731520"/>
          </a:xfrm>
          <a:prstGeom prst="rect">
            <a:avLst/>
          </a:prstGeom>
          <a:noFill/>
          <a:ln/>
        </p:spPr>
        <p:txBody>
          <a:bodyPr wrap="square" lIns="0" tIns="0" rIns="0" bIns="0" rtlCol="0" anchor="t"/>
          <a:lstStyle/>
          <a:p>
            <a:pPr indent="0" marL="0">
              <a:buNone/>
            </a:pPr>
            <a:r>
              <a:rPr lang="en-US" sz="3800" b="1" dirty="0">
                <a:solidFill>
                  <a:schemeClr val="tx2"/>
                </a:solidFill>
                <a:latin typeface="Arial" pitchFamily="34" charset="0"/>
                <a:ea typeface="Arial" pitchFamily="34" charset="-122"/>
                <a:cs typeface="Arial" pitchFamily="34" charset="-120"/>
              </a:rPr>
              <a:t>3</a:t>
            </a:r>
            <a:endParaRPr lang="en-US" sz="3800" dirty="0"/>
          </a:p>
        </p:txBody>
      </p:sp>
      <p:sp>
        <p:nvSpPr>
          <p:cNvPr id="20" name="Text 18"/>
          <p:cNvSpPr txBox="1"/>
          <p:nvPr/>
        </p:nvSpPr>
        <p:spPr>
          <a:xfrm>
            <a:off x="3474720" y="5532120"/>
            <a:ext cx="2103120" cy="502920"/>
          </a:xfrm>
          <a:prstGeom prst="rect">
            <a:avLst/>
          </a:prstGeom>
          <a:noFill/>
          <a:ln/>
        </p:spPr>
        <p:txBody>
          <a:bodyPr wrap="square" lIns="0" tIns="0" rIns="0" bIns="0" rtlCol="0" anchor="t"/>
          <a:lstStyle/>
          <a:p>
            <a:pPr indent="0" marL="0">
              <a:buNone/>
            </a:pPr>
            <a:r>
              <a:rPr lang="en-US" sz="1400" dirty="0">
                <a:solidFill>
                  <a:schemeClr val="tx1"/>
                </a:solidFill>
              </a:rPr>
              <a:t>Critical alerts generated</a:t>
            </a:r>
            <a:endParaRPr lang="en-US" sz="1400" dirty="0"/>
          </a:p>
        </p:txBody>
      </p:sp>
      <p:graphicFrame>
        <p:nvGraphicFramePr>
          <p:cNvPr id="21" name="runs chart" descr=""/>
          <p:cNvGraphicFramePr/>
          <p:nvPr/>
        </p:nvGraphicFramePr>
        <p:xfrm>
          <a:off x="6035040" y="1371600"/>
          <a:ext cx="5605272" cy="402336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txBox="1"/>
          <p:nvPr/>
        </p:nvSpPr>
        <p:spPr>
          <a:xfrm>
            <a:off x="6035040" y="5532120"/>
            <a:ext cx="5605272" cy="548640"/>
          </a:xfrm>
          <a:prstGeom prst="rect">
            <a:avLst/>
          </a:prstGeom>
          <a:noFill/>
          <a:ln/>
        </p:spPr>
        <p:txBody>
          <a:bodyPr wrap="square" lIns="0" tIns="0" rIns="0" bIns="0" rtlCol="0" anchor="t"/>
          <a:lstStyle/>
          <a:p>
            <a:pPr indent="0" marL="0">
              <a:buNone/>
            </a:pPr>
            <a:r>
              <a:rPr lang="en-US" sz="1400" i="1" dirty="0">
                <a:solidFill>
                  <a:srgbClr val="5B6472"/>
                </a:solidFill>
              </a:rPr>
              <a:t>Failures vary between 8 and 10 per run only because of the 2 flaky tests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Conclusion and future scope</a:t>
            </a:r>
            <a:endParaRPr lang="en-US" sz="3000" dirty="0"/>
          </a:p>
        </p:txBody>
      </p:sp>
      <p:sp>
        <p:nvSpPr>
          <p:cNvPr id="3" name="conclusion card"/>
          <p:cNvSpPr/>
          <p:nvPr/>
        </p:nvSpPr>
        <p:spPr>
          <a:xfrm>
            <a:off x="548640" y="1371600"/>
            <a:ext cx="5394960" cy="4480560"/>
          </a:xfrm>
          <a:prstGeom prst="roundRect">
            <a:avLst>
              <a:gd name="adj" fmla="val 2449"/>
            </a:avLst>
          </a:prstGeom>
          <a:solidFill>
            <a:schemeClr val="bg2"/>
          </a:solidFill>
          <a:ln/>
        </p:spPr>
      </p:sp>
      <p:sp>
        <p:nvSpPr>
          <p:cNvPr id="4" name="icon circle"/>
          <p:cNvSpPr/>
          <p:nvPr/>
        </p:nvSpPr>
        <p:spPr>
          <a:xfrm>
            <a:off x="822960" y="1600200"/>
            <a:ext cx="548640" cy="548640"/>
          </a:xfrm>
          <a:prstGeom prst="ellipse">
            <a:avLst/>
          </a:prstGeom>
          <a:solidFill>
            <a:srgbClr val="1B8E4E"/>
          </a:solidFill>
          <a:ln/>
        </p:spPr>
      </p:sp>
      <p:pic>
        <p:nvPicPr>
          <p:cNvPr id="5" name="FaCheckCircle icon" descr="preencoded.png">    </p:cNvPr>
          <p:cNvPicPr>
            <a:picLocks noChangeAspect="1"/>
          </p:cNvPicPr>
          <p:nvPr/>
        </p:nvPicPr>
        <p:blipFill>
          <a:blip r:embed="rId1"/>
          <a:stretch>
            <a:fillRect/>
          </a:stretch>
        </p:blipFill>
        <p:spPr>
          <a:xfrm>
            <a:off x="960120" y="1737360"/>
            <a:ext cx="274320" cy="274320"/>
          </a:xfrm>
          <a:prstGeom prst="rect">
            <a:avLst/>
          </a:prstGeom>
        </p:spPr>
      </p:pic>
      <p:sp>
        <p:nvSpPr>
          <p:cNvPr id="6" name="Text 3"/>
          <p:cNvSpPr txBox="1"/>
          <p:nvPr/>
        </p:nvSpPr>
        <p:spPr>
          <a:xfrm>
            <a:off x="1554480" y="1673352"/>
            <a:ext cx="4114800" cy="411480"/>
          </a:xfrm>
          <a:prstGeom prst="rect">
            <a:avLst/>
          </a:prstGeom>
          <a:noFill/>
          <a:ln/>
        </p:spPr>
        <p:txBody>
          <a:bodyPr wrap="square" lIns="0" tIns="0" rIns="0" bIns="0" rtlCol="0" anchor="t"/>
          <a:lstStyle/>
          <a:p>
            <a:pPr indent="0" marL="0">
              <a:buNone/>
            </a:pPr>
            <a:r>
              <a:rPr lang="en-US" sz="2000" b="1" dirty="0">
                <a:solidFill>
                  <a:schemeClr val="tx2"/>
                </a:solidFill>
              </a:rPr>
              <a:t>Conclusion</a:t>
            </a:r>
            <a:endParaRPr lang="en-US" sz="2000" dirty="0"/>
          </a:p>
        </p:txBody>
      </p:sp>
      <p:sp>
        <p:nvSpPr>
          <p:cNvPr id="7" name="Text 4"/>
          <p:cNvSpPr txBox="1"/>
          <p:nvPr/>
        </p:nvSpPr>
        <p:spPr>
          <a:xfrm>
            <a:off x="822960" y="2423160"/>
            <a:ext cx="4846320" cy="329184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1"/>
                </a:solidFill>
              </a:rPr>
              <a:t>All 8 objectives implemented and verified</a:t>
            </a:r>
            <a:endParaRPr lang="en-US" sz="1800" dirty="0"/>
          </a:p>
          <a:p>
            <a:pPr marL="342900" indent="-342900">
              <a:spcAft>
                <a:spcPts val="1600"/>
              </a:spcAft>
              <a:buSzPct val="100000"/>
              <a:buChar char="•"/>
            </a:pPr>
            <a:r>
              <a:rPr lang="en-US" sz="1800" dirty="0">
                <a:solidFill>
                  <a:schemeClr val="tx1"/>
                </a:solidFill>
              </a:rPr>
              <a:t>Bug reporting fully automated: zero manual effort</a:t>
            </a:r>
            <a:endParaRPr lang="en-US" sz="1800" dirty="0"/>
          </a:p>
          <a:p>
            <a:pPr marL="342900" indent="-342900">
              <a:spcAft>
                <a:spcPts val="1600"/>
              </a:spcAft>
              <a:buSzPct val="100000"/>
              <a:buChar char="•"/>
            </a:pPr>
            <a:r>
              <a:rPr lang="en-US" sz="1800" dirty="0">
                <a:solidFill>
                  <a:schemeClr val="tx1"/>
                </a:solidFill>
              </a:rPr>
              <a:t>ML severity: 87.2% cross-validated accuracy</a:t>
            </a:r>
            <a:endParaRPr lang="en-US" sz="1800" dirty="0"/>
          </a:p>
          <a:p>
            <a:pPr marL="342900" indent="-342900">
              <a:spcAft>
                <a:spcPts val="1600"/>
              </a:spcAft>
              <a:buSzPct val="100000"/>
              <a:buChar char="•"/>
            </a:pPr>
            <a:r>
              <a:rPr lang="en-US" sz="1800" dirty="0">
                <a:solidFill>
                  <a:schemeClr val="tx1"/>
                </a:solidFill>
              </a:rPr>
              <a:t>Flaky tests separated from real defects</a:t>
            </a:r>
            <a:endParaRPr lang="en-US" sz="1800" dirty="0"/>
          </a:p>
          <a:p>
            <a:pPr marL="342900" indent="-342900">
              <a:spcAft>
                <a:spcPts val="1600"/>
              </a:spcAft>
              <a:buSzPct val="100000"/>
              <a:buChar char="•"/>
            </a:pPr>
            <a:r>
              <a:rPr lang="en-US" sz="1800" dirty="0">
                <a:solidFill>
                  <a:schemeClr val="tx1"/>
                </a:solidFill>
              </a:rPr>
              <a:t>Every bug traceable from test to resolution</a:t>
            </a:r>
            <a:endParaRPr lang="en-US" sz="1800" dirty="0"/>
          </a:p>
        </p:txBody>
      </p:sp>
      <p:sp>
        <p:nvSpPr>
          <p:cNvPr id="8" name="future scope card"/>
          <p:cNvSpPr/>
          <p:nvPr/>
        </p:nvSpPr>
        <p:spPr>
          <a:xfrm>
            <a:off x="6245352" y="1371600"/>
            <a:ext cx="5394960" cy="4480560"/>
          </a:xfrm>
          <a:prstGeom prst="roundRect">
            <a:avLst>
              <a:gd name="adj" fmla="val 2449"/>
            </a:avLst>
          </a:prstGeom>
          <a:solidFill>
            <a:srgbClr val="10243F"/>
          </a:solidFill>
          <a:ln/>
        </p:spPr>
      </p:sp>
      <p:sp>
        <p:nvSpPr>
          <p:cNvPr id="9" name="icon circle"/>
          <p:cNvSpPr/>
          <p:nvPr/>
        </p:nvSpPr>
        <p:spPr>
          <a:xfrm>
            <a:off x="6519672" y="1600200"/>
            <a:ext cx="548640" cy="548640"/>
          </a:xfrm>
          <a:prstGeom prst="ellipse">
            <a:avLst/>
          </a:prstGeom>
          <a:solidFill>
            <a:srgbClr val="D03B3B"/>
          </a:solidFill>
          <a:ln/>
        </p:spPr>
      </p:sp>
      <p:pic>
        <p:nvPicPr>
          <p:cNvPr id="10" name="FaRocket icon" descr="preencoded.png">    </p:cNvPr>
          <p:cNvPicPr>
            <a:picLocks noChangeAspect="1"/>
          </p:cNvPicPr>
          <p:nvPr/>
        </p:nvPicPr>
        <p:blipFill>
          <a:blip r:embed="rId2"/>
          <a:stretch>
            <a:fillRect/>
          </a:stretch>
        </p:blipFill>
        <p:spPr>
          <a:xfrm>
            <a:off x="6656832" y="1737360"/>
            <a:ext cx="274320" cy="274320"/>
          </a:xfrm>
          <a:prstGeom prst="rect">
            <a:avLst/>
          </a:prstGeom>
        </p:spPr>
      </p:pic>
      <p:sp>
        <p:nvSpPr>
          <p:cNvPr id="11" name="Text 7"/>
          <p:cNvSpPr txBox="1"/>
          <p:nvPr/>
        </p:nvSpPr>
        <p:spPr>
          <a:xfrm>
            <a:off x="7251192" y="1673352"/>
            <a:ext cx="4114800" cy="411480"/>
          </a:xfrm>
          <a:prstGeom prst="rect">
            <a:avLst/>
          </a:prstGeom>
          <a:noFill/>
          <a:ln/>
        </p:spPr>
        <p:txBody>
          <a:bodyPr wrap="square" lIns="0" tIns="0" rIns="0" bIns="0" rtlCol="0" anchor="t"/>
          <a:lstStyle/>
          <a:p>
            <a:pPr indent="0" marL="0">
              <a:buNone/>
            </a:pPr>
            <a:r>
              <a:rPr lang="en-US" sz="2000" b="1" dirty="0">
                <a:solidFill>
                  <a:schemeClr val="bg1"/>
                </a:solidFill>
              </a:rPr>
              <a:t>Future scope</a:t>
            </a:r>
            <a:endParaRPr lang="en-US" sz="2000" dirty="0"/>
          </a:p>
        </p:txBody>
      </p:sp>
      <p:sp>
        <p:nvSpPr>
          <p:cNvPr id="12" name="Text 8"/>
          <p:cNvSpPr txBox="1"/>
          <p:nvPr/>
        </p:nvSpPr>
        <p:spPr>
          <a:xfrm>
            <a:off x="6519672" y="2423160"/>
            <a:ext cx="4846320" cy="329184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bg1"/>
                </a:solidFill>
              </a:rPr>
              <a:t>Larger real-world dataset; compare SVM, logistic regression, transformers</a:t>
            </a:r>
            <a:endParaRPr lang="en-US" sz="1800" dirty="0"/>
          </a:p>
          <a:p>
            <a:pPr marL="342900" indent="-342900">
              <a:spcAft>
                <a:spcPts val="1600"/>
              </a:spcAft>
              <a:buSzPct val="100000"/>
              <a:buChar char="•"/>
            </a:pPr>
            <a:r>
              <a:rPr lang="en-US" sz="1800" dirty="0">
                <a:solidFill>
                  <a:schemeClr val="bg1"/>
                </a:solidFill>
              </a:rPr>
              <a:t>Automatic Jira / GitHub Issues tickets</a:t>
            </a:r>
            <a:endParaRPr lang="en-US" sz="1800" dirty="0"/>
          </a:p>
          <a:p>
            <a:pPr marL="342900" indent="-342900">
              <a:spcAft>
                <a:spcPts val="1600"/>
              </a:spcAft>
              <a:buSzPct val="100000"/>
              <a:buChar char="•"/>
            </a:pPr>
            <a:r>
              <a:rPr lang="en-US" sz="1800" dirty="0">
                <a:solidFill>
                  <a:schemeClr val="bg1"/>
                </a:solidFill>
              </a:rPr>
              <a:t>Slack / Teams notifications</a:t>
            </a:r>
            <a:endParaRPr lang="en-US" sz="1800" dirty="0"/>
          </a:p>
          <a:p>
            <a:pPr marL="342900" indent="-342900">
              <a:spcAft>
                <a:spcPts val="1600"/>
              </a:spcAft>
              <a:buSzPct val="100000"/>
              <a:buChar char="•"/>
            </a:pPr>
            <a:r>
              <a:rPr lang="en-US" sz="1800" dirty="0">
                <a:solidFill>
                  <a:schemeClr val="bg1"/>
                </a:solidFill>
              </a:rPr>
              <a:t>CI/CD integration (GitHub Actions)</a:t>
            </a:r>
            <a:endParaRPr lang="en-US" sz="1800" dirty="0"/>
          </a:p>
          <a:p>
            <a:pPr marL="342900" indent="-342900">
              <a:spcAft>
                <a:spcPts val="1600"/>
              </a:spcAft>
              <a:buSzPct val="100000"/>
              <a:buChar char="•"/>
            </a:pPr>
            <a:r>
              <a:rPr lang="en-US" sz="1800" dirty="0">
                <a:solidFill>
                  <a:schemeClr val="bg1"/>
                </a:solidFill>
              </a:rPr>
              <a:t>Clustering similar failures for root cause</a:t>
            </a:r>
            <a:endParaRPr lang="en-US" sz="18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2011680"/>
          </a:xfrm>
          <a:prstGeom prst="rect">
            <a:avLst/>
          </a:prstGeom>
          <a:noFill/>
          <a:ln/>
        </p:spPr>
        <p:txBody>
          <a:bodyPr wrap="square" lIns="0" tIns="0" rIns="0" bIns="0" rtlCol="0" anchor="b"/>
          <a:lstStyle/>
          <a:p>
            <a:pPr algn="l" indent="0" marL="0">
              <a:buNone/>
            </a:pPr>
            <a:r>
              <a:rPr lang="en-US" sz="3600" b="1" dirty="0">
                <a:solidFill>
                  <a:schemeClr val="bg1"/>
                </a:solidFill>
              </a:rPr>
              <a:t>Thank you</a:t>
            </a:r>
            <a:endParaRPr lang="en-US" sz="3600" dirty="0"/>
          </a:p>
        </p:txBody>
      </p:sp>
      <p:sp>
        <p:nvSpPr>
          <p:cNvPr id="3" name="Text 0"/>
          <p:cNvSpPr/>
          <p:nvPr>
            <p:ph idx="101" type="body" hasCustomPrompt="1"/>
          </p:nvPr>
        </p:nvSpPr>
        <p:spPr>
          <a:xfrm>
            <a:off x="731520" y="3931920"/>
            <a:ext cx="10698480" cy="548640"/>
          </a:xfrm>
          <a:prstGeom prst="rect">
            <a:avLst/>
          </a:prstGeom>
          <a:noFill/>
          <a:ln/>
        </p:spPr>
        <p:txBody>
          <a:bodyPr wrap="square" lIns="0" tIns="0" rIns="0" bIns="0" rtlCol="0" anchor="t"/>
          <a:lstStyle/>
          <a:p>
            <a:pPr algn="l" indent="0" marL="0">
              <a:buNone/>
            </a:pPr>
            <a:r>
              <a:rPr lang="en-US" sz="2000" dirty="0">
                <a:solidFill>
                  <a:srgbClr val="CADCFC"/>
                </a:solidFill>
              </a:rPr>
              <a:t>Questions?</a:t>
            </a:r>
            <a:endParaRPr lang="en-US" sz="2000" dirty="0"/>
          </a:p>
        </p:txBody>
      </p:sp>
      <p:sp>
        <p:nvSpPr>
          <p:cNvPr id="4" name="Text 0"/>
          <p:cNvSpPr/>
          <p:nvPr>
            <p:ph idx="102" type="body" hasCustomPrompt="1"/>
          </p:nvPr>
        </p:nvSpPr>
        <p:spPr>
          <a:xfrm>
            <a:off x="731520" y="5120640"/>
            <a:ext cx="10698480" cy="1005840"/>
          </a:xfrm>
          <a:prstGeom prst="rect">
            <a:avLst/>
          </a:prstGeom>
          <a:noFill/>
          <a:ln/>
        </p:spPr>
        <p:txBody>
          <a:bodyPr wrap="square" lIns="0" tIns="0" rIns="0" bIns="0" rtlCol="0" anchor="t"/>
          <a:lstStyle/>
          <a:p>
            <a:pPr algn="l" indent="0" marL="0">
              <a:buNone/>
            </a:pPr>
            <a:r>
              <a:rPr lang="en-US" sz="1600" dirty="0">
                <a:solidFill>
                  <a:schemeClr val="bg1"/>
                </a:solidFill>
              </a:rPr>
              <a:t>Live demo:  npm run pipeline   →   npm run dashboard</a:t>
            </a:r>
            <a:endParaRPr lang="en-US" sz="1600" dirty="0"/>
          </a:p>
          <a:p>
            <a:pPr algn="l" indent="0" marL="0">
              <a:buNone/>
            </a:pPr>
            <a:r>
              <a:rPr lang="en-US" sz="1600" dirty="0">
                <a:solidFill>
                  <a:schemeClr val="bg1"/>
                </a:solidFill>
              </a:rPr>
              <a:t>Source code: github.com/AngshumanRay/playwright-ml-bug-reporter</a:t>
            </a:r>
            <a:endParaRPr lang="en-US" sz="1600" dirty="0"/>
          </a:p>
        </p:txBody>
      </p:sp>
      <p:sp>
        <p:nvSpPr>
          <p:cNvPr id="5" name="icon circle"/>
          <p:cNvSpPr/>
          <p:nvPr/>
        </p:nvSpPr>
        <p:spPr>
          <a:xfrm>
            <a:off x="731520" y="731520"/>
            <a:ext cx="822960" cy="822960"/>
          </a:xfrm>
          <a:prstGeom prst="ellipse">
            <a:avLst/>
          </a:prstGeom>
          <a:solidFill>
            <a:srgbClr val="D03B3B"/>
          </a:solidFill>
          <a:ln/>
        </p:spPr>
      </p:sp>
      <p:pic>
        <p:nvPicPr>
          <p:cNvPr id="6" name="FaBug icon" descr="preencoded.png">    </p:cNvPr>
          <p:cNvPicPr>
            <a:picLocks noChangeAspect="1"/>
          </p:cNvPicPr>
          <p:nvPr/>
        </p:nvPicPr>
        <p:blipFill>
          <a:blip r:embed="rId1"/>
          <a:stretch>
            <a:fillRect/>
          </a:stretch>
        </p:blipFill>
        <p:spPr>
          <a:xfrm>
            <a:off x="937260" y="937260"/>
            <a:ext cx="411480" cy="411480"/>
          </a:xfrm>
          <a:prstGeom prst="rect">
            <a:avLst/>
          </a:prstGeom>
        </p:spPr>
      </p:pic>
    </p:spTree>
  </p:cSld>
  <p:clrMapOvr>
    <a:masterClrMapping/>
  </p:clrMapOvr>
</p:sld>
</file>

<file path=ppt/theme/theme1.xml><?xml version="1.0" encoding="utf-8"?>
<a:theme xmlns:a="http://schemas.openxmlformats.org/drawingml/2006/main" name="Bug Intelligence">
  <a:themeElements>
    <a:clrScheme name="Bug Intelligence">
      <a:dk1>
        <a:srgbClr val="1F2328"/>
      </a:dk1>
      <a:lt1>
        <a:srgbClr val="FFFFFF"/>
      </a:lt1>
      <a:dk2>
        <a:srgbClr val="10243F"/>
      </a:dk2>
      <a:lt2>
        <a:srgbClr val="F1F4F8"/>
      </a:lt2>
      <a:accent1>
        <a:srgbClr val="D03B3B"/>
      </a:accent1>
      <a:accent2>
        <a:srgbClr val="EC835A"/>
      </a:accent2>
      <a:accent3>
        <a:srgbClr val="F2A900"/>
      </a:accent3>
      <a:accent4>
        <a:srgbClr val="2A78D6"/>
      </a:accent4>
      <a:accent5>
        <a:srgbClr val="1B8E4E"/>
      </a:accent5>
      <a:accent6>
        <a:srgbClr val="6250D6"/>
      </a:accent6>
      <a:hlink>
        <a:srgbClr val="2A78D6"/>
      </a:hlink>
      <a:folHlink>
        <a:srgbClr val="6250D6"/>
      </a:folHlink>
    </a:clrScheme>
    <a:fontScheme name="Bug Intelligen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Bug Reporting and Severity Classification Using Machine Learning and Playwright Test Automation</dc:title>
  <dc:subject>M.Tech final year project</dc:subject>
  <dc:creator>PptxGenJS</dc:creator>
  <cp:lastModifiedBy>PptxGenJS</cp:lastModifiedBy>
  <cp:revision>1</cp:revision>
  <dcterms:created xsi:type="dcterms:W3CDTF">2026-10-21T05:27:55Z</dcterms:created>
  <dcterms:modified xsi:type="dcterms:W3CDTF">2026-10-21T05:27:55Z</dcterms:modified>
</cp:coreProperties>
</file>